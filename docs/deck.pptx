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the problem, not the product. An agent today can only buy from a service a human already set up an account and a card for. Tessera is the trust layer that removes that step.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Solve only one side of the trust problem and you still have a curated vendor list. Both sides have to be solved at once, and that is what escrow plus a delivery guarantee does.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whole pitch in one line. Anyone can move USDC. What is missing is the ability to get it back automatically when the other side fails to deliver.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four steps. The one that matters is step four: the refund is enforced by the contract, not by a dispute process or by trusting the counterparty.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of these runs end to end, not stubbed. The staking one answers “why would an agent trust an unknown provider” — because the provider has money at risk.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DeFi is not decoration. An agent that earns fees needs somewhere to put them, and somewhere to borrow from when it is short.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a technical judge will care about. Every line is something that cannot be done even with the deployer key, which is what makes the trust assumption bounded.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Worth saying out loud: the analysis tab computes from the prices in the other tabs and says so. We deliberately did not generate market commentary, because that would be invented.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refund and the slash are the two to point at. Everything else a payment rail can do; getting the money back and taking it out of the counterparty's bond is the part that is new.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the explorer open. The refund transaction is the one to show — it is the differentiator made concrete.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gas-token point is the one people miss. On a normal chain an agent needs two assets and a top-up strategy for the one it does not earn.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the credibility gap here. The honest caveat belongs on this slide too: unaudited testnet software, and we say so inside the app itself.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on the market, not the feature list. Every agent that buys anything needs this, and today each of them re-implements a worse version of it.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E7EBF5"/>
              </a:gs>
              <a:gs pos="100000">
                <a:srgbClr val="EEF1F8"/>
              </a:gs>
            </a:gsLst>
            <a:lin ang="5400000" scaled="0"/>
          </a:gradFill>
          <a:ln>
            <a:noFill/>
          </a:ln>
        </p:spPr>
        <p:txBody>
          <a:bodyPr/>
          <a:lstStyle/>
          <a:p/>
        </p:txBody>
      </p:sp>
      <p:sp>
        <p:nvSpPr>
          <p:cNvPr id="3" name="shape"/>
          <p:cNvSpPr/>
          <p:nvPr/>
        </p:nvSpPr>
        <p:spPr>
          <a:xfrm>
            <a:off x="6667500" y="-2857500"/>
            <a:ext cx="8572500" cy="6667500"/>
          </a:xfrm>
          <a:prstGeom prst="ellipse">
            <a:avLst/>
          </a:prstGeom>
          <a:gradFill rotWithShape="0">
            <a:gsLst>
              <a:gs pos="0">
                <a:srgbClr val="2F6BE0">
                  <a:alpha val="13000"/>
                </a:srgbClr>
              </a:gs>
              <a:gs pos="100000">
                <a:srgbClr val="2F6BE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/>
          <a:lstStyle/>
          <a:p/>
        </p:txBody>
      </p:sp>
      <p:sp>
        <p:nvSpPr>
          <p:cNvPr id="4" name="shape"/>
          <p:cNvSpPr/>
          <p:nvPr/>
        </p:nvSpPr>
        <p:spPr>
          <a:xfrm>
            <a:off x="800100" y="285750"/>
            <a:ext cx="323850" cy="47625"/>
          </a:xfrm>
          <a:prstGeom prst="roundRect">
            <a:avLst>
              <a:gd name="adj" fmla="val 50000"/>
            </a:avLst>
          </a:prstGeom>
          <a:solidFill>
            <a:srgbClr val="2F6BE0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shape"/>
          <p:cNvSpPr/>
          <p:nvPr/>
        </p:nvSpPr>
        <p:spPr>
          <a:xfrm>
            <a:off x="1181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shape"/>
          <p:cNvSpPr/>
          <p:nvPr/>
        </p:nvSpPr>
        <p:spPr>
          <a:xfrm>
            <a:off x="1409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shape"/>
          <p:cNvSpPr/>
          <p:nvPr/>
        </p:nvSpPr>
        <p:spPr>
          <a:xfrm>
            <a:off x="16383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8" name="shape"/>
          <p:cNvSpPr/>
          <p:nvPr/>
        </p:nvSpPr>
        <p:spPr>
          <a:xfrm>
            <a:off x="18669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shape"/>
          <p:cNvSpPr/>
          <p:nvPr/>
        </p:nvSpPr>
        <p:spPr>
          <a:xfrm>
            <a:off x="20955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shape"/>
          <p:cNvSpPr/>
          <p:nvPr/>
        </p:nvSpPr>
        <p:spPr>
          <a:xfrm>
            <a:off x="2324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"/>
          <p:cNvSpPr/>
          <p:nvPr/>
        </p:nvSpPr>
        <p:spPr>
          <a:xfrm>
            <a:off x="2552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"/>
          <p:cNvSpPr/>
          <p:nvPr/>
        </p:nvSpPr>
        <p:spPr>
          <a:xfrm>
            <a:off x="27813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shape"/>
          <p:cNvSpPr/>
          <p:nvPr/>
        </p:nvSpPr>
        <p:spPr>
          <a:xfrm>
            <a:off x="30099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shape"/>
          <p:cNvSpPr/>
          <p:nvPr/>
        </p:nvSpPr>
        <p:spPr>
          <a:xfrm>
            <a:off x="32385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shape"/>
          <p:cNvSpPr/>
          <p:nvPr/>
        </p:nvSpPr>
        <p:spPr>
          <a:xfrm>
            <a:off x="3467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shape"/>
          <p:cNvSpPr/>
          <p:nvPr/>
        </p:nvSpPr>
        <p:spPr>
          <a:xfrm>
            <a:off x="3695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text"/>
          <p:cNvSpPr txBox="1"/>
          <p:nvPr/>
        </p:nvSpPr>
        <p:spPr>
          <a:xfrm>
            <a:off x="800100" y="247650"/>
            <a:ext cx="105918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01 / 13</a:t>
            </a:r>
          </a:p>
        </p:txBody>
      </p:sp>
      <p:sp>
        <p:nvSpPr>
          <p:cNvPr id="18" name="shape"/>
          <p:cNvSpPr/>
          <p:nvPr/>
        </p:nvSpPr>
        <p:spPr>
          <a:xfrm>
            <a:off x="800100" y="1459706"/>
            <a:ext cx="381000" cy="23813"/>
          </a:xfrm>
          <a:prstGeom prst="roundRect">
            <a:avLst>
              <a:gd name="adj" fmla="val 50000"/>
            </a:avLst>
          </a:prstGeom>
          <a:solidFill>
            <a:srgbClr val="2F6BE0"/>
          </a:solidFill>
          <a:ln>
            <a:noFill/>
          </a:ln>
        </p:spPr>
        <p:txBody>
          <a:bodyPr/>
          <a:lstStyle/>
          <a:p/>
        </p:txBody>
      </p:sp>
      <p:sp>
        <p:nvSpPr>
          <p:cNvPr id="19" name="text"/>
          <p:cNvSpPr txBox="1"/>
          <p:nvPr/>
        </p:nvSpPr>
        <p:spPr>
          <a:xfrm>
            <a:off x="1295400" y="1395413"/>
            <a:ext cx="10096500" cy="21431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125" b="1" spc="260" dirty="0">
                <a:solidFill>
                  <a:srgbClr val="2F6BE0"/>
                </a:solidFill>
                <a:latin typeface="Consolas" pitchFamily="34" charset="0"/>
              </a:rPr>
              <a:t>AGENTIC ECONOMY · ARC HACKATHON</a:t>
            </a:r>
          </a:p>
        </p:txBody>
      </p:sp>
      <p:sp>
        <p:nvSpPr>
          <p:cNvPr id="20" name="shape"/>
          <p:cNvSpPr/>
          <p:nvPr/>
        </p:nvSpPr>
        <p:spPr>
          <a:xfrm>
            <a:off x="800100" y="1681163"/>
            <a:ext cx="184150" cy="184150"/>
          </a:xfrm>
          <a:prstGeom prst="roundRect">
            <a:avLst>
              <a:gd name="adj" fmla="val 22000"/>
            </a:avLst>
          </a:prstGeom>
          <a:solidFill>
            <a:srgbClr val="2F6BE0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hape"/>
          <p:cNvSpPr/>
          <p:nvPr/>
        </p:nvSpPr>
        <p:spPr>
          <a:xfrm>
            <a:off x="1012825" y="1681163"/>
            <a:ext cx="184150" cy="184150"/>
          </a:xfrm>
          <a:prstGeom prst="roundRect">
            <a:avLst>
              <a:gd name="adj" fmla="val 22000"/>
            </a:avLst>
          </a:prstGeom>
          <a:solidFill>
            <a:srgbClr val="F4F6FC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2" name="shape"/>
          <p:cNvSpPr/>
          <p:nvPr/>
        </p:nvSpPr>
        <p:spPr>
          <a:xfrm>
            <a:off x="1225550" y="1681163"/>
            <a:ext cx="184150" cy="184150"/>
          </a:xfrm>
          <a:prstGeom prst="roundRect">
            <a:avLst>
              <a:gd name="adj" fmla="val 22000"/>
            </a:avLst>
          </a:prstGeom>
          <a:solidFill>
            <a:srgbClr val="0F9D6B"/>
          </a:solidFill>
          <a:ln>
            <a:noFill/>
          </a:ln>
        </p:spPr>
        <p:txBody>
          <a:bodyPr/>
          <a:lstStyle/>
          <a:p/>
        </p:txBody>
      </p:sp>
      <p:sp>
        <p:nvSpPr>
          <p:cNvPr id="23" name="shape"/>
          <p:cNvSpPr/>
          <p:nvPr/>
        </p:nvSpPr>
        <p:spPr>
          <a:xfrm>
            <a:off x="800100" y="1893888"/>
            <a:ext cx="184150" cy="184150"/>
          </a:xfrm>
          <a:prstGeom prst="roundRect">
            <a:avLst>
              <a:gd name="adj" fmla="val 22000"/>
            </a:avLst>
          </a:prstGeom>
          <a:solidFill>
            <a:srgbClr val="F4F6FC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4" name="shape"/>
          <p:cNvSpPr/>
          <p:nvPr/>
        </p:nvSpPr>
        <p:spPr>
          <a:xfrm>
            <a:off x="1012825" y="1893888"/>
            <a:ext cx="184150" cy="184150"/>
          </a:xfrm>
          <a:prstGeom prst="roundRect">
            <a:avLst>
              <a:gd name="adj" fmla="val 22000"/>
            </a:avLst>
          </a:prstGeom>
          <a:solidFill>
            <a:srgbClr val="2F6BE0"/>
          </a:solidFill>
          <a:ln>
            <a:noFill/>
          </a:ln>
        </p:spPr>
        <p:txBody>
          <a:bodyPr/>
          <a:lstStyle/>
          <a:p/>
        </p:txBody>
      </p:sp>
      <p:sp>
        <p:nvSpPr>
          <p:cNvPr id="25" name="shape"/>
          <p:cNvSpPr/>
          <p:nvPr/>
        </p:nvSpPr>
        <p:spPr>
          <a:xfrm>
            <a:off x="1225550" y="1893888"/>
            <a:ext cx="184150" cy="184150"/>
          </a:xfrm>
          <a:prstGeom prst="roundRect">
            <a:avLst>
              <a:gd name="adj" fmla="val 22000"/>
            </a:avLst>
          </a:prstGeom>
          <a:solidFill>
            <a:srgbClr val="F4F6FC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6" name="shape"/>
          <p:cNvSpPr/>
          <p:nvPr/>
        </p:nvSpPr>
        <p:spPr>
          <a:xfrm>
            <a:off x="800100" y="2106613"/>
            <a:ext cx="184150" cy="184150"/>
          </a:xfrm>
          <a:prstGeom prst="roundRect">
            <a:avLst>
              <a:gd name="adj" fmla="val 22000"/>
            </a:avLst>
          </a:prstGeom>
          <a:solidFill>
            <a:srgbClr val="0F9D6B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shape"/>
          <p:cNvSpPr/>
          <p:nvPr/>
        </p:nvSpPr>
        <p:spPr>
          <a:xfrm>
            <a:off x="1012825" y="2106613"/>
            <a:ext cx="184150" cy="184150"/>
          </a:xfrm>
          <a:prstGeom prst="roundRect">
            <a:avLst>
              <a:gd name="adj" fmla="val 22000"/>
            </a:avLst>
          </a:prstGeom>
          <a:solidFill>
            <a:srgbClr val="F4F6FC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8" name="shape"/>
          <p:cNvSpPr/>
          <p:nvPr/>
        </p:nvSpPr>
        <p:spPr>
          <a:xfrm>
            <a:off x="1225550" y="2106613"/>
            <a:ext cx="184150" cy="184150"/>
          </a:xfrm>
          <a:prstGeom prst="roundRect">
            <a:avLst>
              <a:gd name="adj" fmla="val 22000"/>
            </a:avLst>
          </a:prstGeom>
          <a:solidFill>
            <a:srgbClr val="2F6BE0"/>
          </a:solidFill>
          <a:ln>
            <a:noFill/>
          </a:ln>
        </p:spPr>
        <p:txBody>
          <a:bodyPr/>
          <a:lstStyle/>
          <a:p/>
        </p:txBody>
      </p:sp>
      <p:sp>
        <p:nvSpPr>
          <p:cNvPr id="29" name="text"/>
          <p:cNvSpPr txBox="1"/>
          <p:nvPr/>
        </p:nvSpPr>
        <p:spPr>
          <a:xfrm>
            <a:off x="1600200" y="1776413"/>
            <a:ext cx="10591800" cy="4381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2550" b="1" dirty="0">
                <a:solidFill>
                  <a:srgbClr val="0D1424"/>
                </a:solidFill>
                <a:latin typeface="Segoe UI" pitchFamily="34" charset="0"/>
              </a:rPr>
              <a:t>Tessera</a:t>
            </a:r>
          </a:p>
        </p:txBody>
      </p:sp>
      <p:sp>
        <p:nvSpPr>
          <p:cNvPr id="30" name="text"/>
          <p:cNvSpPr txBox="1"/>
          <p:nvPr/>
        </p:nvSpPr>
        <p:spPr>
          <a:xfrm>
            <a:off x="800100" y="2519363"/>
            <a:ext cx="9532620" cy="876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6300" b="1" dirty="0">
                <a:solidFill>
                  <a:srgbClr val="0D1424"/>
                </a:solidFill>
                <a:latin typeface="Segoe UI" pitchFamily="34" charset="0"/>
              </a:rPr>
              <a:t>Money for machines.</a:t>
            </a:r>
          </a:p>
        </p:txBody>
      </p:sp>
      <p:sp>
        <p:nvSpPr>
          <p:cNvPr id="31" name="text"/>
          <p:cNvSpPr txBox="1"/>
          <p:nvPr/>
        </p:nvSpPr>
        <p:spPr>
          <a:xfrm>
            <a:off x="800100" y="3490913"/>
            <a:ext cx="6566916" cy="1038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  <a:buNone/>
            </a:pPr>
            <a:r>
              <a:rPr lang="en-US" sz="1800" b="0" dirty="0">
                <a:solidFill>
                  <a:srgbClr val="566384"/>
                </a:solidFill>
                <a:latin typeface="Segoe UI" pitchFamily="34" charset="0"/>
              </a:rPr>
              <a:t>Trustless pay-per-use commerce for AI agents — settled on </a:t>
            </a:r>
            <a:r>
              <a:rPr lang="en-US" sz="1800" b="0" dirty="0">
                <a:solidFill>
                  <a:srgbClr val="2F6BE0"/>
                </a:solidFill>
                <a:latin typeface="Segoe UI" pitchFamily="34" charset="0"/>
              </a:rPr>
              <a:t>Arc</a:t>
            </a:r>
            <a:r>
              <a:rPr lang="en-US" sz="1800" b="0" dirty="0">
                <a:solidFill>
                  <a:srgbClr val="566384"/>
                </a:solidFill>
                <a:latin typeface="Segoe UI" pitchFamily="34" charset="0"/>
              </a:rPr>
              <a:t> in USDC. The trust layer that lets an agent pay a service it has never met.</a:t>
            </a:r>
          </a:p>
        </p:txBody>
      </p:sp>
      <p:sp>
        <p:nvSpPr>
          <p:cNvPr id="32" name="shape"/>
          <p:cNvSpPr/>
          <p:nvPr/>
        </p:nvSpPr>
        <p:spPr>
          <a:xfrm>
            <a:off x="800100" y="4891088"/>
            <a:ext cx="3429000" cy="914400"/>
          </a:xfrm>
          <a:prstGeom prst="roundRect">
            <a:avLst>
              <a:gd name="adj" fmla="val 14583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33" name="shape"/>
          <p:cNvSpPr/>
          <p:nvPr/>
        </p:nvSpPr>
        <p:spPr>
          <a:xfrm>
            <a:off x="971550" y="5053013"/>
            <a:ext cx="209550" cy="28575"/>
          </a:xfrm>
          <a:prstGeom prst="roundRect">
            <a:avLst>
              <a:gd name="adj" fmla="val 50000"/>
            </a:avLst>
          </a:prstGeom>
          <a:solidFill>
            <a:srgbClr val="2F6BE0"/>
          </a:solidFill>
          <a:ln>
            <a:noFill/>
          </a:ln>
        </p:spPr>
        <p:txBody>
          <a:bodyPr/>
          <a:lstStyle/>
          <a:p/>
        </p:txBody>
      </p:sp>
      <p:sp>
        <p:nvSpPr>
          <p:cNvPr id="34" name="text"/>
          <p:cNvSpPr txBox="1"/>
          <p:nvPr/>
        </p:nvSpPr>
        <p:spPr>
          <a:xfrm>
            <a:off x="971550" y="5148263"/>
            <a:ext cx="3086100" cy="533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en-US" sz="1275" b="1" dirty="0">
                <a:solidFill>
                  <a:srgbClr val="0D1424"/>
                </a:solidFill>
                <a:latin typeface="Segoe UI" pitchFamily="34" charset="0"/>
              </a:rPr>
              <a:t>Live on Arc testnet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buNone/>
            </a:pPr>
            <a:r>
              <a:rPr lang="en-US" sz="975" b="0" dirty="0">
                <a:solidFill>
                  <a:srgbClr val="566384"/>
                </a:solidFill>
                <a:latin typeface="Segoe UI" pitchFamily="34" charset="0"/>
              </a:rPr>
              <a:t>chainId 5042002 · USDC as gas</a:t>
            </a:r>
          </a:p>
        </p:txBody>
      </p:sp>
      <p:sp>
        <p:nvSpPr>
          <p:cNvPr id="35" name="shape"/>
          <p:cNvSpPr/>
          <p:nvPr/>
        </p:nvSpPr>
        <p:spPr>
          <a:xfrm>
            <a:off x="4381500" y="4891088"/>
            <a:ext cx="3429000" cy="914400"/>
          </a:xfrm>
          <a:prstGeom prst="roundRect">
            <a:avLst>
              <a:gd name="adj" fmla="val 14583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36" name="shape"/>
          <p:cNvSpPr/>
          <p:nvPr/>
        </p:nvSpPr>
        <p:spPr>
          <a:xfrm>
            <a:off x="4552950" y="5053013"/>
            <a:ext cx="209550" cy="28575"/>
          </a:xfrm>
          <a:prstGeom prst="roundRect">
            <a:avLst>
              <a:gd name="adj" fmla="val 50000"/>
            </a:avLst>
          </a:prstGeom>
          <a:solidFill>
            <a:srgbClr val="2F6BE0"/>
          </a:solidFill>
          <a:ln>
            <a:noFill/>
          </a:ln>
        </p:spPr>
        <p:txBody>
          <a:bodyPr/>
          <a:lstStyle/>
          <a:p/>
        </p:txBody>
      </p:sp>
      <p:sp>
        <p:nvSpPr>
          <p:cNvPr id="37" name="text"/>
          <p:cNvSpPr txBox="1"/>
          <p:nvPr/>
        </p:nvSpPr>
        <p:spPr>
          <a:xfrm>
            <a:off x="4552950" y="5148263"/>
            <a:ext cx="3086100" cy="533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en-US" sz="1275" b="1" dirty="0">
                <a:solidFill>
                  <a:srgbClr val="0D1424"/>
                </a:solidFill>
                <a:latin typeface="Segoe UI" pitchFamily="34" charset="0"/>
              </a:rPr>
              <a:t>8 contracts deployed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buNone/>
            </a:pPr>
            <a:r>
              <a:rPr lang="en-US" sz="975" b="0" dirty="0">
                <a:solidFill>
                  <a:srgbClr val="566384"/>
                </a:solidFill>
                <a:latin typeface="Segoe UI" pitchFamily="34" charset="0"/>
              </a:rPr>
              <a:t>escrow, tabs, pool, vault, swap, AMM, 2 collectors</a:t>
            </a:r>
          </a:p>
        </p:txBody>
      </p:sp>
      <p:sp>
        <p:nvSpPr>
          <p:cNvPr id="38" name="shape"/>
          <p:cNvSpPr/>
          <p:nvPr/>
        </p:nvSpPr>
        <p:spPr>
          <a:xfrm>
            <a:off x="7962900" y="4891088"/>
            <a:ext cx="3429000" cy="914400"/>
          </a:xfrm>
          <a:prstGeom prst="roundRect">
            <a:avLst>
              <a:gd name="adj" fmla="val 14583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39" name="shape"/>
          <p:cNvSpPr/>
          <p:nvPr/>
        </p:nvSpPr>
        <p:spPr>
          <a:xfrm>
            <a:off x="8134350" y="5053013"/>
            <a:ext cx="209550" cy="28575"/>
          </a:xfrm>
          <a:prstGeom prst="roundRect">
            <a:avLst>
              <a:gd name="adj" fmla="val 50000"/>
            </a:avLst>
          </a:prstGeom>
          <a:solidFill>
            <a:srgbClr val="2F6BE0"/>
          </a:solidFill>
          <a:ln>
            <a:noFill/>
          </a:ln>
        </p:spPr>
        <p:txBody>
          <a:bodyPr/>
          <a:lstStyle/>
          <a:p/>
        </p:txBody>
      </p:sp>
      <p:sp>
        <p:nvSpPr>
          <p:cNvPr id="40" name="text"/>
          <p:cNvSpPr txBox="1"/>
          <p:nvPr/>
        </p:nvSpPr>
        <p:spPr>
          <a:xfrm>
            <a:off x="8134350" y="5148263"/>
            <a:ext cx="3086100" cy="533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en-US" sz="1275" b="1" dirty="0">
                <a:solidFill>
                  <a:srgbClr val="0D1424"/>
                </a:solidFill>
                <a:latin typeface="Segoe UI" pitchFamily="34" charset="0"/>
              </a:rPr>
              <a:t>238 automated tests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buNone/>
            </a:pPr>
            <a:r>
              <a:rPr lang="en-US" sz="975" b="0" dirty="0">
                <a:solidFill>
                  <a:srgbClr val="566384"/>
                </a:solidFill>
                <a:latin typeface="Segoe UI" pitchFamily="34" charset="0"/>
              </a:rPr>
              <a:t>104 contract · 134 agent · CI on every push</a:t>
            </a:r>
          </a:p>
        </p:txBody>
      </p:sp>
      <p:sp>
        <p:nvSpPr>
          <p:cNvPr id="41" name="shape"/>
          <p:cNvSpPr/>
          <p:nvPr/>
        </p:nvSpPr>
        <p:spPr>
          <a:xfrm>
            <a:off x="800100" y="6438900"/>
            <a:ext cx="10591800" cy="9525"/>
          </a:xfrm>
          <a:prstGeom prst="rect">
            <a:avLst/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42" name="text"/>
          <p:cNvSpPr txBox="1"/>
          <p:nvPr/>
        </p:nvSpPr>
        <p:spPr>
          <a:xfrm>
            <a:off x="800100" y="6572250"/>
            <a:ext cx="52959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TESSERA</a:t>
            </a:r>
          </a:p>
        </p:txBody>
      </p:sp>
      <p:sp>
        <p:nvSpPr>
          <p:cNvPr id="43" name="text"/>
          <p:cNvSpPr txBox="1"/>
          <p:nvPr/>
        </p:nvSpPr>
        <p:spPr>
          <a:xfrm>
            <a:off x="6096000" y="6572250"/>
            <a:ext cx="52959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TESSERA · ARC TESTNET · USDC-NATIVE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E7EBF5"/>
              </a:gs>
              <a:gs pos="100000">
                <a:srgbClr val="EEF1F8"/>
              </a:gs>
            </a:gsLst>
            <a:lin ang="5400000" scaled="0"/>
          </a:gradFill>
          <a:ln>
            <a:noFill/>
          </a:ln>
        </p:spPr>
        <p:txBody>
          <a:bodyPr/>
          <a:lstStyle/>
          <a:p/>
        </p:txBody>
      </p:sp>
      <p:sp>
        <p:nvSpPr>
          <p:cNvPr id="3" name="shape"/>
          <p:cNvSpPr/>
          <p:nvPr/>
        </p:nvSpPr>
        <p:spPr>
          <a:xfrm>
            <a:off x="6667500" y="-2857500"/>
            <a:ext cx="8572500" cy="6667500"/>
          </a:xfrm>
          <a:prstGeom prst="ellipse">
            <a:avLst/>
          </a:prstGeom>
          <a:gradFill rotWithShape="0">
            <a:gsLst>
              <a:gs pos="0">
                <a:srgbClr val="2F6BE0">
                  <a:alpha val="13000"/>
                </a:srgbClr>
              </a:gs>
              <a:gs pos="100000">
                <a:srgbClr val="2F6BE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/>
          <a:lstStyle/>
          <a:p/>
        </p:txBody>
      </p:sp>
      <p:sp>
        <p:nvSpPr>
          <p:cNvPr id="4" name="shape"/>
          <p:cNvSpPr/>
          <p:nvPr/>
        </p:nvSpPr>
        <p:spPr>
          <a:xfrm>
            <a:off x="800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shape"/>
          <p:cNvSpPr/>
          <p:nvPr/>
        </p:nvSpPr>
        <p:spPr>
          <a:xfrm>
            <a:off x="1028700" y="285750"/>
            <a:ext cx="323850" cy="47625"/>
          </a:xfrm>
          <a:prstGeom prst="roundRect">
            <a:avLst>
              <a:gd name="adj" fmla="val 50000"/>
            </a:avLst>
          </a:prstGeom>
          <a:solidFill>
            <a:srgbClr val="2F6BE0"/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shape"/>
          <p:cNvSpPr/>
          <p:nvPr/>
        </p:nvSpPr>
        <p:spPr>
          <a:xfrm>
            <a:off x="1409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shape"/>
          <p:cNvSpPr/>
          <p:nvPr/>
        </p:nvSpPr>
        <p:spPr>
          <a:xfrm>
            <a:off x="16383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8" name="shape"/>
          <p:cNvSpPr/>
          <p:nvPr/>
        </p:nvSpPr>
        <p:spPr>
          <a:xfrm>
            <a:off x="18669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shape"/>
          <p:cNvSpPr/>
          <p:nvPr/>
        </p:nvSpPr>
        <p:spPr>
          <a:xfrm>
            <a:off x="20955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shape"/>
          <p:cNvSpPr/>
          <p:nvPr/>
        </p:nvSpPr>
        <p:spPr>
          <a:xfrm>
            <a:off x="2324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"/>
          <p:cNvSpPr/>
          <p:nvPr/>
        </p:nvSpPr>
        <p:spPr>
          <a:xfrm>
            <a:off x="2552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"/>
          <p:cNvSpPr/>
          <p:nvPr/>
        </p:nvSpPr>
        <p:spPr>
          <a:xfrm>
            <a:off x="27813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shape"/>
          <p:cNvSpPr/>
          <p:nvPr/>
        </p:nvSpPr>
        <p:spPr>
          <a:xfrm>
            <a:off x="30099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shape"/>
          <p:cNvSpPr/>
          <p:nvPr/>
        </p:nvSpPr>
        <p:spPr>
          <a:xfrm>
            <a:off x="32385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shape"/>
          <p:cNvSpPr/>
          <p:nvPr/>
        </p:nvSpPr>
        <p:spPr>
          <a:xfrm>
            <a:off x="3467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shape"/>
          <p:cNvSpPr/>
          <p:nvPr/>
        </p:nvSpPr>
        <p:spPr>
          <a:xfrm>
            <a:off x="3695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text"/>
          <p:cNvSpPr txBox="1"/>
          <p:nvPr/>
        </p:nvSpPr>
        <p:spPr>
          <a:xfrm>
            <a:off x="800100" y="247650"/>
            <a:ext cx="105918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02 / 13</a:t>
            </a:r>
          </a:p>
        </p:txBody>
      </p:sp>
      <p:sp>
        <p:nvSpPr>
          <p:cNvPr id="18" name="shape"/>
          <p:cNvSpPr/>
          <p:nvPr/>
        </p:nvSpPr>
        <p:spPr>
          <a:xfrm>
            <a:off x="800100" y="1920240"/>
            <a:ext cx="381000" cy="23813"/>
          </a:xfrm>
          <a:prstGeom prst="roundRect">
            <a:avLst>
              <a:gd name="adj" fmla="val 50000"/>
            </a:avLst>
          </a:prstGeom>
          <a:solidFill>
            <a:srgbClr val="2F6BE0"/>
          </a:solidFill>
          <a:ln>
            <a:noFill/>
          </a:ln>
        </p:spPr>
        <p:txBody>
          <a:bodyPr/>
          <a:lstStyle/>
          <a:p/>
        </p:txBody>
      </p:sp>
      <p:sp>
        <p:nvSpPr>
          <p:cNvPr id="19" name="text"/>
          <p:cNvSpPr txBox="1"/>
          <p:nvPr/>
        </p:nvSpPr>
        <p:spPr>
          <a:xfrm>
            <a:off x="1295400" y="1855946"/>
            <a:ext cx="10096500" cy="21431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125" b="1" spc="260" dirty="0">
                <a:solidFill>
                  <a:srgbClr val="2F6BE0"/>
                </a:solidFill>
                <a:latin typeface="Consolas" pitchFamily="34" charset="0"/>
              </a:rPr>
              <a:t>THE PROBLEM</a:t>
            </a:r>
          </a:p>
        </p:txBody>
      </p:sp>
      <p:sp>
        <p:nvSpPr>
          <p:cNvPr id="20" name="text"/>
          <p:cNvSpPr txBox="1"/>
          <p:nvPr/>
        </p:nvSpPr>
        <p:spPr>
          <a:xfrm>
            <a:off x="800100" y="2662238"/>
            <a:ext cx="5230368" cy="11049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825" b="1" dirty="0">
                <a:solidFill>
                  <a:srgbClr val="0D1424"/>
                </a:solidFill>
                <a:latin typeface="Segoe UI" pitchFamily="34" charset="0"/>
              </a:rPr>
              <a:t>Agents can't pay strangers.</a:t>
            </a:r>
          </a:p>
        </p:txBody>
      </p:sp>
      <p:sp>
        <p:nvSpPr>
          <p:cNvPr id="21" name="text"/>
          <p:cNvSpPr txBox="1"/>
          <p:nvPr/>
        </p:nvSpPr>
        <p:spPr>
          <a:xfrm>
            <a:off x="800100" y="3862388"/>
            <a:ext cx="5230368" cy="1038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  <a:buNone/>
            </a:pPr>
            <a:r>
              <a:rPr lang="en-US" sz="1800" b="0" dirty="0">
                <a:solidFill>
                  <a:srgbClr val="566384"/>
                </a:solidFill>
                <a:latin typeface="Segoe UI" pitchFamily="34" charset="0"/>
              </a:rPr>
              <a:t>An agent can only buy from a service a human already set up an account and a card for.</a:t>
            </a:r>
          </a:p>
        </p:txBody>
      </p:sp>
      <p:sp>
        <p:nvSpPr>
          <p:cNvPr id="22" name="shape"/>
          <p:cNvSpPr/>
          <p:nvPr/>
        </p:nvSpPr>
        <p:spPr>
          <a:xfrm>
            <a:off x="6563868" y="2284571"/>
            <a:ext cx="4828032" cy="991553"/>
          </a:xfrm>
          <a:prstGeom prst="roundRect">
            <a:avLst>
              <a:gd name="adj" fmla="val 13449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3" name="text"/>
          <p:cNvSpPr txBox="1"/>
          <p:nvPr/>
        </p:nvSpPr>
        <p:spPr>
          <a:xfrm>
            <a:off x="6735318" y="2456021"/>
            <a:ext cx="4485132" cy="64865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en-US" sz="1275" b="1" dirty="0">
                <a:solidFill>
                  <a:srgbClr val="0D1424"/>
                </a:solidFill>
                <a:latin typeface="Segoe UI" pitchFamily="34" charset="0"/>
              </a:rPr>
              <a:t>Trust runs both ways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buNone/>
            </a:pPr>
            <a:r>
              <a:rPr lang="en-US" sz="1050" b="0" dirty="0">
                <a:solidFill>
                  <a:srgbClr val="566384"/>
                </a:solidFill>
                <a:latin typeface="Segoe UI" pitchFamily="34" charset="0"/>
              </a:rPr>
              <a:t>The service can't tell the agent will pay. The agent can't tell the service will deliver.</a:t>
            </a:r>
          </a:p>
        </p:txBody>
      </p:sp>
      <p:sp>
        <p:nvSpPr>
          <p:cNvPr id="24" name="shape"/>
          <p:cNvSpPr/>
          <p:nvPr/>
        </p:nvSpPr>
        <p:spPr>
          <a:xfrm>
            <a:off x="6563868" y="3390424"/>
            <a:ext cx="4828032" cy="991553"/>
          </a:xfrm>
          <a:prstGeom prst="roundRect">
            <a:avLst>
              <a:gd name="adj" fmla="val 13449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5" name="text"/>
          <p:cNvSpPr txBox="1"/>
          <p:nvPr/>
        </p:nvSpPr>
        <p:spPr>
          <a:xfrm>
            <a:off x="6735318" y="3561874"/>
            <a:ext cx="4485132" cy="64865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en-US" sz="1275" b="1" dirty="0">
                <a:solidFill>
                  <a:srgbClr val="0D1424"/>
                </a:solidFill>
                <a:latin typeface="Segoe UI" pitchFamily="34" charset="0"/>
              </a:rPr>
              <a:t>So: pre-funded vendors only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buNone/>
            </a:pPr>
            <a:r>
              <a:rPr lang="en-US" sz="1050" b="0" dirty="0">
                <a:solidFill>
                  <a:srgbClr val="566384"/>
                </a:solidFill>
                <a:latin typeface="Segoe UI" pitchFamily="34" charset="0"/>
              </a:rPr>
              <a:t>Agents are boxed into a hand-curated list of pre-approved suppliers.</a:t>
            </a:r>
          </a:p>
        </p:txBody>
      </p:sp>
      <p:sp>
        <p:nvSpPr>
          <p:cNvPr id="26" name="shape"/>
          <p:cNvSpPr/>
          <p:nvPr/>
        </p:nvSpPr>
        <p:spPr>
          <a:xfrm>
            <a:off x="6563868" y="4496276"/>
            <a:ext cx="4828032" cy="991553"/>
          </a:xfrm>
          <a:prstGeom prst="roundRect">
            <a:avLst>
              <a:gd name="adj" fmla="val 13449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7" name="text"/>
          <p:cNvSpPr txBox="1"/>
          <p:nvPr/>
        </p:nvSpPr>
        <p:spPr>
          <a:xfrm>
            <a:off x="6735318" y="4667726"/>
            <a:ext cx="4485132" cy="64865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en-US" sz="1275" b="1" dirty="0">
                <a:solidFill>
                  <a:srgbClr val="2F6BE0"/>
                </a:solidFill>
                <a:latin typeface="Segoe UI" pitchFamily="34" charset="0"/>
              </a:rPr>
              <a:t>That isn't an economy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buNone/>
            </a:pPr>
            <a:r>
              <a:rPr lang="en-US" sz="1050" b="0" dirty="0">
                <a:solidFill>
                  <a:srgbClr val="566384"/>
                </a:solidFill>
                <a:latin typeface="Segoe UI" pitchFamily="34" charset="0"/>
              </a:rPr>
              <a:t>Real machine-to-machine commerce needs strangers to transact safely.</a:t>
            </a:r>
          </a:p>
        </p:txBody>
      </p:sp>
      <p:sp>
        <p:nvSpPr>
          <p:cNvPr id="28" name="shape"/>
          <p:cNvSpPr/>
          <p:nvPr/>
        </p:nvSpPr>
        <p:spPr>
          <a:xfrm>
            <a:off x="800100" y="6438900"/>
            <a:ext cx="10591800" cy="9525"/>
          </a:xfrm>
          <a:prstGeom prst="rect">
            <a:avLst/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29" name="text"/>
          <p:cNvSpPr txBox="1"/>
          <p:nvPr/>
        </p:nvSpPr>
        <p:spPr>
          <a:xfrm>
            <a:off x="800100" y="6572250"/>
            <a:ext cx="52959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THE PROBLEM</a:t>
            </a:r>
          </a:p>
        </p:txBody>
      </p:sp>
      <p:sp>
        <p:nvSpPr>
          <p:cNvPr id="30" name="text"/>
          <p:cNvSpPr txBox="1"/>
          <p:nvPr/>
        </p:nvSpPr>
        <p:spPr>
          <a:xfrm>
            <a:off x="6096000" y="6572250"/>
            <a:ext cx="52959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TESSERA · ARC TESTNET · USDC-NATIVE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E7EBF5"/>
              </a:gs>
              <a:gs pos="100000">
                <a:srgbClr val="EEF1F8"/>
              </a:gs>
            </a:gsLst>
            <a:lin ang="5400000" scaled="0"/>
          </a:gradFill>
          <a:ln>
            <a:noFill/>
          </a:ln>
        </p:spPr>
        <p:txBody>
          <a:bodyPr/>
          <a:lstStyle/>
          <a:p/>
        </p:txBody>
      </p:sp>
      <p:sp>
        <p:nvSpPr>
          <p:cNvPr id="3" name="shape"/>
          <p:cNvSpPr/>
          <p:nvPr/>
        </p:nvSpPr>
        <p:spPr>
          <a:xfrm>
            <a:off x="6667500" y="-2857500"/>
            <a:ext cx="8572500" cy="6667500"/>
          </a:xfrm>
          <a:prstGeom prst="ellipse">
            <a:avLst/>
          </a:prstGeom>
          <a:gradFill rotWithShape="0">
            <a:gsLst>
              <a:gs pos="0">
                <a:srgbClr val="2F6BE0">
                  <a:alpha val="13000"/>
                </a:srgbClr>
              </a:gs>
              <a:gs pos="100000">
                <a:srgbClr val="2F6BE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/>
          <a:lstStyle/>
          <a:p/>
        </p:txBody>
      </p:sp>
      <p:sp>
        <p:nvSpPr>
          <p:cNvPr id="4" name="shape"/>
          <p:cNvSpPr/>
          <p:nvPr/>
        </p:nvSpPr>
        <p:spPr>
          <a:xfrm>
            <a:off x="800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shape"/>
          <p:cNvSpPr/>
          <p:nvPr/>
        </p:nvSpPr>
        <p:spPr>
          <a:xfrm>
            <a:off x="1028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shape"/>
          <p:cNvSpPr/>
          <p:nvPr/>
        </p:nvSpPr>
        <p:spPr>
          <a:xfrm>
            <a:off x="1257300" y="285750"/>
            <a:ext cx="323850" cy="47625"/>
          </a:xfrm>
          <a:prstGeom prst="roundRect">
            <a:avLst>
              <a:gd name="adj" fmla="val 50000"/>
            </a:avLst>
          </a:prstGeom>
          <a:solidFill>
            <a:srgbClr val="2F6BE0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shape"/>
          <p:cNvSpPr/>
          <p:nvPr/>
        </p:nvSpPr>
        <p:spPr>
          <a:xfrm>
            <a:off x="16383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8" name="shape"/>
          <p:cNvSpPr/>
          <p:nvPr/>
        </p:nvSpPr>
        <p:spPr>
          <a:xfrm>
            <a:off x="18669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shape"/>
          <p:cNvSpPr/>
          <p:nvPr/>
        </p:nvSpPr>
        <p:spPr>
          <a:xfrm>
            <a:off x="20955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shape"/>
          <p:cNvSpPr/>
          <p:nvPr/>
        </p:nvSpPr>
        <p:spPr>
          <a:xfrm>
            <a:off x="2324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"/>
          <p:cNvSpPr/>
          <p:nvPr/>
        </p:nvSpPr>
        <p:spPr>
          <a:xfrm>
            <a:off x="2552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"/>
          <p:cNvSpPr/>
          <p:nvPr/>
        </p:nvSpPr>
        <p:spPr>
          <a:xfrm>
            <a:off x="27813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shape"/>
          <p:cNvSpPr/>
          <p:nvPr/>
        </p:nvSpPr>
        <p:spPr>
          <a:xfrm>
            <a:off x="30099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shape"/>
          <p:cNvSpPr/>
          <p:nvPr/>
        </p:nvSpPr>
        <p:spPr>
          <a:xfrm>
            <a:off x="32385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shape"/>
          <p:cNvSpPr/>
          <p:nvPr/>
        </p:nvSpPr>
        <p:spPr>
          <a:xfrm>
            <a:off x="3467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shape"/>
          <p:cNvSpPr/>
          <p:nvPr/>
        </p:nvSpPr>
        <p:spPr>
          <a:xfrm>
            <a:off x="3695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text"/>
          <p:cNvSpPr txBox="1"/>
          <p:nvPr/>
        </p:nvSpPr>
        <p:spPr>
          <a:xfrm>
            <a:off x="800100" y="247650"/>
            <a:ext cx="105918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03 / 13</a:t>
            </a:r>
          </a:p>
        </p:txBody>
      </p:sp>
      <p:sp>
        <p:nvSpPr>
          <p:cNvPr id="18" name="shape"/>
          <p:cNvSpPr/>
          <p:nvPr/>
        </p:nvSpPr>
        <p:spPr>
          <a:xfrm>
            <a:off x="800100" y="2131219"/>
            <a:ext cx="381000" cy="23813"/>
          </a:xfrm>
          <a:prstGeom prst="roundRect">
            <a:avLst>
              <a:gd name="adj" fmla="val 50000"/>
            </a:avLst>
          </a:prstGeom>
          <a:solidFill>
            <a:srgbClr val="2F6BE0"/>
          </a:solidFill>
          <a:ln>
            <a:noFill/>
          </a:ln>
        </p:spPr>
        <p:txBody>
          <a:bodyPr/>
          <a:lstStyle/>
          <a:p/>
        </p:txBody>
      </p:sp>
      <p:sp>
        <p:nvSpPr>
          <p:cNvPr id="19" name="text"/>
          <p:cNvSpPr txBox="1"/>
          <p:nvPr/>
        </p:nvSpPr>
        <p:spPr>
          <a:xfrm>
            <a:off x="1295400" y="2066925"/>
            <a:ext cx="10096500" cy="21431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125" b="1" spc="260" dirty="0">
                <a:solidFill>
                  <a:srgbClr val="2F6BE0"/>
                </a:solidFill>
                <a:latin typeface="Consolas" pitchFamily="34" charset="0"/>
              </a:rPr>
              <a:t>THE INSIGHT</a:t>
            </a:r>
          </a:p>
        </p:txBody>
      </p:sp>
      <p:sp>
        <p:nvSpPr>
          <p:cNvPr id="20" name="text"/>
          <p:cNvSpPr txBox="1"/>
          <p:nvPr/>
        </p:nvSpPr>
        <p:spPr>
          <a:xfrm>
            <a:off x="800100" y="2352675"/>
            <a:ext cx="8685276" cy="16859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buNone/>
            </a:pPr>
            <a:r>
              <a:rPr lang="en-US" sz="3750" b="1" dirty="0">
                <a:solidFill>
                  <a:srgbClr val="0D1424"/>
                </a:solidFill>
                <a:latin typeface="Segoe UI" pitchFamily="34" charset="0"/>
              </a:rPr>
              <a:t>The missing primitive isn't </a:t>
            </a:r>
            <a:r>
              <a:rPr lang="en-US" sz="3750" b="1" dirty="0">
                <a:solidFill>
                  <a:srgbClr val="8593B0"/>
                </a:solidFill>
                <a:latin typeface="Segoe UI" pitchFamily="34" charset="0"/>
              </a:rPr>
              <a:t>“send USDC.”</a:t>
            </a:r>
            <a:r>
              <a:rPr lang="en-US" sz="3750" b="1" dirty="0">
                <a:solidFill>
                  <a:srgbClr val="0D1424"/>
                </a:solidFill>
                <a:latin typeface="Segoe UI" pitchFamily="34" charset="0"/>
              </a:rPr>
              <a:t> It's </a:t>
            </a:r>
            <a:r>
              <a:rPr lang="en-US" sz="3750" b="1" dirty="0">
                <a:solidFill>
                  <a:srgbClr val="2F6BE0"/>
                </a:solidFill>
                <a:latin typeface="Segoe UI" pitchFamily="34" charset="0"/>
              </a:rPr>
              <a:t>escrow + SLA + reputation.</a:t>
            </a:r>
          </a:p>
        </p:txBody>
      </p:sp>
      <p:sp>
        <p:nvSpPr>
          <p:cNvPr id="21" name="text"/>
          <p:cNvSpPr txBox="1"/>
          <p:nvPr/>
        </p:nvSpPr>
        <p:spPr>
          <a:xfrm>
            <a:off x="800100" y="4171950"/>
            <a:ext cx="6566916" cy="1038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  <a:buNone/>
            </a:pPr>
            <a:r>
              <a:rPr lang="en-US" sz="1800" b="0" dirty="0">
                <a:solidFill>
                  <a:srgbClr val="566384"/>
                </a:solidFill>
                <a:latin typeface="Segoe UI" pitchFamily="34" charset="0"/>
              </a:rPr>
              <a:t>A raw transfer doesn't make a stranger safe to deal with. Programmable escrow — with a delivery guarantee and reputation attached — does.</a:t>
            </a:r>
          </a:p>
        </p:txBody>
      </p:sp>
      <p:sp>
        <p:nvSpPr>
          <p:cNvPr id="22" name="shape"/>
          <p:cNvSpPr/>
          <p:nvPr/>
        </p:nvSpPr>
        <p:spPr>
          <a:xfrm>
            <a:off x="800100" y="6438900"/>
            <a:ext cx="10591800" cy="9525"/>
          </a:xfrm>
          <a:prstGeom prst="rect">
            <a:avLst/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23" name="text"/>
          <p:cNvSpPr txBox="1"/>
          <p:nvPr/>
        </p:nvSpPr>
        <p:spPr>
          <a:xfrm>
            <a:off x="800100" y="6572250"/>
            <a:ext cx="52959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THE INSIGHT</a:t>
            </a:r>
          </a:p>
        </p:txBody>
      </p:sp>
      <p:sp>
        <p:nvSpPr>
          <p:cNvPr id="24" name="text"/>
          <p:cNvSpPr txBox="1"/>
          <p:nvPr/>
        </p:nvSpPr>
        <p:spPr>
          <a:xfrm>
            <a:off x="6096000" y="6572250"/>
            <a:ext cx="52959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TESSERA · ARC TESTNET · USDC-NATIVE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E7EBF5"/>
              </a:gs>
              <a:gs pos="100000">
                <a:srgbClr val="EEF1F8"/>
              </a:gs>
            </a:gsLst>
            <a:lin ang="5400000" scaled="0"/>
          </a:gradFill>
          <a:ln>
            <a:noFill/>
          </a:ln>
        </p:spPr>
        <p:txBody>
          <a:bodyPr/>
          <a:lstStyle/>
          <a:p/>
        </p:txBody>
      </p:sp>
      <p:sp>
        <p:nvSpPr>
          <p:cNvPr id="3" name="shape"/>
          <p:cNvSpPr/>
          <p:nvPr/>
        </p:nvSpPr>
        <p:spPr>
          <a:xfrm>
            <a:off x="6667500" y="-2857500"/>
            <a:ext cx="8572500" cy="6667500"/>
          </a:xfrm>
          <a:prstGeom prst="ellipse">
            <a:avLst/>
          </a:prstGeom>
          <a:gradFill rotWithShape="0">
            <a:gsLst>
              <a:gs pos="0">
                <a:srgbClr val="2F6BE0">
                  <a:alpha val="13000"/>
                </a:srgbClr>
              </a:gs>
              <a:gs pos="100000">
                <a:srgbClr val="2F6BE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/>
          <a:lstStyle/>
          <a:p/>
        </p:txBody>
      </p:sp>
      <p:sp>
        <p:nvSpPr>
          <p:cNvPr id="4" name="shape"/>
          <p:cNvSpPr/>
          <p:nvPr/>
        </p:nvSpPr>
        <p:spPr>
          <a:xfrm>
            <a:off x="800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shape"/>
          <p:cNvSpPr/>
          <p:nvPr/>
        </p:nvSpPr>
        <p:spPr>
          <a:xfrm>
            <a:off x="1028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shape"/>
          <p:cNvSpPr/>
          <p:nvPr/>
        </p:nvSpPr>
        <p:spPr>
          <a:xfrm>
            <a:off x="12573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shape"/>
          <p:cNvSpPr/>
          <p:nvPr/>
        </p:nvSpPr>
        <p:spPr>
          <a:xfrm>
            <a:off x="1485900" y="285750"/>
            <a:ext cx="323850" cy="47625"/>
          </a:xfrm>
          <a:prstGeom prst="roundRect">
            <a:avLst>
              <a:gd name="adj" fmla="val 50000"/>
            </a:avLst>
          </a:prstGeom>
          <a:solidFill>
            <a:srgbClr val="2F6BE0"/>
          </a:solidFill>
          <a:ln>
            <a:noFill/>
          </a:ln>
        </p:spPr>
        <p:txBody>
          <a:bodyPr/>
          <a:lstStyle/>
          <a:p/>
        </p:txBody>
      </p:sp>
      <p:sp>
        <p:nvSpPr>
          <p:cNvPr id="8" name="shape"/>
          <p:cNvSpPr/>
          <p:nvPr/>
        </p:nvSpPr>
        <p:spPr>
          <a:xfrm>
            <a:off x="18669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shape"/>
          <p:cNvSpPr/>
          <p:nvPr/>
        </p:nvSpPr>
        <p:spPr>
          <a:xfrm>
            <a:off x="20955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shape"/>
          <p:cNvSpPr/>
          <p:nvPr/>
        </p:nvSpPr>
        <p:spPr>
          <a:xfrm>
            <a:off x="2324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"/>
          <p:cNvSpPr/>
          <p:nvPr/>
        </p:nvSpPr>
        <p:spPr>
          <a:xfrm>
            <a:off x="2552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"/>
          <p:cNvSpPr/>
          <p:nvPr/>
        </p:nvSpPr>
        <p:spPr>
          <a:xfrm>
            <a:off x="27813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shape"/>
          <p:cNvSpPr/>
          <p:nvPr/>
        </p:nvSpPr>
        <p:spPr>
          <a:xfrm>
            <a:off x="30099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shape"/>
          <p:cNvSpPr/>
          <p:nvPr/>
        </p:nvSpPr>
        <p:spPr>
          <a:xfrm>
            <a:off x="32385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shape"/>
          <p:cNvSpPr/>
          <p:nvPr/>
        </p:nvSpPr>
        <p:spPr>
          <a:xfrm>
            <a:off x="3467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shape"/>
          <p:cNvSpPr/>
          <p:nvPr/>
        </p:nvSpPr>
        <p:spPr>
          <a:xfrm>
            <a:off x="3695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text"/>
          <p:cNvSpPr txBox="1"/>
          <p:nvPr/>
        </p:nvSpPr>
        <p:spPr>
          <a:xfrm>
            <a:off x="800100" y="247650"/>
            <a:ext cx="105918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04 / 13</a:t>
            </a:r>
          </a:p>
        </p:txBody>
      </p:sp>
      <p:sp>
        <p:nvSpPr>
          <p:cNvPr id="18" name="shape"/>
          <p:cNvSpPr/>
          <p:nvPr/>
        </p:nvSpPr>
        <p:spPr>
          <a:xfrm>
            <a:off x="800100" y="1797844"/>
            <a:ext cx="381000" cy="23813"/>
          </a:xfrm>
          <a:prstGeom prst="roundRect">
            <a:avLst>
              <a:gd name="adj" fmla="val 50000"/>
            </a:avLst>
          </a:prstGeom>
          <a:solidFill>
            <a:srgbClr val="2F6BE0"/>
          </a:solidFill>
          <a:ln>
            <a:noFill/>
          </a:ln>
        </p:spPr>
        <p:txBody>
          <a:bodyPr/>
          <a:lstStyle/>
          <a:p/>
        </p:txBody>
      </p:sp>
      <p:sp>
        <p:nvSpPr>
          <p:cNvPr id="19" name="text"/>
          <p:cNvSpPr txBox="1"/>
          <p:nvPr/>
        </p:nvSpPr>
        <p:spPr>
          <a:xfrm>
            <a:off x="1295400" y="1733550"/>
            <a:ext cx="10096500" cy="21431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125" b="1" spc="260" dirty="0">
                <a:solidFill>
                  <a:srgbClr val="2F6BE0"/>
                </a:solidFill>
                <a:latin typeface="Consolas" pitchFamily="34" charset="0"/>
              </a:rPr>
              <a:t>HOW IT WORKS</a:t>
            </a:r>
          </a:p>
        </p:txBody>
      </p:sp>
      <p:sp>
        <p:nvSpPr>
          <p:cNvPr id="20" name="text"/>
          <p:cNvSpPr txBox="1"/>
          <p:nvPr/>
        </p:nvSpPr>
        <p:spPr>
          <a:xfrm>
            <a:off x="800100" y="2019300"/>
            <a:ext cx="10591800" cy="11049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825" b="1" dirty="0">
                <a:solidFill>
                  <a:srgbClr val="0D1424"/>
                </a:solidFill>
                <a:latin typeface="Segoe UI" pitchFamily="34" charset="0"/>
              </a:rPr>
              <a:t>402 → decide → escrow → settle or refund</a:t>
            </a:r>
          </a:p>
        </p:txBody>
      </p:sp>
      <p:sp>
        <p:nvSpPr>
          <p:cNvPr id="21" name="shape"/>
          <p:cNvSpPr/>
          <p:nvPr/>
        </p:nvSpPr>
        <p:spPr>
          <a:xfrm>
            <a:off x="800100" y="3295650"/>
            <a:ext cx="2555081" cy="1428750"/>
          </a:xfrm>
          <a:prstGeom prst="roundRect">
            <a:avLst>
              <a:gd name="adj" fmla="val 8667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2" name="text"/>
          <p:cNvSpPr txBox="1"/>
          <p:nvPr/>
        </p:nvSpPr>
        <p:spPr>
          <a:xfrm>
            <a:off x="971550" y="3467100"/>
            <a:ext cx="2212181" cy="10858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975" b="0" spc="120" dirty="0">
                <a:solidFill>
                  <a:srgbClr val="8593B0"/>
                </a:solidFill>
                <a:latin typeface="Consolas" pitchFamily="34" charset="0"/>
              </a:rPr>
              <a:t>01</a:t>
            </a:r>
          </a:p>
          <a:p>
            <a:pPr algn="l">
              <a:lnSpc>
                <a:spcPct val="120000"/>
              </a:lnSpc>
              <a:spcBef>
                <a:spcPts val="700"/>
              </a:spcBef>
              <a:buNone/>
            </a:pPr>
            <a:r>
              <a:rPr lang="en-US" sz="1575" b="1" dirty="0">
                <a:solidFill>
                  <a:srgbClr val="0D1424"/>
                </a:solidFill>
                <a:latin typeface="Segoe UI" pitchFamily="34" charset="0"/>
              </a:rPr>
              <a:t>Quote</a:t>
            </a:r>
          </a:p>
          <a:p>
            <a:pPr algn="l">
              <a:lnSpc>
                <a:spcPct val="140000"/>
              </a:lnSpc>
              <a:spcBef>
                <a:spcPts val="700"/>
              </a:spcBef>
              <a:buNone/>
            </a:pPr>
            <a:r>
              <a:rPr lang="en-US" sz="1050" b="0" dirty="0">
                <a:solidFill>
                  <a:srgbClr val="566384"/>
                </a:solidFill>
                <a:latin typeface="Segoe UI" pitchFamily="34" charset="0"/>
              </a:rPr>
              <a:t>Agent hits a paid endpoint → HTTP 402 plus a signed USDC price and SLA.</a:t>
            </a:r>
          </a:p>
        </p:txBody>
      </p:sp>
      <p:sp>
        <p:nvSpPr>
          <p:cNvPr id="23" name="shape"/>
          <p:cNvSpPr/>
          <p:nvPr/>
        </p:nvSpPr>
        <p:spPr>
          <a:xfrm>
            <a:off x="3479006" y="3295650"/>
            <a:ext cx="2555081" cy="1428750"/>
          </a:xfrm>
          <a:prstGeom prst="roundRect">
            <a:avLst>
              <a:gd name="adj" fmla="val 8667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4" name="text"/>
          <p:cNvSpPr txBox="1"/>
          <p:nvPr/>
        </p:nvSpPr>
        <p:spPr>
          <a:xfrm>
            <a:off x="3650456" y="3467100"/>
            <a:ext cx="2212181" cy="10858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975" b="0" spc="120" dirty="0">
                <a:solidFill>
                  <a:srgbClr val="8593B0"/>
                </a:solidFill>
                <a:latin typeface="Consolas" pitchFamily="34" charset="0"/>
              </a:rPr>
              <a:t>02</a:t>
            </a:r>
          </a:p>
          <a:p>
            <a:pPr algn="l">
              <a:lnSpc>
                <a:spcPct val="120000"/>
              </a:lnSpc>
              <a:spcBef>
                <a:spcPts val="700"/>
              </a:spcBef>
              <a:buNone/>
            </a:pPr>
            <a:r>
              <a:rPr lang="en-US" sz="1575" b="1" dirty="0">
                <a:solidFill>
                  <a:srgbClr val="0D1424"/>
                </a:solidFill>
                <a:latin typeface="Segoe UI" pitchFamily="34" charset="0"/>
              </a:rPr>
              <a:t>Decide</a:t>
            </a:r>
          </a:p>
          <a:p>
            <a:pPr algn="l">
              <a:lnSpc>
                <a:spcPct val="140000"/>
              </a:lnSpc>
              <a:spcBef>
                <a:spcPts val="700"/>
              </a:spcBef>
              <a:buNone/>
            </a:pPr>
            <a:r>
              <a:rPr lang="en-US" sz="1050" b="0" dirty="0">
                <a:solidFill>
                  <a:srgbClr val="566384"/>
                </a:solidFill>
                <a:latin typeface="Segoe UI" pitchFamily="34" charset="0"/>
              </a:rPr>
              <a:t>Rules or an LLM weigh budget, on-chain reputation, bonded stake and memory.</a:t>
            </a:r>
          </a:p>
        </p:txBody>
      </p:sp>
      <p:sp>
        <p:nvSpPr>
          <p:cNvPr id="25" name="shape"/>
          <p:cNvSpPr/>
          <p:nvPr/>
        </p:nvSpPr>
        <p:spPr>
          <a:xfrm>
            <a:off x="6157913" y="3295650"/>
            <a:ext cx="2555081" cy="1428750"/>
          </a:xfrm>
          <a:prstGeom prst="roundRect">
            <a:avLst>
              <a:gd name="adj" fmla="val 8667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6" name="text"/>
          <p:cNvSpPr txBox="1"/>
          <p:nvPr/>
        </p:nvSpPr>
        <p:spPr>
          <a:xfrm>
            <a:off x="6329363" y="3467100"/>
            <a:ext cx="2212181" cy="10858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975" b="0" spc="120" dirty="0">
                <a:solidFill>
                  <a:srgbClr val="8593B0"/>
                </a:solidFill>
                <a:latin typeface="Consolas" pitchFamily="34" charset="0"/>
              </a:rPr>
              <a:t>03</a:t>
            </a:r>
          </a:p>
          <a:p>
            <a:pPr algn="l">
              <a:lnSpc>
                <a:spcPct val="120000"/>
              </a:lnSpc>
              <a:spcBef>
                <a:spcPts val="700"/>
              </a:spcBef>
              <a:buNone/>
            </a:pPr>
            <a:r>
              <a:rPr lang="en-US" sz="1575" b="1" dirty="0">
                <a:solidFill>
                  <a:srgbClr val="0D1424"/>
                </a:solidFill>
                <a:latin typeface="Segoe UI" pitchFamily="34" charset="0"/>
              </a:rPr>
              <a:t>Escrow</a:t>
            </a:r>
          </a:p>
          <a:p>
            <a:pPr algn="l">
              <a:lnSpc>
                <a:spcPct val="140000"/>
              </a:lnSpc>
              <a:spcBef>
                <a:spcPts val="700"/>
              </a:spcBef>
              <a:buNone/>
            </a:pPr>
            <a:r>
              <a:rPr lang="en-US" sz="1050" b="0" dirty="0">
                <a:solidFill>
                  <a:srgbClr val="566384"/>
                </a:solidFill>
                <a:latin typeface="Segoe UI" pitchFamily="34" charset="0"/>
              </a:rPr>
              <a:t>Locks a nano-sized USDC payment in TesseraEscrow on Arc.</a:t>
            </a:r>
          </a:p>
        </p:txBody>
      </p:sp>
      <p:sp>
        <p:nvSpPr>
          <p:cNvPr id="27" name="shape"/>
          <p:cNvSpPr/>
          <p:nvPr/>
        </p:nvSpPr>
        <p:spPr>
          <a:xfrm>
            <a:off x="8836819" y="3295650"/>
            <a:ext cx="2555081" cy="1428750"/>
          </a:xfrm>
          <a:prstGeom prst="roundRect">
            <a:avLst>
              <a:gd name="adj" fmla="val 8667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8" name="text"/>
          <p:cNvSpPr txBox="1"/>
          <p:nvPr/>
        </p:nvSpPr>
        <p:spPr>
          <a:xfrm>
            <a:off x="9008269" y="3467100"/>
            <a:ext cx="2212181" cy="10858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975" b="0" spc="120" dirty="0">
                <a:solidFill>
                  <a:srgbClr val="8593B0"/>
                </a:solidFill>
                <a:latin typeface="Consolas" pitchFamily="34" charset="0"/>
              </a:rPr>
              <a:t>04</a:t>
            </a:r>
          </a:p>
          <a:p>
            <a:pPr algn="l">
              <a:lnSpc>
                <a:spcPct val="120000"/>
              </a:lnSpc>
              <a:spcBef>
                <a:spcPts val="700"/>
              </a:spcBef>
              <a:buNone/>
            </a:pPr>
            <a:r>
              <a:rPr lang="en-US" sz="1575" b="1" dirty="0">
                <a:solidFill>
                  <a:srgbClr val="0D1424"/>
                </a:solidFill>
                <a:latin typeface="Segoe UI" pitchFamily="34" charset="0"/>
              </a:rPr>
              <a:t>Settle / refund</a:t>
            </a:r>
          </a:p>
          <a:p>
            <a:pPr algn="l">
              <a:lnSpc>
                <a:spcPct val="140000"/>
              </a:lnSpc>
              <a:spcBef>
                <a:spcPts val="700"/>
              </a:spcBef>
              <a:buNone/>
            </a:pPr>
            <a:r>
              <a:rPr lang="en-US" sz="1050" b="0" dirty="0">
                <a:solidFill>
                  <a:srgbClr val="566384"/>
                </a:solidFill>
                <a:latin typeface="Segoe UI" pitchFamily="34" charset="0"/>
              </a:rPr>
              <a:t>Delivered → released. SLA breach → reclaimed.</a:t>
            </a:r>
          </a:p>
        </p:txBody>
      </p:sp>
      <p:sp>
        <p:nvSpPr>
          <p:cNvPr id="29" name="text"/>
          <p:cNvSpPr txBox="1"/>
          <p:nvPr/>
        </p:nvSpPr>
        <p:spPr>
          <a:xfrm>
            <a:off x="800100" y="4953000"/>
            <a:ext cx="7626096" cy="590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  <a:buNone/>
            </a:pPr>
            <a:r>
              <a:rPr lang="en-US" sz="1440" b="0" dirty="0">
                <a:solidFill>
                  <a:srgbClr val="566384"/>
                </a:solidFill>
                <a:latin typeface="Segoe UI" pitchFamily="34" charset="0"/>
              </a:rPr>
              <a:t>USDC is Arc's </a:t>
            </a:r>
            <a:r>
              <a:rPr lang="en-US" sz="1440" b="0" dirty="0">
                <a:solidFill>
                  <a:srgbClr val="2F6BE0"/>
                </a:solidFill>
                <a:latin typeface="Segoe UI" pitchFamily="34" charset="0"/>
              </a:rPr>
              <a:t>gas token</a:t>
            </a:r>
            <a:r>
              <a:rPr lang="en-US" sz="1440" b="0" dirty="0">
                <a:solidFill>
                  <a:srgbClr val="566384"/>
                </a:solidFill>
                <a:latin typeface="Segoe UI" pitchFamily="34" charset="0"/>
              </a:rPr>
              <a:t>, so the agent funds one asset for the toll and the fees — and sub-second finality lets a payment settle inside the request.</a:t>
            </a:r>
          </a:p>
        </p:txBody>
      </p:sp>
      <p:sp>
        <p:nvSpPr>
          <p:cNvPr id="30" name="shape"/>
          <p:cNvSpPr/>
          <p:nvPr/>
        </p:nvSpPr>
        <p:spPr>
          <a:xfrm>
            <a:off x="800100" y="6438900"/>
            <a:ext cx="10591800" cy="9525"/>
          </a:xfrm>
          <a:prstGeom prst="rect">
            <a:avLst/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31" name="text"/>
          <p:cNvSpPr txBox="1"/>
          <p:nvPr/>
        </p:nvSpPr>
        <p:spPr>
          <a:xfrm>
            <a:off x="800100" y="6572250"/>
            <a:ext cx="52959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HOW IT WORKS</a:t>
            </a:r>
          </a:p>
        </p:txBody>
      </p:sp>
      <p:sp>
        <p:nvSpPr>
          <p:cNvPr id="32" name="text"/>
          <p:cNvSpPr txBox="1"/>
          <p:nvPr/>
        </p:nvSpPr>
        <p:spPr>
          <a:xfrm>
            <a:off x="6096000" y="6572250"/>
            <a:ext cx="52959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TESSERA · ARC TESTNET · USDC-NATIVE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E7EBF5"/>
              </a:gs>
              <a:gs pos="100000">
                <a:srgbClr val="EEF1F8"/>
              </a:gs>
            </a:gsLst>
            <a:lin ang="5400000" scaled="0"/>
          </a:gradFill>
          <a:ln>
            <a:noFill/>
          </a:ln>
        </p:spPr>
        <p:txBody>
          <a:bodyPr/>
          <a:lstStyle/>
          <a:p/>
        </p:txBody>
      </p:sp>
      <p:sp>
        <p:nvSpPr>
          <p:cNvPr id="3" name="shape"/>
          <p:cNvSpPr/>
          <p:nvPr/>
        </p:nvSpPr>
        <p:spPr>
          <a:xfrm>
            <a:off x="6667500" y="-2857500"/>
            <a:ext cx="8572500" cy="6667500"/>
          </a:xfrm>
          <a:prstGeom prst="ellipse">
            <a:avLst/>
          </a:prstGeom>
          <a:gradFill rotWithShape="0">
            <a:gsLst>
              <a:gs pos="0">
                <a:srgbClr val="2F6BE0">
                  <a:alpha val="13000"/>
                </a:srgbClr>
              </a:gs>
              <a:gs pos="100000">
                <a:srgbClr val="2F6BE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/>
          <a:lstStyle/>
          <a:p/>
        </p:txBody>
      </p:sp>
      <p:sp>
        <p:nvSpPr>
          <p:cNvPr id="4" name="shape"/>
          <p:cNvSpPr/>
          <p:nvPr/>
        </p:nvSpPr>
        <p:spPr>
          <a:xfrm>
            <a:off x="800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shape"/>
          <p:cNvSpPr/>
          <p:nvPr/>
        </p:nvSpPr>
        <p:spPr>
          <a:xfrm>
            <a:off x="1028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shape"/>
          <p:cNvSpPr/>
          <p:nvPr/>
        </p:nvSpPr>
        <p:spPr>
          <a:xfrm>
            <a:off x="12573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shape"/>
          <p:cNvSpPr/>
          <p:nvPr/>
        </p:nvSpPr>
        <p:spPr>
          <a:xfrm>
            <a:off x="14859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8" name="shape"/>
          <p:cNvSpPr/>
          <p:nvPr/>
        </p:nvSpPr>
        <p:spPr>
          <a:xfrm>
            <a:off x="1714500" y="285750"/>
            <a:ext cx="323850" cy="47625"/>
          </a:xfrm>
          <a:prstGeom prst="roundRect">
            <a:avLst>
              <a:gd name="adj" fmla="val 50000"/>
            </a:avLst>
          </a:prstGeom>
          <a:solidFill>
            <a:srgbClr val="2F6BE0"/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shape"/>
          <p:cNvSpPr/>
          <p:nvPr/>
        </p:nvSpPr>
        <p:spPr>
          <a:xfrm>
            <a:off x="20955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shape"/>
          <p:cNvSpPr/>
          <p:nvPr/>
        </p:nvSpPr>
        <p:spPr>
          <a:xfrm>
            <a:off x="2324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"/>
          <p:cNvSpPr/>
          <p:nvPr/>
        </p:nvSpPr>
        <p:spPr>
          <a:xfrm>
            <a:off x="2552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"/>
          <p:cNvSpPr/>
          <p:nvPr/>
        </p:nvSpPr>
        <p:spPr>
          <a:xfrm>
            <a:off x="27813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shape"/>
          <p:cNvSpPr/>
          <p:nvPr/>
        </p:nvSpPr>
        <p:spPr>
          <a:xfrm>
            <a:off x="30099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shape"/>
          <p:cNvSpPr/>
          <p:nvPr/>
        </p:nvSpPr>
        <p:spPr>
          <a:xfrm>
            <a:off x="32385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shape"/>
          <p:cNvSpPr/>
          <p:nvPr/>
        </p:nvSpPr>
        <p:spPr>
          <a:xfrm>
            <a:off x="3467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shape"/>
          <p:cNvSpPr/>
          <p:nvPr/>
        </p:nvSpPr>
        <p:spPr>
          <a:xfrm>
            <a:off x="3695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text"/>
          <p:cNvSpPr txBox="1"/>
          <p:nvPr/>
        </p:nvSpPr>
        <p:spPr>
          <a:xfrm>
            <a:off x="800100" y="247650"/>
            <a:ext cx="105918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05 / 13</a:t>
            </a:r>
          </a:p>
        </p:txBody>
      </p:sp>
      <p:sp>
        <p:nvSpPr>
          <p:cNvPr id="18" name="shape"/>
          <p:cNvSpPr/>
          <p:nvPr/>
        </p:nvSpPr>
        <p:spPr>
          <a:xfrm>
            <a:off x="800100" y="2073116"/>
            <a:ext cx="381000" cy="23813"/>
          </a:xfrm>
          <a:prstGeom prst="roundRect">
            <a:avLst>
              <a:gd name="adj" fmla="val 50000"/>
            </a:avLst>
          </a:prstGeom>
          <a:solidFill>
            <a:srgbClr val="2F6BE0"/>
          </a:solidFill>
          <a:ln>
            <a:noFill/>
          </a:ln>
        </p:spPr>
        <p:txBody>
          <a:bodyPr/>
          <a:lstStyle/>
          <a:p/>
        </p:txBody>
      </p:sp>
      <p:sp>
        <p:nvSpPr>
          <p:cNvPr id="19" name="text"/>
          <p:cNvSpPr txBox="1"/>
          <p:nvPr/>
        </p:nvSpPr>
        <p:spPr>
          <a:xfrm>
            <a:off x="1295400" y="2008823"/>
            <a:ext cx="10096500" cy="21431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125" b="1" spc="260" dirty="0">
                <a:solidFill>
                  <a:srgbClr val="2F6BE0"/>
                </a:solidFill>
                <a:latin typeface="Consolas" pitchFamily="34" charset="0"/>
              </a:rPr>
              <a:t>WHAT MAKES IT REAL</a:t>
            </a:r>
          </a:p>
        </p:txBody>
      </p:sp>
      <p:sp>
        <p:nvSpPr>
          <p:cNvPr id="20" name="text"/>
          <p:cNvSpPr txBox="1"/>
          <p:nvPr/>
        </p:nvSpPr>
        <p:spPr>
          <a:xfrm>
            <a:off x="800100" y="2294573"/>
            <a:ext cx="10591800" cy="590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825" b="1" dirty="0">
                <a:solidFill>
                  <a:srgbClr val="0D1424"/>
                </a:solidFill>
                <a:latin typeface="Segoe UI" pitchFamily="34" charset="0"/>
              </a:rPr>
              <a:t>Guarantees, not promises.</a:t>
            </a:r>
          </a:p>
        </p:txBody>
      </p:sp>
      <p:sp>
        <p:nvSpPr>
          <p:cNvPr id="21" name="shape"/>
          <p:cNvSpPr/>
          <p:nvPr/>
        </p:nvSpPr>
        <p:spPr>
          <a:xfrm>
            <a:off x="800100" y="3056573"/>
            <a:ext cx="5219700" cy="991553"/>
          </a:xfrm>
          <a:prstGeom prst="roundRect">
            <a:avLst>
              <a:gd name="adj" fmla="val 13449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2" name="text"/>
          <p:cNvSpPr txBox="1"/>
          <p:nvPr/>
        </p:nvSpPr>
        <p:spPr>
          <a:xfrm>
            <a:off x="971550" y="3228023"/>
            <a:ext cx="4876800" cy="64865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en-US" sz="1275" b="1" dirty="0">
                <a:solidFill>
                  <a:srgbClr val="2F6BE0"/>
                </a:solidFill>
                <a:latin typeface="Segoe UI" pitchFamily="34" charset="0"/>
              </a:rPr>
              <a:t>◆ Escrow + auto-refund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buNone/>
            </a:pPr>
            <a:r>
              <a:rPr lang="en-US" sz="1050" b="0" dirty="0">
                <a:solidFill>
                  <a:srgbClr val="566384"/>
                </a:solidFill>
                <a:latin typeface="Segoe UI" pitchFamily="34" charset="0"/>
              </a:rPr>
              <a:t>Delivery releases funds; an SLA breach reclaims them automatically. Enforced by the contract, not trust.</a:t>
            </a:r>
          </a:p>
        </p:txBody>
      </p:sp>
      <p:sp>
        <p:nvSpPr>
          <p:cNvPr id="23" name="shape"/>
          <p:cNvSpPr/>
          <p:nvPr/>
        </p:nvSpPr>
        <p:spPr>
          <a:xfrm>
            <a:off x="6172200" y="3056573"/>
            <a:ext cx="5219700" cy="991553"/>
          </a:xfrm>
          <a:prstGeom prst="roundRect">
            <a:avLst>
              <a:gd name="adj" fmla="val 13449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4" name="text"/>
          <p:cNvSpPr txBox="1"/>
          <p:nvPr/>
        </p:nvSpPr>
        <p:spPr>
          <a:xfrm>
            <a:off x="6343650" y="3228023"/>
            <a:ext cx="4876800" cy="64865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en-US" sz="1275" b="1" dirty="0">
                <a:solidFill>
                  <a:srgbClr val="0F9D6B"/>
                </a:solidFill>
                <a:latin typeface="Segoe UI" pitchFamily="34" charset="0"/>
              </a:rPr>
              <a:t>◆ Provider staking &amp; slashing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buNone/>
            </a:pPr>
            <a:r>
              <a:rPr lang="en-US" sz="1050" b="0" dirty="0">
                <a:solidFill>
                  <a:srgbClr val="566384"/>
                </a:solidFill>
                <a:latin typeface="Segoe UI" pitchFamily="34" charset="0"/>
              </a:rPr>
              <a:t>Providers bond USDC; a breach slashes it to compensate the agent. Skin in the game.</a:t>
            </a:r>
          </a:p>
        </p:txBody>
      </p:sp>
      <p:sp>
        <p:nvSpPr>
          <p:cNvPr id="25" name="shape"/>
          <p:cNvSpPr/>
          <p:nvPr/>
        </p:nvSpPr>
        <p:spPr>
          <a:xfrm>
            <a:off x="800100" y="4200525"/>
            <a:ext cx="5219700" cy="991553"/>
          </a:xfrm>
          <a:prstGeom prst="roundRect">
            <a:avLst>
              <a:gd name="adj" fmla="val 13449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6" name="text"/>
          <p:cNvSpPr txBox="1"/>
          <p:nvPr/>
        </p:nvSpPr>
        <p:spPr>
          <a:xfrm>
            <a:off x="971550" y="4371975"/>
            <a:ext cx="4876800" cy="64865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en-US" sz="1275" b="1" dirty="0">
                <a:solidFill>
                  <a:srgbClr val="B9791A"/>
                </a:solidFill>
                <a:latin typeface="Segoe UI" pitchFamily="34" charset="0"/>
              </a:rPr>
              <a:t>◆ Nanopayment tabs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buNone/>
            </a:pPr>
            <a:r>
              <a:rPr lang="en-US" sz="1050" b="0" dirty="0">
                <a:solidFill>
                  <a:srgbClr val="566384"/>
                </a:solidFill>
                <a:latin typeface="Segoe UI" pitchFamily="34" charset="0"/>
              </a:rPr>
              <a:t>One deposit, many zero-gas off-chain vouchers, one settlement. Streams at nano-scale.</a:t>
            </a:r>
          </a:p>
        </p:txBody>
      </p:sp>
      <p:sp>
        <p:nvSpPr>
          <p:cNvPr id="27" name="shape"/>
          <p:cNvSpPr/>
          <p:nvPr/>
        </p:nvSpPr>
        <p:spPr>
          <a:xfrm>
            <a:off x="6172200" y="4200525"/>
            <a:ext cx="5219700" cy="991553"/>
          </a:xfrm>
          <a:prstGeom prst="roundRect">
            <a:avLst>
              <a:gd name="adj" fmla="val 13449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8" name="text"/>
          <p:cNvSpPr txBox="1"/>
          <p:nvPr/>
        </p:nvSpPr>
        <p:spPr>
          <a:xfrm>
            <a:off x="6343650" y="4371975"/>
            <a:ext cx="4876800" cy="64865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en-US" sz="1275" b="1" dirty="0">
                <a:solidFill>
                  <a:srgbClr val="2F6BE0"/>
                </a:solidFill>
                <a:latin typeface="Segoe UI" pitchFamily="34" charset="0"/>
              </a:rPr>
              <a:t>◆ Guardian + trust memory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buNone/>
            </a:pPr>
            <a:r>
              <a:rPr lang="en-US" sz="1050" b="0" dirty="0">
                <a:solidFill>
                  <a:srgbClr val="566384"/>
                </a:solidFill>
                <a:latin typeface="Segoe UI" pitchFamily="34" charset="0"/>
              </a:rPr>
              <a:t>Big buys pause for a human co-signer; a provider that burned this agent is declined next time.</a:t>
            </a:r>
          </a:p>
        </p:txBody>
      </p:sp>
      <p:sp>
        <p:nvSpPr>
          <p:cNvPr id="29" name="shape"/>
          <p:cNvSpPr/>
          <p:nvPr/>
        </p:nvSpPr>
        <p:spPr>
          <a:xfrm>
            <a:off x="800100" y="6438900"/>
            <a:ext cx="10591800" cy="9525"/>
          </a:xfrm>
          <a:prstGeom prst="rect">
            <a:avLst/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30" name="text"/>
          <p:cNvSpPr txBox="1"/>
          <p:nvPr/>
        </p:nvSpPr>
        <p:spPr>
          <a:xfrm>
            <a:off x="800100" y="6572250"/>
            <a:ext cx="52959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DIFFERENTIATORS</a:t>
            </a:r>
          </a:p>
        </p:txBody>
      </p:sp>
      <p:sp>
        <p:nvSpPr>
          <p:cNvPr id="31" name="text"/>
          <p:cNvSpPr txBox="1"/>
          <p:nvPr/>
        </p:nvSpPr>
        <p:spPr>
          <a:xfrm>
            <a:off x="6096000" y="6572250"/>
            <a:ext cx="52959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TESSERA · ARC TESTNET · USDC-NATIVE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E7EBF5"/>
              </a:gs>
              <a:gs pos="100000">
                <a:srgbClr val="EEF1F8"/>
              </a:gs>
            </a:gsLst>
            <a:lin ang="5400000" scaled="0"/>
          </a:gradFill>
          <a:ln>
            <a:noFill/>
          </a:ln>
        </p:spPr>
        <p:txBody>
          <a:bodyPr/>
          <a:lstStyle/>
          <a:p/>
        </p:txBody>
      </p:sp>
      <p:sp>
        <p:nvSpPr>
          <p:cNvPr id="3" name="shape"/>
          <p:cNvSpPr/>
          <p:nvPr/>
        </p:nvSpPr>
        <p:spPr>
          <a:xfrm>
            <a:off x="6667500" y="-2857500"/>
            <a:ext cx="8572500" cy="6667500"/>
          </a:xfrm>
          <a:prstGeom prst="ellipse">
            <a:avLst/>
          </a:prstGeom>
          <a:gradFill rotWithShape="0">
            <a:gsLst>
              <a:gs pos="0">
                <a:srgbClr val="2F6BE0">
                  <a:alpha val="13000"/>
                </a:srgbClr>
              </a:gs>
              <a:gs pos="100000">
                <a:srgbClr val="2F6BE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/>
          <a:lstStyle/>
          <a:p/>
        </p:txBody>
      </p:sp>
      <p:sp>
        <p:nvSpPr>
          <p:cNvPr id="4" name="shape"/>
          <p:cNvSpPr/>
          <p:nvPr/>
        </p:nvSpPr>
        <p:spPr>
          <a:xfrm>
            <a:off x="800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shape"/>
          <p:cNvSpPr/>
          <p:nvPr/>
        </p:nvSpPr>
        <p:spPr>
          <a:xfrm>
            <a:off x="1028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shape"/>
          <p:cNvSpPr/>
          <p:nvPr/>
        </p:nvSpPr>
        <p:spPr>
          <a:xfrm>
            <a:off x="12573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shape"/>
          <p:cNvSpPr/>
          <p:nvPr/>
        </p:nvSpPr>
        <p:spPr>
          <a:xfrm>
            <a:off x="14859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8" name="shape"/>
          <p:cNvSpPr/>
          <p:nvPr/>
        </p:nvSpPr>
        <p:spPr>
          <a:xfrm>
            <a:off x="17145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shape"/>
          <p:cNvSpPr/>
          <p:nvPr/>
        </p:nvSpPr>
        <p:spPr>
          <a:xfrm>
            <a:off x="1943100" y="285750"/>
            <a:ext cx="323850" cy="47625"/>
          </a:xfrm>
          <a:prstGeom prst="roundRect">
            <a:avLst>
              <a:gd name="adj" fmla="val 50000"/>
            </a:avLst>
          </a:prstGeom>
          <a:solidFill>
            <a:srgbClr val="2F6BE0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shape"/>
          <p:cNvSpPr/>
          <p:nvPr/>
        </p:nvSpPr>
        <p:spPr>
          <a:xfrm>
            <a:off x="2324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"/>
          <p:cNvSpPr/>
          <p:nvPr/>
        </p:nvSpPr>
        <p:spPr>
          <a:xfrm>
            <a:off x="2552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"/>
          <p:cNvSpPr/>
          <p:nvPr/>
        </p:nvSpPr>
        <p:spPr>
          <a:xfrm>
            <a:off x="27813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shape"/>
          <p:cNvSpPr/>
          <p:nvPr/>
        </p:nvSpPr>
        <p:spPr>
          <a:xfrm>
            <a:off x="30099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shape"/>
          <p:cNvSpPr/>
          <p:nvPr/>
        </p:nvSpPr>
        <p:spPr>
          <a:xfrm>
            <a:off x="32385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shape"/>
          <p:cNvSpPr/>
          <p:nvPr/>
        </p:nvSpPr>
        <p:spPr>
          <a:xfrm>
            <a:off x="3467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shape"/>
          <p:cNvSpPr/>
          <p:nvPr/>
        </p:nvSpPr>
        <p:spPr>
          <a:xfrm>
            <a:off x="3695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text"/>
          <p:cNvSpPr txBox="1"/>
          <p:nvPr/>
        </p:nvSpPr>
        <p:spPr>
          <a:xfrm>
            <a:off x="800100" y="247650"/>
            <a:ext cx="105918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06 / 13</a:t>
            </a:r>
          </a:p>
        </p:txBody>
      </p:sp>
      <p:sp>
        <p:nvSpPr>
          <p:cNvPr id="18" name="shape"/>
          <p:cNvSpPr/>
          <p:nvPr/>
        </p:nvSpPr>
        <p:spPr>
          <a:xfrm>
            <a:off x="800100" y="1673066"/>
            <a:ext cx="381000" cy="23813"/>
          </a:xfrm>
          <a:prstGeom prst="roundRect">
            <a:avLst>
              <a:gd name="adj" fmla="val 50000"/>
            </a:avLst>
          </a:prstGeom>
          <a:solidFill>
            <a:srgbClr val="2F6BE0"/>
          </a:solidFill>
          <a:ln>
            <a:noFill/>
          </a:ln>
        </p:spPr>
        <p:txBody>
          <a:bodyPr/>
          <a:lstStyle/>
          <a:p/>
        </p:txBody>
      </p:sp>
      <p:sp>
        <p:nvSpPr>
          <p:cNvPr id="19" name="text"/>
          <p:cNvSpPr txBox="1"/>
          <p:nvPr/>
        </p:nvSpPr>
        <p:spPr>
          <a:xfrm>
            <a:off x="1295400" y="1608773"/>
            <a:ext cx="10096500" cy="21431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125" b="1" spc="260" dirty="0">
                <a:solidFill>
                  <a:srgbClr val="2F6BE0"/>
                </a:solidFill>
                <a:latin typeface="Consolas" pitchFamily="34" charset="0"/>
              </a:rPr>
              <a:t>THE DEFI STACK</a:t>
            </a:r>
          </a:p>
        </p:txBody>
      </p:sp>
      <p:sp>
        <p:nvSpPr>
          <p:cNvPr id="20" name="text"/>
          <p:cNvSpPr txBox="1"/>
          <p:nvPr/>
        </p:nvSpPr>
        <p:spPr>
          <a:xfrm>
            <a:off x="800100" y="1894523"/>
            <a:ext cx="10591800" cy="590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825" b="1" dirty="0">
                <a:solidFill>
                  <a:srgbClr val="0D1424"/>
                </a:solidFill>
                <a:latin typeface="Segoe UI" pitchFamily="34" charset="0"/>
              </a:rPr>
              <a:t>The rails that fund the agent.</a:t>
            </a:r>
          </a:p>
        </p:txBody>
      </p:sp>
      <p:sp>
        <p:nvSpPr>
          <p:cNvPr id="21" name="text"/>
          <p:cNvSpPr txBox="1"/>
          <p:nvPr/>
        </p:nvSpPr>
        <p:spPr>
          <a:xfrm>
            <a:off x="800100" y="2561273"/>
            <a:ext cx="8261604" cy="7239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  <a:buNone/>
            </a:pPr>
            <a:r>
              <a:rPr lang="en-US" sz="1800" b="0" dirty="0">
                <a:solidFill>
                  <a:srgbClr val="566384"/>
                </a:solidFill>
                <a:latin typeface="Segoe UI" pitchFamily="34" charset="0"/>
              </a:rPr>
              <a:t>An agent needs working capital. Tessera provides it natively rather than assuming a funded wallet.</a:t>
            </a:r>
          </a:p>
        </p:txBody>
      </p:sp>
      <p:sp>
        <p:nvSpPr>
          <p:cNvPr id="22" name="shape"/>
          <p:cNvSpPr/>
          <p:nvPr/>
        </p:nvSpPr>
        <p:spPr>
          <a:xfrm>
            <a:off x="800100" y="3456623"/>
            <a:ext cx="5219700" cy="991553"/>
          </a:xfrm>
          <a:prstGeom prst="roundRect">
            <a:avLst>
              <a:gd name="adj" fmla="val 13449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3" name="text"/>
          <p:cNvSpPr txBox="1"/>
          <p:nvPr/>
        </p:nvSpPr>
        <p:spPr>
          <a:xfrm>
            <a:off x="971550" y="3628073"/>
            <a:ext cx="4876800" cy="64865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en-US" sz="1275" b="1" dirty="0">
                <a:solidFill>
                  <a:srgbClr val="2F6BE0"/>
                </a:solidFill>
                <a:latin typeface="Segoe UI" pitchFamily="34" charset="0"/>
              </a:rPr>
              <a:t>◆ Lending &amp; borrowing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buNone/>
            </a:pPr>
            <a:r>
              <a:rPr lang="en-US" sz="1050" b="0" dirty="0">
                <a:solidFill>
                  <a:srgbClr val="566384"/>
                </a:solidFill>
                <a:latin typeface="Segoe UI" pitchFamily="34" charset="0"/>
              </a:rPr>
              <a:t>Supply for yield or borrow against collateral. Kinked-utilisation interest, health-factor liquidation, per-action freeze controls.</a:t>
            </a:r>
          </a:p>
        </p:txBody>
      </p:sp>
      <p:sp>
        <p:nvSpPr>
          <p:cNvPr id="24" name="shape"/>
          <p:cNvSpPr/>
          <p:nvPr/>
        </p:nvSpPr>
        <p:spPr>
          <a:xfrm>
            <a:off x="6172200" y="3456623"/>
            <a:ext cx="5219700" cy="991553"/>
          </a:xfrm>
          <a:prstGeom prst="roundRect">
            <a:avLst>
              <a:gd name="adj" fmla="val 13449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5" name="text"/>
          <p:cNvSpPr txBox="1"/>
          <p:nvPr/>
        </p:nvSpPr>
        <p:spPr>
          <a:xfrm>
            <a:off x="6343650" y="3628073"/>
            <a:ext cx="4876800" cy="64865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en-US" sz="1275" b="1" dirty="0">
                <a:solidFill>
                  <a:srgbClr val="0F9D6B"/>
                </a:solidFill>
                <a:latin typeface="Segoe UI" pitchFamily="34" charset="0"/>
              </a:rPr>
              <a:t>◆ Yield vault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buNone/>
            </a:pPr>
            <a:r>
              <a:rPr lang="en-US" sz="1050" b="0" dirty="0">
                <a:solidFill>
                  <a:srgbClr val="566384"/>
                </a:solidFill>
                <a:latin typeface="Segoe UI" pitchFamily="34" charset="0"/>
              </a:rPr>
              <a:t>80% held liquid by a contract floor no admin can lower. The app's fee touches yield only — never principal.</a:t>
            </a:r>
          </a:p>
        </p:txBody>
      </p:sp>
      <p:sp>
        <p:nvSpPr>
          <p:cNvPr id="26" name="shape"/>
          <p:cNvSpPr/>
          <p:nvPr/>
        </p:nvSpPr>
        <p:spPr>
          <a:xfrm>
            <a:off x="800100" y="4600575"/>
            <a:ext cx="5219700" cy="991553"/>
          </a:xfrm>
          <a:prstGeom prst="roundRect">
            <a:avLst>
              <a:gd name="adj" fmla="val 13449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7" name="text"/>
          <p:cNvSpPr txBox="1"/>
          <p:nvPr/>
        </p:nvSpPr>
        <p:spPr>
          <a:xfrm>
            <a:off x="971550" y="4772025"/>
            <a:ext cx="4876800" cy="64865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en-US" sz="1275" b="1" dirty="0">
                <a:solidFill>
                  <a:srgbClr val="B9791A"/>
                </a:solidFill>
                <a:latin typeface="Segoe UI" pitchFamily="34" charset="0"/>
              </a:rPr>
              <a:t>◆ Swap desk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buNone/>
            </a:pPr>
            <a:r>
              <a:rPr lang="en-US" sz="1050" b="0" dirty="0">
                <a:solidFill>
                  <a:srgbClr val="566384"/>
                </a:solidFill>
                <a:latin typeface="Segoe UI" pitchFamily="34" charset="0"/>
              </a:rPr>
              <a:t>Oracle-priced swaps between pool assets, with a configurable fee split.</a:t>
            </a:r>
          </a:p>
        </p:txBody>
      </p:sp>
      <p:sp>
        <p:nvSpPr>
          <p:cNvPr id="28" name="shape"/>
          <p:cNvSpPr/>
          <p:nvPr/>
        </p:nvSpPr>
        <p:spPr>
          <a:xfrm>
            <a:off x="6172200" y="4600575"/>
            <a:ext cx="5219700" cy="991553"/>
          </a:xfrm>
          <a:prstGeom prst="roundRect">
            <a:avLst>
              <a:gd name="adj" fmla="val 13449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9" name="text"/>
          <p:cNvSpPr txBox="1"/>
          <p:nvPr/>
        </p:nvSpPr>
        <p:spPr>
          <a:xfrm>
            <a:off x="6343650" y="4772025"/>
            <a:ext cx="4876800" cy="64865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en-US" sz="1275" b="1" dirty="0">
                <a:solidFill>
                  <a:srgbClr val="2F6BE0"/>
                </a:solidFill>
                <a:latin typeface="Segoe UI" pitchFamily="34" charset="0"/>
              </a:rPr>
              <a:t>◆ Liquidity pools (AMM)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buNone/>
            </a:pPr>
            <a:r>
              <a:rPr lang="en-US" sz="1050" b="0" dirty="0">
                <a:solidFill>
                  <a:srgbClr val="566384"/>
                </a:solidFill>
                <a:latin typeface="Segoe UI" pitchFamily="34" charset="0"/>
              </a:rPr>
              <a:t>Multi-asset pools where providers keep at least 50% of every swap fee — a constant in the contract, not a setting.</a:t>
            </a:r>
          </a:p>
        </p:txBody>
      </p:sp>
      <p:sp>
        <p:nvSpPr>
          <p:cNvPr id="30" name="shape"/>
          <p:cNvSpPr/>
          <p:nvPr/>
        </p:nvSpPr>
        <p:spPr>
          <a:xfrm>
            <a:off x="800100" y="6438900"/>
            <a:ext cx="10591800" cy="9525"/>
          </a:xfrm>
          <a:prstGeom prst="rect">
            <a:avLst/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31" name="text"/>
          <p:cNvSpPr txBox="1"/>
          <p:nvPr/>
        </p:nvSpPr>
        <p:spPr>
          <a:xfrm>
            <a:off x="800100" y="6572250"/>
            <a:ext cx="52959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THE DEFI STACK</a:t>
            </a:r>
          </a:p>
        </p:txBody>
      </p:sp>
      <p:sp>
        <p:nvSpPr>
          <p:cNvPr id="32" name="text"/>
          <p:cNvSpPr txBox="1"/>
          <p:nvPr/>
        </p:nvSpPr>
        <p:spPr>
          <a:xfrm>
            <a:off x="6096000" y="6572250"/>
            <a:ext cx="52959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TESSERA · ARC TESTNET · USDC-NATIVE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E7EBF5"/>
              </a:gs>
              <a:gs pos="100000">
                <a:srgbClr val="EEF1F8"/>
              </a:gs>
            </a:gsLst>
            <a:lin ang="5400000" scaled="0"/>
          </a:gradFill>
          <a:ln>
            <a:noFill/>
          </a:ln>
        </p:spPr>
        <p:txBody>
          <a:bodyPr/>
          <a:lstStyle/>
          <a:p/>
        </p:txBody>
      </p:sp>
      <p:sp>
        <p:nvSpPr>
          <p:cNvPr id="3" name="shape"/>
          <p:cNvSpPr/>
          <p:nvPr/>
        </p:nvSpPr>
        <p:spPr>
          <a:xfrm>
            <a:off x="6667500" y="-2857500"/>
            <a:ext cx="8572500" cy="6667500"/>
          </a:xfrm>
          <a:prstGeom prst="ellipse">
            <a:avLst/>
          </a:prstGeom>
          <a:gradFill rotWithShape="0">
            <a:gsLst>
              <a:gs pos="0">
                <a:srgbClr val="2F6BE0">
                  <a:alpha val="13000"/>
                </a:srgbClr>
              </a:gs>
              <a:gs pos="100000">
                <a:srgbClr val="2F6BE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/>
          <a:lstStyle/>
          <a:p/>
        </p:txBody>
      </p:sp>
      <p:sp>
        <p:nvSpPr>
          <p:cNvPr id="4" name="shape"/>
          <p:cNvSpPr/>
          <p:nvPr/>
        </p:nvSpPr>
        <p:spPr>
          <a:xfrm>
            <a:off x="800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shape"/>
          <p:cNvSpPr/>
          <p:nvPr/>
        </p:nvSpPr>
        <p:spPr>
          <a:xfrm>
            <a:off x="1028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shape"/>
          <p:cNvSpPr/>
          <p:nvPr/>
        </p:nvSpPr>
        <p:spPr>
          <a:xfrm>
            <a:off x="12573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shape"/>
          <p:cNvSpPr/>
          <p:nvPr/>
        </p:nvSpPr>
        <p:spPr>
          <a:xfrm>
            <a:off x="14859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8" name="shape"/>
          <p:cNvSpPr/>
          <p:nvPr/>
        </p:nvSpPr>
        <p:spPr>
          <a:xfrm>
            <a:off x="17145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shape"/>
          <p:cNvSpPr/>
          <p:nvPr/>
        </p:nvSpPr>
        <p:spPr>
          <a:xfrm>
            <a:off x="1943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shape"/>
          <p:cNvSpPr/>
          <p:nvPr/>
        </p:nvSpPr>
        <p:spPr>
          <a:xfrm>
            <a:off x="2171700" y="285750"/>
            <a:ext cx="323850" cy="47625"/>
          </a:xfrm>
          <a:prstGeom prst="roundRect">
            <a:avLst>
              <a:gd name="adj" fmla="val 50000"/>
            </a:avLst>
          </a:prstGeom>
          <a:solidFill>
            <a:srgbClr val="2F6BE0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"/>
          <p:cNvSpPr/>
          <p:nvPr/>
        </p:nvSpPr>
        <p:spPr>
          <a:xfrm>
            <a:off x="2552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"/>
          <p:cNvSpPr/>
          <p:nvPr/>
        </p:nvSpPr>
        <p:spPr>
          <a:xfrm>
            <a:off x="27813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shape"/>
          <p:cNvSpPr/>
          <p:nvPr/>
        </p:nvSpPr>
        <p:spPr>
          <a:xfrm>
            <a:off x="30099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shape"/>
          <p:cNvSpPr/>
          <p:nvPr/>
        </p:nvSpPr>
        <p:spPr>
          <a:xfrm>
            <a:off x="32385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shape"/>
          <p:cNvSpPr/>
          <p:nvPr/>
        </p:nvSpPr>
        <p:spPr>
          <a:xfrm>
            <a:off x="3467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shape"/>
          <p:cNvSpPr/>
          <p:nvPr/>
        </p:nvSpPr>
        <p:spPr>
          <a:xfrm>
            <a:off x="3695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text"/>
          <p:cNvSpPr txBox="1"/>
          <p:nvPr/>
        </p:nvSpPr>
        <p:spPr>
          <a:xfrm>
            <a:off x="800100" y="247650"/>
            <a:ext cx="105918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07 / 13</a:t>
            </a:r>
          </a:p>
        </p:txBody>
      </p:sp>
      <p:sp>
        <p:nvSpPr>
          <p:cNvPr id="18" name="shape"/>
          <p:cNvSpPr/>
          <p:nvPr/>
        </p:nvSpPr>
        <p:spPr>
          <a:xfrm>
            <a:off x="800100" y="1038225"/>
            <a:ext cx="381000" cy="23813"/>
          </a:xfrm>
          <a:prstGeom prst="roundRect">
            <a:avLst>
              <a:gd name="adj" fmla="val 50000"/>
            </a:avLst>
          </a:prstGeom>
          <a:solidFill>
            <a:srgbClr val="2F6BE0"/>
          </a:solidFill>
          <a:ln>
            <a:noFill/>
          </a:ln>
        </p:spPr>
        <p:txBody>
          <a:bodyPr/>
          <a:lstStyle/>
          <a:p/>
        </p:txBody>
      </p:sp>
      <p:sp>
        <p:nvSpPr>
          <p:cNvPr id="19" name="text"/>
          <p:cNvSpPr txBox="1"/>
          <p:nvPr/>
        </p:nvSpPr>
        <p:spPr>
          <a:xfrm>
            <a:off x="1295400" y="973931"/>
            <a:ext cx="10096500" cy="21431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125" b="1" spc="260" dirty="0">
                <a:solidFill>
                  <a:srgbClr val="2F6BE0"/>
                </a:solidFill>
                <a:latin typeface="Consolas" pitchFamily="34" charset="0"/>
              </a:rPr>
              <a:t>GUARDRAILS</a:t>
            </a:r>
          </a:p>
        </p:txBody>
      </p:sp>
      <p:sp>
        <p:nvSpPr>
          <p:cNvPr id="20" name="text"/>
          <p:cNvSpPr txBox="1"/>
          <p:nvPr/>
        </p:nvSpPr>
        <p:spPr>
          <a:xfrm>
            <a:off x="800100" y="1259681"/>
            <a:ext cx="10591800" cy="590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825" b="1" dirty="0">
                <a:solidFill>
                  <a:srgbClr val="0D1424"/>
                </a:solidFill>
                <a:latin typeface="Segoe UI" pitchFamily="34" charset="0"/>
              </a:rPr>
              <a:t>What an operator </a:t>
            </a:r>
            <a:r>
              <a:rPr lang="en-US" sz="3825" b="1" dirty="0">
                <a:solidFill>
                  <a:srgbClr val="2F6BE0"/>
                </a:solidFill>
                <a:latin typeface="Segoe UI" pitchFamily="34" charset="0"/>
              </a:rPr>
              <a:t>cannot</a:t>
            </a:r>
            <a:r>
              <a:rPr lang="en-US" sz="3825" b="1" dirty="0">
                <a:solidFill>
                  <a:srgbClr val="0D1424"/>
                </a:solidFill>
                <a:latin typeface="Segoe UI" pitchFamily="34" charset="0"/>
              </a:rPr>
              <a:t> do.</a:t>
            </a:r>
          </a:p>
        </p:txBody>
      </p:sp>
      <p:sp>
        <p:nvSpPr>
          <p:cNvPr id="21" name="text"/>
          <p:cNvSpPr txBox="1"/>
          <p:nvPr/>
        </p:nvSpPr>
        <p:spPr>
          <a:xfrm>
            <a:off x="800100" y="1926431"/>
            <a:ext cx="7837932" cy="7239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  <a:buNone/>
            </a:pPr>
            <a:r>
              <a:rPr lang="en-US" sz="1800" b="0" dirty="0">
                <a:solidFill>
                  <a:srgbClr val="566384"/>
                </a:solidFill>
                <a:latin typeface="Segoe UI" pitchFamily="34" charset="0"/>
              </a:rPr>
              <a:t>The safety properties that matter are the ones written as constants, not as policy.</a:t>
            </a:r>
          </a:p>
        </p:txBody>
      </p:sp>
      <p:sp>
        <p:nvSpPr>
          <p:cNvPr id="22" name="shape"/>
          <p:cNvSpPr/>
          <p:nvPr/>
        </p:nvSpPr>
        <p:spPr>
          <a:xfrm>
            <a:off x="800100" y="2802731"/>
            <a:ext cx="10591800" cy="623888"/>
          </a:xfrm>
          <a:prstGeom prst="roundRect">
            <a:avLst>
              <a:gd name="adj" fmla="val 21374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3" name="text"/>
          <p:cNvSpPr txBox="1"/>
          <p:nvPr/>
        </p:nvSpPr>
        <p:spPr>
          <a:xfrm>
            <a:off x="904875" y="2907506"/>
            <a:ext cx="10382250" cy="41433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en-US" sz="1125" b="1" dirty="0">
                <a:solidFill>
                  <a:srgbClr val="0D1424"/>
                </a:solidFill>
                <a:latin typeface="Segoe UI" pitchFamily="34" charset="0"/>
              </a:rPr>
              <a:t>Vault reserve floor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buNone/>
            </a:pPr>
            <a:r>
              <a:rPr lang="en-US" sz="938" b="0" dirty="0">
                <a:solidFill>
                  <a:srgbClr val="566384"/>
                </a:solidFill>
                <a:latin typeface="Segoe UI" pitchFamily="34" charset="0"/>
              </a:rPr>
              <a:t>80% liquid is a contract constant. Raising it is allowed; lowering it is not.</a:t>
            </a:r>
          </a:p>
        </p:txBody>
      </p:sp>
      <p:sp>
        <p:nvSpPr>
          <p:cNvPr id="24" name="shape"/>
          <p:cNvSpPr/>
          <p:nvPr/>
        </p:nvSpPr>
        <p:spPr>
          <a:xfrm>
            <a:off x="800100" y="3502819"/>
            <a:ext cx="10591800" cy="623888"/>
          </a:xfrm>
          <a:prstGeom prst="roundRect">
            <a:avLst>
              <a:gd name="adj" fmla="val 21374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5" name="text"/>
          <p:cNvSpPr txBox="1"/>
          <p:nvPr/>
        </p:nvSpPr>
        <p:spPr>
          <a:xfrm>
            <a:off x="904875" y="3607594"/>
            <a:ext cx="10382250" cy="41433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en-US" sz="1125" b="1" dirty="0">
                <a:solidFill>
                  <a:srgbClr val="0D1424"/>
                </a:solidFill>
                <a:latin typeface="Segoe UI" pitchFamily="34" charset="0"/>
              </a:rPr>
              <a:t>AMM provider share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buNone/>
            </a:pPr>
            <a:r>
              <a:rPr lang="en-US" sz="938" b="0" dirty="0">
                <a:solidFill>
                  <a:srgbClr val="566384"/>
                </a:solidFill>
                <a:latin typeface="Segoe UI" pitchFamily="34" charset="0"/>
              </a:rPr>
              <a:t>50% of swap fees to liquidity providers, enforced on every configuration path.</a:t>
            </a:r>
          </a:p>
        </p:txBody>
      </p:sp>
      <p:sp>
        <p:nvSpPr>
          <p:cNvPr id="26" name="shape"/>
          <p:cNvSpPr/>
          <p:nvPr/>
        </p:nvSpPr>
        <p:spPr>
          <a:xfrm>
            <a:off x="800100" y="4202906"/>
            <a:ext cx="10591800" cy="623888"/>
          </a:xfrm>
          <a:prstGeom prst="roundRect">
            <a:avLst>
              <a:gd name="adj" fmla="val 21374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7" name="text"/>
          <p:cNvSpPr txBox="1"/>
          <p:nvPr/>
        </p:nvSpPr>
        <p:spPr>
          <a:xfrm>
            <a:off x="904875" y="4307681"/>
            <a:ext cx="10382250" cy="41433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en-US" sz="1125" b="1" dirty="0">
                <a:solidFill>
                  <a:srgbClr val="2F6BE0"/>
                </a:solidFill>
                <a:latin typeface="Segoe UI" pitchFamily="34" charset="0"/>
              </a:rPr>
              <a:t>No position transfers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buNone/>
            </a:pPr>
            <a:r>
              <a:rPr lang="en-US" sz="938" b="0" dirty="0">
                <a:solidFill>
                  <a:srgbClr val="566384"/>
                </a:solidFill>
                <a:latin typeface="Segoe UI" pitchFamily="34" charset="0"/>
              </a:rPr>
              <a:t>No function anywhere lets an operator move someone else's position. Migration pays in on their behalf instead.</a:t>
            </a:r>
          </a:p>
        </p:txBody>
      </p:sp>
      <p:sp>
        <p:nvSpPr>
          <p:cNvPr id="28" name="shape"/>
          <p:cNvSpPr/>
          <p:nvPr/>
        </p:nvSpPr>
        <p:spPr>
          <a:xfrm>
            <a:off x="800100" y="4902994"/>
            <a:ext cx="10591800" cy="623888"/>
          </a:xfrm>
          <a:prstGeom prst="roundRect">
            <a:avLst>
              <a:gd name="adj" fmla="val 21374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9" name="text"/>
          <p:cNvSpPr txBox="1"/>
          <p:nvPr/>
        </p:nvSpPr>
        <p:spPr>
          <a:xfrm>
            <a:off x="904875" y="5007769"/>
            <a:ext cx="10382250" cy="41433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en-US" sz="1125" b="1" dirty="0">
                <a:solidFill>
                  <a:srgbClr val="0D1424"/>
                </a:solidFill>
                <a:latin typeface="Segoe UI" pitchFamily="34" charset="0"/>
              </a:rPr>
              <a:t>Oracle validation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buNone/>
            </a:pPr>
            <a:r>
              <a:rPr lang="en-US" sz="938" b="0" dirty="0">
                <a:solidFill>
                  <a:srgbClr val="566384"/>
                </a:solidFill>
                <a:latin typeface="Segoe UI" pitchFamily="34" charset="0"/>
              </a:rPr>
              <a:t>A stale, negative, unfinished or carried-over price pauses the market rather than pricing wrongly.</a:t>
            </a:r>
          </a:p>
        </p:txBody>
      </p:sp>
      <p:sp>
        <p:nvSpPr>
          <p:cNvPr id="30" name="shape"/>
          <p:cNvSpPr/>
          <p:nvPr/>
        </p:nvSpPr>
        <p:spPr>
          <a:xfrm>
            <a:off x="800100" y="5603081"/>
            <a:ext cx="10591800" cy="623888"/>
          </a:xfrm>
          <a:prstGeom prst="roundRect">
            <a:avLst>
              <a:gd name="adj" fmla="val 21374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31" name="text"/>
          <p:cNvSpPr txBox="1"/>
          <p:nvPr/>
        </p:nvSpPr>
        <p:spPr>
          <a:xfrm>
            <a:off x="904875" y="5707856"/>
            <a:ext cx="10382250" cy="41433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en-US" sz="1125" b="1" dirty="0">
                <a:solidFill>
                  <a:srgbClr val="0D1424"/>
                </a:solidFill>
                <a:latin typeface="Segoe UI" pitchFamily="34" charset="0"/>
              </a:rPr>
              <a:t>Freeze, not trap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buNone/>
            </a:pPr>
            <a:r>
              <a:rPr lang="en-US" sz="938" b="0" dirty="0">
                <a:solidFill>
                  <a:srgbClr val="566384"/>
                </a:solidFill>
                <a:latin typeface="Segoe UI" pitchFamily="34" charset="0"/>
              </a:rPr>
              <a:t>Freezing is per action — withdraw and repay can stay open, and liquidation is never frozen.</a:t>
            </a:r>
          </a:p>
        </p:txBody>
      </p:sp>
      <p:sp>
        <p:nvSpPr>
          <p:cNvPr id="32" name="shape"/>
          <p:cNvSpPr/>
          <p:nvPr/>
        </p:nvSpPr>
        <p:spPr>
          <a:xfrm>
            <a:off x="800100" y="6438900"/>
            <a:ext cx="10591800" cy="9525"/>
          </a:xfrm>
          <a:prstGeom prst="rect">
            <a:avLst/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33" name="text"/>
          <p:cNvSpPr txBox="1"/>
          <p:nvPr/>
        </p:nvSpPr>
        <p:spPr>
          <a:xfrm>
            <a:off x="800100" y="6572250"/>
            <a:ext cx="52959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GUARDRAILS</a:t>
            </a:r>
          </a:p>
        </p:txBody>
      </p:sp>
      <p:sp>
        <p:nvSpPr>
          <p:cNvPr id="34" name="text"/>
          <p:cNvSpPr txBox="1"/>
          <p:nvPr/>
        </p:nvSpPr>
        <p:spPr>
          <a:xfrm>
            <a:off x="6096000" y="6572250"/>
            <a:ext cx="52959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TESSERA · ARC TESTNET · USDC-NATIVE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E7EBF5"/>
              </a:gs>
              <a:gs pos="100000">
                <a:srgbClr val="EEF1F8"/>
              </a:gs>
            </a:gsLst>
            <a:lin ang="5400000" scaled="0"/>
          </a:gradFill>
          <a:ln>
            <a:noFill/>
          </a:ln>
        </p:spPr>
        <p:txBody>
          <a:bodyPr/>
          <a:lstStyle/>
          <a:p/>
        </p:txBody>
      </p:sp>
      <p:sp>
        <p:nvSpPr>
          <p:cNvPr id="3" name="shape"/>
          <p:cNvSpPr/>
          <p:nvPr/>
        </p:nvSpPr>
        <p:spPr>
          <a:xfrm>
            <a:off x="6667500" y="-2857500"/>
            <a:ext cx="8572500" cy="6667500"/>
          </a:xfrm>
          <a:prstGeom prst="ellipse">
            <a:avLst/>
          </a:prstGeom>
          <a:gradFill rotWithShape="0">
            <a:gsLst>
              <a:gs pos="0">
                <a:srgbClr val="2F6BE0">
                  <a:alpha val="13000"/>
                </a:srgbClr>
              </a:gs>
              <a:gs pos="100000">
                <a:srgbClr val="2F6BE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/>
          <a:lstStyle/>
          <a:p/>
        </p:txBody>
      </p:sp>
      <p:sp>
        <p:nvSpPr>
          <p:cNvPr id="4" name="shape"/>
          <p:cNvSpPr/>
          <p:nvPr/>
        </p:nvSpPr>
        <p:spPr>
          <a:xfrm>
            <a:off x="800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shape"/>
          <p:cNvSpPr/>
          <p:nvPr/>
        </p:nvSpPr>
        <p:spPr>
          <a:xfrm>
            <a:off x="1028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shape"/>
          <p:cNvSpPr/>
          <p:nvPr/>
        </p:nvSpPr>
        <p:spPr>
          <a:xfrm>
            <a:off x="12573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shape"/>
          <p:cNvSpPr/>
          <p:nvPr/>
        </p:nvSpPr>
        <p:spPr>
          <a:xfrm>
            <a:off x="14859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8" name="shape"/>
          <p:cNvSpPr/>
          <p:nvPr/>
        </p:nvSpPr>
        <p:spPr>
          <a:xfrm>
            <a:off x="17145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shape"/>
          <p:cNvSpPr/>
          <p:nvPr/>
        </p:nvSpPr>
        <p:spPr>
          <a:xfrm>
            <a:off x="1943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shape"/>
          <p:cNvSpPr/>
          <p:nvPr/>
        </p:nvSpPr>
        <p:spPr>
          <a:xfrm>
            <a:off x="2171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"/>
          <p:cNvSpPr/>
          <p:nvPr/>
        </p:nvSpPr>
        <p:spPr>
          <a:xfrm>
            <a:off x="2400300" y="285750"/>
            <a:ext cx="323850" cy="47625"/>
          </a:xfrm>
          <a:prstGeom prst="roundRect">
            <a:avLst>
              <a:gd name="adj" fmla="val 50000"/>
            </a:avLst>
          </a:prstGeom>
          <a:solidFill>
            <a:srgbClr val="2F6BE0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"/>
          <p:cNvSpPr/>
          <p:nvPr/>
        </p:nvSpPr>
        <p:spPr>
          <a:xfrm>
            <a:off x="27813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shape"/>
          <p:cNvSpPr/>
          <p:nvPr/>
        </p:nvSpPr>
        <p:spPr>
          <a:xfrm>
            <a:off x="30099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shape"/>
          <p:cNvSpPr/>
          <p:nvPr/>
        </p:nvSpPr>
        <p:spPr>
          <a:xfrm>
            <a:off x="32385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shape"/>
          <p:cNvSpPr/>
          <p:nvPr/>
        </p:nvSpPr>
        <p:spPr>
          <a:xfrm>
            <a:off x="3467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shape"/>
          <p:cNvSpPr/>
          <p:nvPr/>
        </p:nvSpPr>
        <p:spPr>
          <a:xfrm>
            <a:off x="3695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text"/>
          <p:cNvSpPr txBox="1"/>
          <p:nvPr/>
        </p:nvSpPr>
        <p:spPr>
          <a:xfrm>
            <a:off x="800100" y="247650"/>
            <a:ext cx="105918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08 / 13</a:t>
            </a:r>
          </a:p>
        </p:txBody>
      </p:sp>
      <p:sp>
        <p:nvSpPr>
          <p:cNvPr id="18" name="shape"/>
          <p:cNvSpPr/>
          <p:nvPr/>
        </p:nvSpPr>
        <p:spPr>
          <a:xfrm>
            <a:off x="800100" y="1425416"/>
            <a:ext cx="381000" cy="23813"/>
          </a:xfrm>
          <a:prstGeom prst="roundRect">
            <a:avLst>
              <a:gd name="adj" fmla="val 50000"/>
            </a:avLst>
          </a:prstGeom>
          <a:solidFill>
            <a:srgbClr val="2F6BE0"/>
          </a:solidFill>
          <a:ln>
            <a:noFill/>
          </a:ln>
        </p:spPr>
        <p:txBody>
          <a:bodyPr/>
          <a:lstStyle/>
          <a:p/>
        </p:txBody>
      </p:sp>
      <p:sp>
        <p:nvSpPr>
          <p:cNvPr id="19" name="text"/>
          <p:cNvSpPr txBox="1"/>
          <p:nvPr/>
        </p:nvSpPr>
        <p:spPr>
          <a:xfrm>
            <a:off x="1295400" y="1361123"/>
            <a:ext cx="10096500" cy="21431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125" b="1" spc="260" dirty="0">
                <a:solidFill>
                  <a:srgbClr val="2F6BE0"/>
                </a:solidFill>
                <a:latin typeface="Consolas" pitchFamily="34" charset="0"/>
              </a:rPr>
              <a:t>AGENT WORKSPACE</a:t>
            </a:r>
          </a:p>
        </p:txBody>
      </p:sp>
      <p:sp>
        <p:nvSpPr>
          <p:cNvPr id="20" name="text"/>
          <p:cNvSpPr txBox="1"/>
          <p:nvPr/>
        </p:nvSpPr>
        <p:spPr>
          <a:xfrm>
            <a:off x="800100" y="1646873"/>
            <a:ext cx="10591800" cy="590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825" b="1" dirty="0">
                <a:solidFill>
                  <a:srgbClr val="0D1424"/>
                </a:solidFill>
                <a:latin typeface="Segoe UI" pitchFamily="34" charset="0"/>
              </a:rPr>
              <a:t>Live information the agent can act on.</a:t>
            </a:r>
          </a:p>
        </p:txBody>
      </p:sp>
      <p:sp>
        <p:nvSpPr>
          <p:cNvPr id="21" name="text"/>
          <p:cNvSpPr txBox="1"/>
          <p:nvPr/>
        </p:nvSpPr>
        <p:spPr>
          <a:xfrm>
            <a:off x="800100" y="2313623"/>
            <a:ext cx="8261604" cy="1038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  <a:buNone/>
            </a:pPr>
            <a:r>
              <a:rPr lang="en-US" sz="1800" b="0" dirty="0">
                <a:solidFill>
                  <a:srgbClr val="566384"/>
                </a:solidFill>
                <a:latin typeface="Segoe UI" pitchFamily="34" charset="0"/>
              </a:rPr>
              <a:t>News across 21 topics, 46 FX pairs, 52 crypto assets, 36 stocks, 16 indices, 18 commodities, central bank policy rates and balance sheets — plus analysis derived from those figures.</a:t>
            </a:r>
          </a:p>
        </p:txBody>
      </p:sp>
      <p:sp>
        <p:nvSpPr>
          <p:cNvPr id="22" name="shape"/>
          <p:cNvSpPr/>
          <p:nvPr/>
        </p:nvSpPr>
        <p:spPr>
          <a:xfrm>
            <a:off x="800100" y="3523298"/>
            <a:ext cx="5219700" cy="991553"/>
          </a:xfrm>
          <a:prstGeom prst="roundRect">
            <a:avLst>
              <a:gd name="adj" fmla="val 13449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3" name="text"/>
          <p:cNvSpPr txBox="1"/>
          <p:nvPr/>
        </p:nvSpPr>
        <p:spPr>
          <a:xfrm>
            <a:off x="971550" y="3694748"/>
            <a:ext cx="4876800" cy="64865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en-US" sz="1275" b="1" dirty="0">
                <a:solidFill>
                  <a:srgbClr val="0D1424"/>
                </a:solidFill>
                <a:latin typeface="Segoe UI" pitchFamily="34" charset="0"/>
              </a:rPr>
              <a:t>Named sources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buNone/>
            </a:pPr>
            <a:r>
              <a:rPr lang="en-US" sz="1050" b="0" dirty="0">
                <a:solidFill>
                  <a:srgbClr val="566384"/>
                </a:solidFill>
                <a:latin typeface="Segoe UI" pitchFamily="34" charset="0"/>
              </a:rPr>
              <a:t>ECB reference rates, CoinGecko, Yahoo Finance, FRED (St. Louis Fed), public RSS. Each panel names its source and its age.</a:t>
            </a:r>
          </a:p>
        </p:txBody>
      </p:sp>
      <p:sp>
        <p:nvSpPr>
          <p:cNvPr id="24" name="shape"/>
          <p:cNvSpPr/>
          <p:nvPr/>
        </p:nvSpPr>
        <p:spPr>
          <a:xfrm>
            <a:off x="6172200" y="3523298"/>
            <a:ext cx="5219700" cy="991553"/>
          </a:xfrm>
          <a:prstGeom prst="roundRect">
            <a:avLst>
              <a:gd name="adj" fmla="val 13449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5" name="text"/>
          <p:cNvSpPr txBox="1"/>
          <p:nvPr/>
        </p:nvSpPr>
        <p:spPr>
          <a:xfrm>
            <a:off x="6343650" y="3694748"/>
            <a:ext cx="4876800" cy="64865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en-US" sz="1275" b="1" dirty="0">
                <a:solidFill>
                  <a:srgbClr val="D94B4B"/>
                </a:solidFill>
                <a:latin typeface="Segoe UI" pitchFamily="34" charset="0"/>
              </a:rPr>
              <a:t>Never a fabricated number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buNone/>
            </a:pPr>
            <a:r>
              <a:rPr lang="en-US" sz="1050" b="0" dirty="0">
                <a:solidFill>
                  <a:srgbClr val="566384"/>
                </a:solidFill>
                <a:latin typeface="Segoe UI" pitchFamily="34" charset="0"/>
              </a:rPr>
              <a:t>An unreachable feed says so. It does not fall back to a stale figure someone might trade on.</a:t>
            </a:r>
          </a:p>
        </p:txBody>
      </p:sp>
      <p:sp>
        <p:nvSpPr>
          <p:cNvPr id="26" name="shape"/>
          <p:cNvSpPr/>
          <p:nvPr/>
        </p:nvSpPr>
        <p:spPr>
          <a:xfrm>
            <a:off x="800100" y="4667250"/>
            <a:ext cx="5219700" cy="1172528"/>
          </a:xfrm>
          <a:prstGeom prst="roundRect">
            <a:avLst>
              <a:gd name="adj" fmla="val 11373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7" name="text"/>
          <p:cNvSpPr txBox="1"/>
          <p:nvPr/>
        </p:nvSpPr>
        <p:spPr>
          <a:xfrm>
            <a:off x="971550" y="4838700"/>
            <a:ext cx="4876800" cy="8296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en-US" sz="1275" b="1" dirty="0">
                <a:solidFill>
                  <a:srgbClr val="0D1424"/>
                </a:solidFill>
                <a:latin typeface="Segoe UI" pitchFamily="34" charset="0"/>
              </a:rPr>
              <a:t>Analysis, not opinion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buNone/>
            </a:pPr>
            <a:r>
              <a:rPr lang="en-US" sz="1050" b="0" dirty="0">
                <a:solidFill>
                  <a:srgbClr val="566384"/>
                </a:solidFill>
                <a:latin typeface="Segoe UI" pitchFamily="34" charset="0"/>
              </a:rPr>
              <a:t>Breadth, volatility, dollar direction, policy rates, QE/QT — arithmetic on published figures. A rate change is dated by finding where the series moved, not by reading a statement.</a:t>
            </a:r>
          </a:p>
        </p:txBody>
      </p:sp>
      <p:sp>
        <p:nvSpPr>
          <p:cNvPr id="28" name="shape"/>
          <p:cNvSpPr/>
          <p:nvPr/>
        </p:nvSpPr>
        <p:spPr>
          <a:xfrm>
            <a:off x="6172200" y="4667250"/>
            <a:ext cx="5219700" cy="1172528"/>
          </a:xfrm>
          <a:prstGeom prst="roundRect">
            <a:avLst>
              <a:gd name="adj" fmla="val 11373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9" name="text"/>
          <p:cNvSpPr txBox="1"/>
          <p:nvPr/>
        </p:nvSpPr>
        <p:spPr>
          <a:xfrm>
            <a:off x="6343650" y="4838700"/>
            <a:ext cx="4876800" cy="8296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en-US" sz="1275" b="1" dirty="0">
                <a:solidFill>
                  <a:srgbClr val="0D1424"/>
                </a:solidFill>
                <a:latin typeface="Segoe UI" pitchFamily="34" charset="0"/>
              </a:rPr>
              <a:t>Full transaction history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buNone/>
            </a:pPr>
            <a:r>
              <a:rPr lang="en-US" sz="1050" b="0" dirty="0">
                <a:solidFill>
                  <a:srgbClr val="566384"/>
                </a:solidFill>
                <a:latin typeface="Segoe UI" pitchFamily="34" charset="0"/>
              </a:rPr>
              <a:t>Filter by user, date, range, value, outcome and type; export to CSV.</a:t>
            </a:r>
          </a:p>
        </p:txBody>
      </p:sp>
      <p:sp>
        <p:nvSpPr>
          <p:cNvPr id="30" name="shape"/>
          <p:cNvSpPr/>
          <p:nvPr/>
        </p:nvSpPr>
        <p:spPr>
          <a:xfrm>
            <a:off x="800100" y="6438900"/>
            <a:ext cx="10591800" cy="9525"/>
          </a:xfrm>
          <a:prstGeom prst="rect">
            <a:avLst/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31" name="text"/>
          <p:cNvSpPr txBox="1"/>
          <p:nvPr/>
        </p:nvSpPr>
        <p:spPr>
          <a:xfrm>
            <a:off x="800100" y="6572250"/>
            <a:ext cx="52959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AGENT WORKSPACE</a:t>
            </a:r>
          </a:p>
        </p:txBody>
      </p:sp>
      <p:sp>
        <p:nvSpPr>
          <p:cNvPr id="32" name="text"/>
          <p:cNvSpPr txBox="1"/>
          <p:nvPr/>
        </p:nvSpPr>
        <p:spPr>
          <a:xfrm>
            <a:off x="6096000" y="6572250"/>
            <a:ext cx="52959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TESSERA · ARC TESTNET · USDC-NATIVE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E7EBF5"/>
              </a:gs>
              <a:gs pos="100000">
                <a:srgbClr val="EEF1F8"/>
              </a:gs>
            </a:gsLst>
            <a:lin ang="5400000" scaled="0"/>
          </a:gradFill>
          <a:ln>
            <a:noFill/>
          </a:ln>
        </p:spPr>
        <p:txBody>
          <a:bodyPr/>
          <a:lstStyle/>
          <a:p/>
        </p:txBody>
      </p:sp>
      <p:sp>
        <p:nvSpPr>
          <p:cNvPr id="3" name="shape"/>
          <p:cNvSpPr/>
          <p:nvPr/>
        </p:nvSpPr>
        <p:spPr>
          <a:xfrm>
            <a:off x="6667500" y="-2857500"/>
            <a:ext cx="8572500" cy="6667500"/>
          </a:xfrm>
          <a:prstGeom prst="ellipse">
            <a:avLst/>
          </a:prstGeom>
          <a:gradFill rotWithShape="0">
            <a:gsLst>
              <a:gs pos="0">
                <a:srgbClr val="2F6BE0">
                  <a:alpha val="13000"/>
                </a:srgbClr>
              </a:gs>
              <a:gs pos="100000">
                <a:srgbClr val="2F6BE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/>
          <a:lstStyle/>
          <a:p/>
        </p:txBody>
      </p:sp>
      <p:sp>
        <p:nvSpPr>
          <p:cNvPr id="4" name="shape"/>
          <p:cNvSpPr/>
          <p:nvPr/>
        </p:nvSpPr>
        <p:spPr>
          <a:xfrm>
            <a:off x="800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shape"/>
          <p:cNvSpPr/>
          <p:nvPr/>
        </p:nvSpPr>
        <p:spPr>
          <a:xfrm>
            <a:off x="1028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shape"/>
          <p:cNvSpPr/>
          <p:nvPr/>
        </p:nvSpPr>
        <p:spPr>
          <a:xfrm>
            <a:off x="12573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shape"/>
          <p:cNvSpPr/>
          <p:nvPr/>
        </p:nvSpPr>
        <p:spPr>
          <a:xfrm>
            <a:off x="14859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8" name="shape"/>
          <p:cNvSpPr/>
          <p:nvPr/>
        </p:nvSpPr>
        <p:spPr>
          <a:xfrm>
            <a:off x="17145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shape"/>
          <p:cNvSpPr/>
          <p:nvPr/>
        </p:nvSpPr>
        <p:spPr>
          <a:xfrm>
            <a:off x="1943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shape"/>
          <p:cNvSpPr/>
          <p:nvPr/>
        </p:nvSpPr>
        <p:spPr>
          <a:xfrm>
            <a:off x="2171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"/>
          <p:cNvSpPr/>
          <p:nvPr/>
        </p:nvSpPr>
        <p:spPr>
          <a:xfrm>
            <a:off x="24003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"/>
          <p:cNvSpPr/>
          <p:nvPr/>
        </p:nvSpPr>
        <p:spPr>
          <a:xfrm>
            <a:off x="2628900" y="285750"/>
            <a:ext cx="323850" cy="47625"/>
          </a:xfrm>
          <a:prstGeom prst="roundRect">
            <a:avLst>
              <a:gd name="adj" fmla="val 50000"/>
            </a:avLst>
          </a:prstGeom>
          <a:solidFill>
            <a:srgbClr val="2F6BE0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shape"/>
          <p:cNvSpPr/>
          <p:nvPr/>
        </p:nvSpPr>
        <p:spPr>
          <a:xfrm>
            <a:off x="30099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shape"/>
          <p:cNvSpPr/>
          <p:nvPr/>
        </p:nvSpPr>
        <p:spPr>
          <a:xfrm>
            <a:off x="32385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shape"/>
          <p:cNvSpPr/>
          <p:nvPr/>
        </p:nvSpPr>
        <p:spPr>
          <a:xfrm>
            <a:off x="3467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shape"/>
          <p:cNvSpPr/>
          <p:nvPr/>
        </p:nvSpPr>
        <p:spPr>
          <a:xfrm>
            <a:off x="3695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text"/>
          <p:cNvSpPr txBox="1"/>
          <p:nvPr/>
        </p:nvSpPr>
        <p:spPr>
          <a:xfrm>
            <a:off x="800100" y="247650"/>
            <a:ext cx="105918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09 / 13</a:t>
            </a:r>
          </a:p>
        </p:txBody>
      </p:sp>
      <p:sp>
        <p:nvSpPr>
          <p:cNvPr id="18" name="shape"/>
          <p:cNvSpPr/>
          <p:nvPr/>
        </p:nvSpPr>
        <p:spPr>
          <a:xfrm>
            <a:off x="800100" y="2062639"/>
            <a:ext cx="381000" cy="23813"/>
          </a:xfrm>
          <a:prstGeom prst="roundRect">
            <a:avLst>
              <a:gd name="adj" fmla="val 50000"/>
            </a:avLst>
          </a:prstGeom>
          <a:solidFill>
            <a:srgbClr val="2F6BE0"/>
          </a:solidFill>
          <a:ln>
            <a:noFill/>
          </a:ln>
        </p:spPr>
        <p:txBody>
          <a:bodyPr/>
          <a:lstStyle/>
          <a:p/>
        </p:txBody>
      </p:sp>
      <p:sp>
        <p:nvSpPr>
          <p:cNvPr id="19" name="text"/>
          <p:cNvSpPr txBox="1"/>
          <p:nvPr/>
        </p:nvSpPr>
        <p:spPr>
          <a:xfrm>
            <a:off x="1295400" y="1998345"/>
            <a:ext cx="10096500" cy="21431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125" b="1" spc="260" dirty="0">
                <a:solidFill>
                  <a:srgbClr val="2F6BE0"/>
                </a:solidFill>
                <a:latin typeface="Consolas" pitchFamily="34" charset="0"/>
              </a:rPr>
              <a:t>LIVE RUN · ONE AUTONOMOUS RUN</a:t>
            </a:r>
          </a:p>
        </p:txBody>
      </p:sp>
      <p:sp>
        <p:nvSpPr>
          <p:cNvPr id="20" name="shape"/>
          <p:cNvSpPr/>
          <p:nvPr/>
        </p:nvSpPr>
        <p:spPr>
          <a:xfrm>
            <a:off x="800100" y="2476500"/>
            <a:ext cx="5696712" cy="438150"/>
          </a:xfrm>
          <a:prstGeom prst="roundRect">
            <a:avLst>
              <a:gd name="adj" fmla="val 23913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1" name="text"/>
          <p:cNvSpPr txBox="1"/>
          <p:nvPr/>
        </p:nvSpPr>
        <p:spPr>
          <a:xfrm>
            <a:off x="952500" y="2600325"/>
            <a:ext cx="3304093" cy="209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D1424"/>
                </a:solidFill>
                <a:latin typeface="Segoe UI" pitchFamily="34" charset="0"/>
              </a:rPr>
              <a:t>AtmosFeed — weather</a:t>
            </a:r>
          </a:p>
        </p:txBody>
      </p:sp>
      <p:sp>
        <p:nvSpPr>
          <p:cNvPr id="22" name="text"/>
          <p:cNvSpPr txBox="1"/>
          <p:nvPr/>
        </p:nvSpPr>
        <p:spPr>
          <a:xfrm>
            <a:off x="4104193" y="2619375"/>
            <a:ext cx="1139342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1050" b="0" dirty="0">
                <a:solidFill>
                  <a:srgbClr val="566384"/>
                </a:solidFill>
                <a:latin typeface="Consolas" pitchFamily="34" charset="0"/>
              </a:rPr>
              <a:t>0.0025</a:t>
            </a:r>
          </a:p>
        </p:txBody>
      </p:sp>
      <p:sp>
        <p:nvSpPr>
          <p:cNvPr id="23" name="shape"/>
          <p:cNvSpPr/>
          <p:nvPr/>
        </p:nvSpPr>
        <p:spPr>
          <a:xfrm>
            <a:off x="5544312" y="2590800"/>
            <a:ext cx="800100" cy="209550"/>
          </a:xfrm>
          <a:prstGeom prst="roundRect">
            <a:avLst>
              <a:gd name="adj" fmla="val 50000"/>
            </a:avLst>
          </a:prstGeom>
          <a:solidFill>
            <a:srgbClr val="0F9D6B">
              <a:alpha val="13000"/>
            </a:srgbClr>
          </a:solidFill>
          <a:ln w="9525">
            <a:solidFill>
              <a:srgbClr val="0F9D6B"/>
            </a:solidFill>
          </a:ln>
        </p:spPr>
        <p:txBody>
          <a:bodyPr/>
          <a:lstStyle/>
          <a:p/>
        </p:txBody>
      </p:sp>
      <p:sp>
        <p:nvSpPr>
          <p:cNvPr id="24" name="text"/>
          <p:cNvSpPr txBox="1"/>
          <p:nvPr/>
        </p:nvSpPr>
        <p:spPr>
          <a:xfrm>
            <a:off x="5544312" y="2633663"/>
            <a:ext cx="800100" cy="1333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buNone/>
            </a:pPr>
            <a:r>
              <a:rPr lang="en-US" sz="825" b="1" spc="50" dirty="0">
                <a:solidFill>
                  <a:srgbClr val="0F9D6B"/>
                </a:solidFill>
                <a:latin typeface="Consolas" pitchFamily="34" charset="0"/>
              </a:rPr>
              <a:t>SETTLED</a:t>
            </a:r>
          </a:p>
        </p:txBody>
      </p:sp>
      <p:sp>
        <p:nvSpPr>
          <p:cNvPr id="25" name="shape"/>
          <p:cNvSpPr/>
          <p:nvPr/>
        </p:nvSpPr>
        <p:spPr>
          <a:xfrm>
            <a:off x="800100" y="3000375"/>
            <a:ext cx="5696712" cy="438150"/>
          </a:xfrm>
          <a:prstGeom prst="roundRect">
            <a:avLst>
              <a:gd name="adj" fmla="val 23913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6" name="text"/>
          <p:cNvSpPr txBox="1"/>
          <p:nvPr/>
        </p:nvSpPr>
        <p:spPr>
          <a:xfrm>
            <a:off x="952500" y="3124200"/>
            <a:ext cx="3304093" cy="209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D1424"/>
                </a:solidFill>
                <a:latin typeface="Segoe UI" pitchFamily="34" charset="0"/>
              </a:rPr>
              <a:t>ParityDesk — FX quote</a:t>
            </a:r>
          </a:p>
        </p:txBody>
      </p:sp>
      <p:sp>
        <p:nvSpPr>
          <p:cNvPr id="27" name="text"/>
          <p:cNvSpPr txBox="1"/>
          <p:nvPr/>
        </p:nvSpPr>
        <p:spPr>
          <a:xfrm>
            <a:off x="4104193" y="3143250"/>
            <a:ext cx="1139342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1050" b="0" dirty="0">
                <a:solidFill>
                  <a:srgbClr val="566384"/>
                </a:solidFill>
                <a:latin typeface="Consolas" pitchFamily="34" charset="0"/>
              </a:rPr>
              <a:t>0.0040</a:t>
            </a:r>
          </a:p>
        </p:txBody>
      </p:sp>
      <p:sp>
        <p:nvSpPr>
          <p:cNvPr id="28" name="shape"/>
          <p:cNvSpPr/>
          <p:nvPr/>
        </p:nvSpPr>
        <p:spPr>
          <a:xfrm>
            <a:off x="5544312" y="3114675"/>
            <a:ext cx="800100" cy="209550"/>
          </a:xfrm>
          <a:prstGeom prst="roundRect">
            <a:avLst>
              <a:gd name="adj" fmla="val 50000"/>
            </a:avLst>
          </a:prstGeom>
          <a:solidFill>
            <a:srgbClr val="0F9D6B">
              <a:alpha val="13000"/>
            </a:srgbClr>
          </a:solidFill>
          <a:ln w="9525">
            <a:solidFill>
              <a:srgbClr val="0F9D6B"/>
            </a:solidFill>
          </a:ln>
        </p:spPr>
        <p:txBody>
          <a:bodyPr/>
          <a:lstStyle/>
          <a:p/>
        </p:txBody>
      </p:sp>
      <p:sp>
        <p:nvSpPr>
          <p:cNvPr id="29" name="text"/>
          <p:cNvSpPr txBox="1"/>
          <p:nvPr/>
        </p:nvSpPr>
        <p:spPr>
          <a:xfrm>
            <a:off x="5544312" y="3157538"/>
            <a:ext cx="800100" cy="1333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buNone/>
            </a:pPr>
            <a:r>
              <a:rPr lang="en-US" sz="825" b="1" spc="50" dirty="0">
                <a:solidFill>
                  <a:srgbClr val="0F9D6B"/>
                </a:solidFill>
                <a:latin typeface="Consolas" pitchFamily="34" charset="0"/>
              </a:rPr>
              <a:t>SETTLED</a:t>
            </a:r>
          </a:p>
        </p:txBody>
      </p:sp>
      <p:sp>
        <p:nvSpPr>
          <p:cNvPr id="30" name="shape"/>
          <p:cNvSpPr/>
          <p:nvPr/>
        </p:nvSpPr>
        <p:spPr>
          <a:xfrm>
            <a:off x="800100" y="3524250"/>
            <a:ext cx="5696712" cy="438150"/>
          </a:xfrm>
          <a:prstGeom prst="roundRect">
            <a:avLst>
              <a:gd name="adj" fmla="val 23913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31" name="text"/>
          <p:cNvSpPr txBox="1"/>
          <p:nvPr/>
        </p:nvSpPr>
        <p:spPr>
          <a:xfrm>
            <a:off x="952500" y="3648075"/>
            <a:ext cx="3304093" cy="209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D1424"/>
                </a:solidFill>
                <a:latin typeface="Segoe UI" pitchFamily="34" charset="0"/>
              </a:rPr>
              <a:t>WireScoop — news (junk)</a:t>
            </a:r>
          </a:p>
        </p:txBody>
      </p:sp>
      <p:sp>
        <p:nvSpPr>
          <p:cNvPr id="32" name="text"/>
          <p:cNvSpPr txBox="1"/>
          <p:nvPr/>
        </p:nvSpPr>
        <p:spPr>
          <a:xfrm>
            <a:off x="4104193" y="3667125"/>
            <a:ext cx="1139342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1050" b="0" dirty="0">
                <a:solidFill>
                  <a:srgbClr val="566384"/>
                </a:solidFill>
                <a:latin typeface="Consolas" pitchFamily="34" charset="0"/>
              </a:rPr>
              <a:t>0.0030</a:t>
            </a:r>
          </a:p>
        </p:txBody>
      </p:sp>
      <p:sp>
        <p:nvSpPr>
          <p:cNvPr id="33" name="shape"/>
          <p:cNvSpPr/>
          <p:nvPr/>
        </p:nvSpPr>
        <p:spPr>
          <a:xfrm>
            <a:off x="5544312" y="3638550"/>
            <a:ext cx="800100" cy="209550"/>
          </a:xfrm>
          <a:prstGeom prst="roundRect">
            <a:avLst>
              <a:gd name="adj" fmla="val 50000"/>
            </a:avLst>
          </a:prstGeom>
          <a:solidFill>
            <a:srgbClr val="B9791A">
              <a:alpha val="13000"/>
            </a:srgbClr>
          </a:solidFill>
          <a:ln w="9525">
            <a:solidFill>
              <a:srgbClr val="B9791A"/>
            </a:solidFill>
          </a:ln>
        </p:spPr>
        <p:txBody>
          <a:bodyPr/>
          <a:lstStyle/>
          <a:p/>
        </p:txBody>
      </p:sp>
      <p:sp>
        <p:nvSpPr>
          <p:cNvPr id="34" name="text"/>
          <p:cNvSpPr txBox="1"/>
          <p:nvPr/>
        </p:nvSpPr>
        <p:spPr>
          <a:xfrm>
            <a:off x="5544312" y="3681413"/>
            <a:ext cx="800100" cy="1333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buNone/>
            </a:pPr>
            <a:r>
              <a:rPr lang="en-US" sz="825" b="1" spc="50" dirty="0">
                <a:solidFill>
                  <a:srgbClr val="B9791A"/>
                </a:solidFill>
                <a:latin typeface="Consolas" pitchFamily="34" charset="0"/>
              </a:rPr>
              <a:t>REFUNDED</a:t>
            </a:r>
          </a:p>
        </p:txBody>
      </p:sp>
      <p:sp>
        <p:nvSpPr>
          <p:cNvPr id="35" name="shape"/>
          <p:cNvSpPr/>
          <p:nvPr/>
        </p:nvSpPr>
        <p:spPr>
          <a:xfrm>
            <a:off x="800100" y="4048125"/>
            <a:ext cx="5696712" cy="438150"/>
          </a:xfrm>
          <a:prstGeom prst="roundRect">
            <a:avLst>
              <a:gd name="adj" fmla="val 23913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36" name="text"/>
          <p:cNvSpPr txBox="1"/>
          <p:nvPr/>
        </p:nvSpPr>
        <p:spPr>
          <a:xfrm>
            <a:off x="952500" y="4171950"/>
            <a:ext cx="3304093" cy="209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D1424"/>
                </a:solidFill>
                <a:latin typeface="Segoe UI" pitchFamily="34" charset="0"/>
              </a:rPr>
              <a:t>AlphaSignal — analysis</a:t>
            </a:r>
          </a:p>
        </p:txBody>
      </p:sp>
      <p:sp>
        <p:nvSpPr>
          <p:cNvPr id="37" name="text"/>
          <p:cNvSpPr txBox="1"/>
          <p:nvPr/>
        </p:nvSpPr>
        <p:spPr>
          <a:xfrm>
            <a:off x="4104193" y="4191000"/>
            <a:ext cx="1139342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1050" b="0" dirty="0">
                <a:solidFill>
                  <a:srgbClr val="566384"/>
                </a:solidFill>
                <a:latin typeface="Consolas" pitchFamily="34" charset="0"/>
              </a:rPr>
              <a:t>0.0080</a:t>
            </a:r>
          </a:p>
        </p:txBody>
      </p:sp>
      <p:sp>
        <p:nvSpPr>
          <p:cNvPr id="38" name="shape"/>
          <p:cNvSpPr/>
          <p:nvPr/>
        </p:nvSpPr>
        <p:spPr>
          <a:xfrm>
            <a:off x="5544312" y="4162425"/>
            <a:ext cx="800100" cy="209550"/>
          </a:xfrm>
          <a:prstGeom prst="roundRect">
            <a:avLst>
              <a:gd name="adj" fmla="val 50000"/>
            </a:avLst>
          </a:prstGeom>
          <a:solidFill>
            <a:srgbClr val="0F9D6B">
              <a:alpha val="13000"/>
            </a:srgbClr>
          </a:solidFill>
          <a:ln w="9525">
            <a:solidFill>
              <a:srgbClr val="0F9D6B"/>
            </a:solidFill>
          </a:ln>
        </p:spPr>
        <p:txBody>
          <a:bodyPr/>
          <a:lstStyle/>
          <a:p/>
        </p:txBody>
      </p:sp>
      <p:sp>
        <p:nvSpPr>
          <p:cNvPr id="39" name="text"/>
          <p:cNvSpPr txBox="1"/>
          <p:nvPr/>
        </p:nvSpPr>
        <p:spPr>
          <a:xfrm>
            <a:off x="5544312" y="4205288"/>
            <a:ext cx="800100" cy="1333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buNone/>
            </a:pPr>
            <a:r>
              <a:rPr lang="en-US" sz="825" b="1" spc="50" dirty="0">
                <a:solidFill>
                  <a:srgbClr val="0F9D6B"/>
                </a:solidFill>
                <a:latin typeface="Consolas" pitchFamily="34" charset="0"/>
              </a:rPr>
              <a:t>SETTLED</a:t>
            </a:r>
          </a:p>
        </p:txBody>
      </p:sp>
      <p:sp>
        <p:nvSpPr>
          <p:cNvPr id="40" name="shape"/>
          <p:cNvSpPr/>
          <p:nvPr/>
        </p:nvSpPr>
        <p:spPr>
          <a:xfrm>
            <a:off x="800100" y="4572000"/>
            <a:ext cx="5696712" cy="438150"/>
          </a:xfrm>
          <a:prstGeom prst="roundRect">
            <a:avLst>
              <a:gd name="adj" fmla="val 23913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41" name="text"/>
          <p:cNvSpPr txBox="1"/>
          <p:nvPr/>
        </p:nvSpPr>
        <p:spPr>
          <a:xfrm>
            <a:off x="952500" y="4695825"/>
            <a:ext cx="3304093" cy="209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D1424"/>
                </a:solidFill>
                <a:latin typeface="Segoe UI" pitchFamily="34" charset="0"/>
              </a:rPr>
              <a:t>PulseWire — ticker (tab)</a:t>
            </a:r>
          </a:p>
        </p:txBody>
      </p:sp>
      <p:sp>
        <p:nvSpPr>
          <p:cNvPr id="42" name="text"/>
          <p:cNvSpPr txBox="1"/>
          <p:nvPr/>
        </p:nvSpPr>
        <p:spPr>
          <a:xfrm>
            <a:off x="4104193" y="4714875"/>
            <a:ext cx="1139342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1050" b="0" dirty="0">
                <a:solidFill>
                  <a:srgbClr val="566384"/>
                </a:solidFill>
                <a:latin typeface="Consolas" pitchFamily="34" charset="0"/>
              </a:rPr>
              <a:t>6 ticks</a:t>
            </a:r>
          </a:p>
        </p:txBody>
      </p:sp>
      <p:sp>
        <p:nvSpPr>
          <p:cNvPr id="43" name="shape"/>
          <p:cNvSpPr/>
          <p:nvPr/>
        </p:nvSpPr>
        <p:spPr>
          <a:xfrm>
            <a:off x="5544312" y="4686300"/>
            <a:ext cx="800100" cy="209550"/>
          </a:xfrm>
          <a:prstGeom prst="roundRect">
            <a:avLst>
              <a:gd name="adj" fmla="val 50000"/>
            </a:avLst>
          </a:prstGeom>
          <a:solidFill>
            <a:srgbClr val="0F9D6B">
              <a:alpha val="13000"/>
            </a:srgbClr>
          </a:solidFill>
          <a:ln w="9525">
            <a:solidFill>
              <a:srgbClr val="0F9D6B"/>
            </a:solidFill>
          </a:ln>
        </p:spPr>
        <p:txBody>
          <a:bodyPr/>
          <a:lstStyle/>
          <a:p/>
        </p:txBody>
      </p:sp>
      <p:sp>
        <p:nvSpPr>
          <p:cNvPr id="44" name="text"/>
          <p:cNvSpPr txBox="1"/>
          <p:nvPr/>
        </p:nvSpPr>
        <p:spPr>
          <a:xfrm>
            <a:off x="5544312" y="4729163"/>
            <a:ext cx="800100" cy="1333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buNone/>
            </a:pPr>
            <a:r>
              <a:rPr lang="en-US" sz="825" b="1" spc="50" dirty="0">
                <a:solidFill>
                  <a:srgbClr val="0F9D6B"/>
                </a:solidFill>
                <a:latin typeface="Consolas" pitchFamily="34" charset="0"/>
              </a:rPr>
              <a:t>SETTLED</a:t>
            </a:r>
          </a:p>
        </p:txBody>
      </p:sp>
      <p:sp>
        <p:nvSpPr>
          <p:cNvPr id="45" name="shape"/>
          <p:cNvSpPr/>
          <p:nvPr/>
        </p:nvSpPr>
        <p:spPr>
          <a:xfrm>
            <a:off x="6915912" y="2284095"/>
            <a:ext cx="4475988" cy="902970"/>
          </a:xfrm>
          <a:prstGeom prst="roundRect">
            <a:avLst>
              <a:gd name="adj" fmla="val 14768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46" name="text"/>
          <p:cNvSpPr txBox="1"/>
          <p:nvPr/>
        </p:nvSpPr>
        <p:spPr>
          <a:xfrm>
            <a:off x="7058787" y="2426970"/>
            <a:ext cx="4190238" cy="6172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B9791A"/>
                </a:solidFill>
                <a:latin typeface="Segoe UI" pitchFamily="34" charset="0"/>
              </a:rPr>
              <a:t>SLA breach → slash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buNone/>
            </a:pPr>
            <a:r>
              <a:rPr lang="en-US" sz="1013" b="0" dirty="0">
                <a:solidFill>
                  <a:srgbClr val="566384"/>
                </a:solidFill>
                <a:latin typeface="Segoe UI" pitchFamily="34" charset="0"/>
              </a:rPr>
              <a:t>News returns junk; the agent reclaims its USDC and slashes the provider's stake 0.05 → 0.0494.</a:t>
            </a:r>
          </a:p>
        </p:txBody>
      </p:sp>
      <p:sp>
        <p:nvSpPr>
          <p:cNvPr id="47" name="shape"/>
          <p:cNvSpPr/>
          <p:nvPr/>
        </p:nvSpPr>
        <p:spPr>
          <a:xfrm>
            <a:off x="6915912" y="3291840"/>
            <a:ext cx="4475988" cy="902970"/>
          </a:xfrm>
          <a:prstGeom prst="roundRect">
            <a:avLst>
              <a:gd name="adj" fmla="val 14768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48" name="text"/>
          <p:cNvSpPr txBox="1"/>
          <p:nvPr/>
        </p:nvSpPr>
        <p:spPr>
          <a:xfrm>
            <a:off x="7058787" y="3434715"/>
            <a:ext cx="4190238" cy="6172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2F6BE0"/>
                </a:solidFill>
                <a:latin typeface="Segoe UI" pitchFamily="34" charset="0"/>
              </a:rPr>
              <a:t>Guardian pause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buNone/>
            </a:pPr>
            <a:r>
              <a:rPr lang="en-US" sz="1013" b="0" dirty="0">
                <a:solidFill>
                  <a:srgbClr val="566384"/>
                </a:solidFill>
                <a:latin typeface="Segoe UI" pitchFamily="34" charset="0"/>
              </a:rPr>
              <a:t>A premium call exceeds the policy cap, so a human approves before it settles.</a:t>
            </a:r>
          </a:p>
        </p:txBody>
      </p:sp>
      <p:sp>
        <p:nvSpPr>
          <p:cNvPr id="49" name="shape"/>
          <p:cNvSpPr/>
          <p:nvPr/>
        </p:nvSpPr>
        <p:spPr>
          <a:xfrm>
            <a:off x="6915912" y="4299585"/>
            <a:ext cx="4475988" cy="902970"/>
          </a:xfrm>
          <a:prstGeom prst="roundRect">
            <a:avLst>
              <a:gd name="adj" fmla="val 14768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50" name="text"/>
          <p:cNvSpPr txBox="1"/>
          <p:nvPr/>
        </p:nvSpPr>
        <p:spPr>
          <a:xfrm>
            <a:off x="7058787" y="4442460"/>
            <a:ext cx="4190238" cy="6172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0D1424"/>
                </a:solidFill>
                <a:latin typeface="Segoe UI" pitchFamily="34" charset="0"/>
              </a:rPr>
              <a:t>Declined from memory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buNone/>
            </a:pPr>
            <a:r>
              <a:rPr lang="en-US" sz="1013" b="0" dirty="0">
                <a:solidFill>
                  <a:srgbClr val="566384"/>
                </a:solidFill>
                <a:latin typeface="Segoe UI" pitchFamily="34" charset="0"/>
              </a:rPr>
              <a:t>A later invoice from the provider that failed it is declined, with no human asked.</a:t>
            </a:r>
          </a:p>
        </p:txBody>
      </p:sp>
      <p:sp>
        <p:nvSpPr>
          <p:cNvPr id="51" name="shape"/>
          <p:cNvSpPr/>
          <p:nvPr/>
        </p:nvSpPr>
        <p:spPr>
          <a:xfrm>
            <a:off x="800100" y="6438900"/>
            <a:ext cx="10591800" cy="9525"/>
          </a:xfrm>
          <a:prstGeom prst="rect">
            <a:avLst/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52" name="text"/>
          <p:cNvSpPr txBox="1"/>
          <p:nvPr/>
        </p:nvSpPr>
        <p:spPr>
          <a:xfrm>
            <a:off x="800100" y="6572250"/>
            <a:ext cx="52959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LIVE RUN</a:t>
            </a:r>
          </a:p>
        </p:txBody>
      </p:sp>
      <p:sp>
        <p:nvSpPr>
          <p:cNvPr id="53" name="text"/>
          <p:cNvSpPr txBox="1"/>
          <p:nvPr/>
        </p:nvSpPr>
        <p:spPr>
          <a:xfrm>
            <a:off x="6096000" y="6572250"/>
            <a:ext cx="52959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TESSERA · ARC TESTNET · USDC-NATIVE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E7EBF5"/>
              </a:gs>
              <a:gs pos="100000">
                <a:srgbClr val="EEF1F8"/>
              </a:gs>
            </a:gsLst>
            <a:lin ang="5400000" scaled="0"/>
          </a:gradFill>
          <a:ln>
            <a:noFill/>
          </a:ln>
        </p:spPr>
        <p:txBody>
          <a:bodyPr/>
          <a:lstStyle/>
          <a:p/>
        </p:txBody>
      </p:sp>
      <p:sp>
        <p:nvSpPr>
          <p:cNvPr id="3" name="shape"/>
          <p:cNvSpPr/>
          <p:nvPr/>
        </p:nvSpPr>
        <p:spPr>
          <a:xfrm>
            <a:off x="6667500" y="-2857500"/>
            <a:ext cx="8572500" cy="6667500"/>
          </a:xfrm>
          <a:prstGeom prst="ellipse">
            <a:avLst/>
          </a:prstGeom>
          <a:gradFill rotWithShape="0">
            <a:gsLst>
              <a:gs pos="0">
                <a:srgbClr val="2F6BE0">
                  <a:alpha val="13000"/>
                </a:srgbClr>
              </a:gs>
              <a:gs pos="100000">
                <a:srgbClr val="2F6BE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/>
          <a:lstStyle/>
          <a:p/>
        </p:txBody>
      </p:sp>
      <p:sp>
        <p:nvSpPr>
          <p:cNvPr id="4" name="shape"/>
          <p:cNvSpPr/>
          <p:nvPr/>
        </p:nvSpPr>
        <p:spPr>
          <a:xfrm>
            <a:off x="800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shape"/>
          <p:cNvSpPr/>
          <p:nvPr/>
        </p:nvSpPr>
        <p:spPr>
          <a:xfrm>
            <a:off x="1028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shape"/>
          <p:cNvSpPr/>
          <p:nvPr/>
        </p:nvSpPr>
        <p:spPr>
          <a:xfrm>
            <a:off x="12573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shape"/>
          <p:cNvSpPr/>
          <p:nvPr/>
        </p:nvSpPr>
        <p:spPr>
          <a:xfrm>
            <a:off x="14859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8" name="shape"/>
          <p:cNvSpPr/>
          <p:nvPr/>
        </p:nvSpPr>
        <p:spPr>
          <a:xfrm>
            <a:off x="17145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shape"/>
          <p:cNvSpPr/>
          <p:nvPr/>
        </p:nvSpPr>
        <p:spPr>
          <a:xfrm>
            <a:off x="1943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shape"/>
          <p:cNvSpPr/>
          <p:nvPr/>
        </p:nvSpPr>
        <p:spPr>
          <a:xfrm>
            <a:off x="2171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"/>
          <p:cNvSpPr/>
          <p:nvPr/>
        </p:nvSpPr>
        <p:spPr>
          <a:xfrm>
            <a:off x="24003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"/>
          <p:cNvSpPr/>
          <p:nvPr/>
        </p:nvSpPr>
        <p:spPr>
          <a:xfrm>
            <a:off x="26289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shape"/>
          <p:cNvSpPr/>
          <p:nvPr/>
        </p:nvSpPr>
        <p:spPr>
          <a:xfrm>
            <a:off x="2857500" y="285750"/>
            <a:ext cx="323850" cy="47625"/>
          </a:xfrm>
          <a:prstGeom prst="roundRect">
            <a:avLst>
              <a:gd name="adj" fmla="val 50000"/>
            </a:avLst>
          </a:prstGeom>
          <a:solidFill>
            <a:srgbClr val="2F6BE0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shape"/>
          <p:cNvSpPr/>
          <p:nvPr/>
        </p:nvSpPr>
        <p:spPr>
          <a:xfrm>
            <a:off x="32385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shape"/>
          <p:cNvSpPr/>
          <p:nvPr/>
        </p:nvSpPr>
        <p:spPr>
          <a:xfrm>
            <a:off x="3467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shape"/>
          <p:cNvSpPr/>
          <p:nvPr/>
        </p:nvSpPr>
        <p:spPr>
          <a:xfrm>
            <a:off x="3695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text"/>
          <p:cNvSpPr txBox="1"/>
          <p:nvPr/>
        </p:nvSpPr>
        <p:spPr>
          <a:xfrm>
            <a:off x="800100" y="247650"/>
            <a:ext cx="105918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10 / 13</a:t>
            </a:r>
          </a:p>
        </p:txBody>
      </p:sp>
      <p:sp>
        <p:nvSpPr>
          <p:cNvPr id="18" name="shape"/>
          <p:cNvSpPr/>
          <p:nvPr/>
        </p:nvSpPr>
        <p:spPr>
          <a:xfrm>
            <a:off x="800100" y="2350294"/>
            <a:ext cx="381000" cy="23813"/>
          </a:xfrm>
          <a:prstGeom prst="roundRect">
            <a:avLst>
              <a:gd name="adj" fmla="val 50000"/>
            </a:avLst>
          </a:prstGeom>
          <a:solidFill>
            <a:srgbClr val="2F6BE0"/>
          </a:solidFill>
          <a:ln>
            <a:noFill/>
          </a:ln>
        </p:spPr>
        <p:txBody>
          <a:bodyPr/>
          <a:lstStyle/>
          <a:p/>
        </p:txBody>
      </p:sp>
      <p:sp>
        <p:nvSpPr>
          <p:cNvPr id="19" name="text"/>
          <p:cNvSpPr txBox="1"/>
          <p:nvPr/>
        </p:nvSpPr>
        <p:spPr>
          <a:xfrm>
            <a:off x="1295400" y="2286000"/>
            <a:ext cx="10096500" cy="21431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125" b="1" spc="260" dirty="0">
                <a:solidFill>
                  <a:srgbClr val="2F6BE0"/>
                </a:solidFill>
                <a:latin typeface="Consolas" pitchFamily="34" charset="0"/>
              </a:rPr>
              <a:t>ON-CHAIN PROOF · ARC TESTNET · CHAINID 5042002</a:t>
            </a:r>
          </a:p>
        </p:txBody>
      </p:sp>
      <p:sp>
        <p:nvSpPr>
          <p:cNvPr id="20" name="shape"/>
          <p:cNvSpPr/>
          <p:nvPr/>
        </p:nvSpPr>
        <p:spPr>
          <a:xfrm>
            <a:off x="800100" y="2571750"/>
            <a:ext cx="10591800" cy="62865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1" name="shape"/>
          <p:cNvSpPr/>
          <p:nvPr/>
        </p:nvSpPr>
        <p:spPr>
          <a:xfrm>
            <a:off x="952500" y="2686050"/>
            <a:ext cx="400050" cy="400050"/>
          </a:xfrm>
          <a:prstGeom prst="roundRect">
            <a:avLst>
              <a:gd name="adj" fmla="val 24000"/>
            </a:avLst>
          </a:prstGeom>
          <a:solidFill>
            <a:srgbClr val="0F9D6B">
              <a:alpha val="14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2" name="text"/>
          <p:cNvSpPr txBox="1"/>
          <p:nvPr/>
        </p:nvSpPr>
        <p:spPr>
          <a:xfrm>
            <a:off x="952500" y="2771775"/>
            <a:ext cx="40005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buNone/>
            </a:pPr>
            <a:r>
              <a:rPr lang="en-US" sz="1575" b="1" dirty="0">
                <a:solidFill>
                  <a:srgbClr val="0F9D6B"/>
                </a:solidFill>
                <a:latin typeface="Segoe UI" pitchFamily="34" charset="0"/>
              </a:rPr>
              <a:t>✓</a:t>
            </a:r>
          </a:p>
        </p:txBody>
      </p:sp>
      <p:sp>
        <p:nvSpPr>
          <p:cNvPr id="23" name="text"/>
          <p:cNvSpPr txBox="1"/>
          <p:nvPr/>
        </p:nvSpPr>
        <p:spPr>
          <a:xfrm>
            <a:off x="1504950" y="2714625"/>
            <a:ext cx="7981950" cy="4000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buNone/>
            </a:pPr>
            <a:r>
              <a:rPr lang="en-US" sz="1425" b="1" dirty="0">
                <a:solidFill>
                  <a:srgbClr val="0D1424"/>
                </a:solidFill>
                <a:latin typeface="Segoe UI" pitchFamily="34" charset="0"/>
              </a:rPr>
              <a:t>Settle — USDC released to provider</a:t>
            </a:r>
          </a:p>
          <a:p>
            <a:pPr algn="l">
              <a:lnSpc>
                <a:spcPct val="130000"/>
              </a:lnSpc>
              <a:spcBef>
                <a:spcPts val="300"/>
              </a:spcBef>
              <a:buNone/>
            </a:pPr>
            <a:r>
              <a:rPr lang="en-US" sz="1013" b="0" dirty="0">
                <a:solidFill>
                  <a:srgbClr val="566384"/>
                </a:solidFill>
                <a:latin typeface="Segoe UI" pitchFamily="34" charset="0"/>
              </a:rPr>
              <a:t>Verified delivery, escrow released</a:t>
            </a:r>
          </a:p>
        </p:txBody>
      </p:sp>
      <p:sp>
        <p:nvSpPr>
          <p:cNvPr id="24" name="text"/>
          <p:cNvSpPr txBox="1"/>
          <p:nvPr/>
        </p:nvSpPr>
        <p:spPr>
          <a:xfrm>
            <a:off x="9486900" y="2800350"/>
            <a:ext cx="17526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975" b="0" dirty="0">
                <a:solidFill>
                  <a:srgbClr val="2F6BE0"/>
                </a:solidFill>
                <a:latin typeface="Consolas" pitchFamily="34" charset="0"/>
              </a:rPr>
              <a:t>0xbbf5c98b…753f</a:t>
            </a:r>
          </a:p>
        </p:txBody>
      </p:sp>
      <p:sp>
        <p:nvSpPr>
          <p:cNvPr id="25" name="shape"/>
          <p:cNvSpPr/>
          <p:nvPr/>
        </p:nvSpPr>
        <p:spPr>
          <a:xfrm>
            <a:off x="800100" y="3305175"/>
            <a:ext cx="10591800" cy="62865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6" name="shape"/>
          <p:cNvSpPr/>
          <p:nvPr/>
        </p:nvSpPr>
        <p:spPr>
          <a:xfrm>
            <a:off x="952500" y="3419475"/>
            <a:ext cx="400050" cy="400050"/>
          </a:xfrm>
          <a:prstGeom prst="roundRect">
            <a:avLst>
              <a:gd name="adj" fmla="val 24000"/>
            </a:avLst>
          </a:prstGeom>
          <a:solidFill>
            <a:srgbClr val="B9791A">
              <a:alpha val="14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text"/>
          <p:cNvSpPr txBox="1"/>
          <p:nvPr/>
        </p:nvSpPr>
        <p:spPr>
          <a:xfrm>
            <a:off x="952500" y="3505200"/>
            <a:ext cx="40005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buNone/>
            </a:pPr>
            <a:r>
              <a:rPr lang="en-US" sz="1575" b="1" dirty="0">
                <a:solidFill>
                  <a:srgbClr val="B9791A"/>
                </a:solidFill>
                <a:latin typeface="Segoe UI" pitchFamily="34" charset="0"/>
              </a:rPr>
              <a:t>↩</a:t>
            </a:r>
          </a:p>
        </p:txBody>
      </p:sp>
      <p:sp>
        <p:nvSpPr>
          <p:cNvPr id="28" name="text"/>
          <p:cNvSpPr txBox="1"/>
          <p:nvPr/>
        </p:nvSpPr>
        <p:spPr>
          <a:xfrm>
            <a:off x="1504950" y="3448050"/>
            <a:ext cx="7981950" cy="4000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buNone/>
            </a:pPr>
            <a:r>
              <a:rPr lang="en-US" sz="1425" b="1" dirty="0">
                <a:solidFill>
                  <a:srgbClr val="0D1424"/>
                </a:solidFill>
                <a:latin typeface="Segoe UI" pitchFamily="34" charset="0"/>
              </a:rPr>
              <a:t>Refund — SLA breach reclaimed</a:t>
            </a:r>
          </a:p>
          <a:p>
            <a:pPr algn="l">
              <a:lnSpc>
                <a:spcPct val="130000"/>
              </a:lnSpc>
              <a:spcBef>
                <a:spcPts val="300"/>
              </a:spcBef>
              <a:buNone/>
            </a:pPr>
            <a:r>
              <a:rPr lang="en-US" sz="1013" b="0" dirty="0">
                <a:solidFill>
                  <a:srgbClr val="566384"/>
                </a:solidFill>
                <a:latin typeface="Segoe UI" pitchFamily="34" charset="0"/>
              </a:rPr>
              <a:t>Agent recovered its USDC automatically</a:t>
            </a:r>
          </a:p>
        </p:txBody>
      </p:sp>
      <p:sp>
        <p:nvSpPr>
          <p:cNvPr id="29" name="text"/>
          <p:cNvSpPr txBox="1"/>
          <p:nvPr/>
        </p:nvSpPr>
        <p:spPr>
          <a:xfrm>
            <a:off x="9486900" y="3533775"/>
            <a:ext cx="17526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975" b="0" dirty="0">
                <a:solidFill>
                  <a:srgbClr val="2F6BE0"/>
                </a:solidFill>
                <a:latin typeface="Consolas" pitchFamily="34" charset="0"/>
              </a:rPr>
              <a:t>0xf8a57c18…18ba</a:t>
            </a:r>
          </a:p>
        </p:txBody>
      </p:sp>
      <p:sp>
        <p:nvSpPr>
          <p:cNvPr id="30" name="shape"/>
          <p:cNvSpPr/>
          <p:nvPr/>
        </p:nvSpPr>
        <p:spPr>
          <a:xfrm>
            <a:off x="800100" y="4038600"/>
            <a:ext cx="10591800" cy="62865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31" name="shape"/>
          <p:cNvSpPr/>
          <p:nvPr/>
        </p:nvSpPr>
        <p:spPr>
          <a:xfrm>
            <a:off x="952500" y="4152900"/>
            <a:ext cx="400050" cy="400050"/>
          </a:xfrm>
          <a:prstGeom prst="roundRect">
            <a:avLst>
              <a:gd name="adj" fmla="val 24000"/>
            </a:avLst>
          </a:prstGeom>
          <a:solidFill>
            <a:srgbClr val="2F6BE0">
              <a:alpha val="14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2" name="text"/>
          <p:cNvSpPr txBox="1"/>
          <p:nvPr/>
        </p:nvSpPr>
        <p:spPr>
          <a:xfrm>
            <a:off x="952500" y="4238625"/>
            <a:ext cx="40005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buNone/>
            </a:pPr>
            <a:r>
              <a:rPr lang="en-US" sz="1575" b="1" dirty="0">
                <a:solidFill>
                  <a:srgbClr val="2F6BE0"/>
                </a:solidFill>
                <a:latin typeface="Segoe UI" pitchFamily="34" charset="0"/>
              </a:rPr>
              <a:t>⚡</a:t>
            </a:r>
          </a:p>
        </p:txBody>
      </p:sp>
      <p:sp>
        <p:nvSpPr>
          <p:cNvPr id="33" name="text"/>
          <p:cNvSpPr txBox="1"/>
          <p:nvPr/>
        </p:nvSpPr>
        <p:spPr>
          <a:xfrm>
            <a:off x="1504950" y="4181475"/>
            <a:ext cx="7981950" cy="4000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buNone/>
            </a:pPr>
            <a:r>
              <a:rPr lang="en-US" sz="1425" b="1" dirty="0">
                <a:solidFill>
                  <a:srgbClr val="0D1424"/>
                </a:solidFill>
                <a:latin typeface="Segoe UI" pitchFamily="34" charset="0"/>
              </a:rPr>
              <a:t>Tab settle — 6 calls, one transaction</a:t>
            </a:r>
          </a:p>
          <a:p>
            <a:pPr algn="l">
              <a:lnSpc>
                <a:spcPct val="130000"/>
              </a:lnSpc>
              <a:spcBef>
                <a:spcPts val="300"/>
              </a:spcBef>
              <a:buNone/>
            </a:pPr>
            <a:r>
              <a:rPr lang="en-US" sz="1013" b="0" dirty="0">
                <a:solidFill>
                  <a:srgbClr val="566384"/>
                </a:solidFill>
                <a:latin typeface="Segoe UI" pitchFamily="34" charset="0"/>
              </a:rPr>
              <a:t>Nanopayment stream, remainder returned</a:t>
            </a:r>
          </a:p>
        </p:txBody>
      </p:sp>
      <p:sp>
        <p:nvSpPr>
          <p:cNvPr id="34" name="text"/>
          <p:cNvSpPr txBox="1"/>
          <p:nvPr/>
        </p:nvSpPr>
        <p:spPr>
          <a:xfrm>
            <a:off x="9486900" y="4267200"/>
            <a:ext cx="17526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975" b="0" dirty="0">
                <a:solidFill>
                  <a:srgbClr val="2F6BE0"/>
                </a:solidFill>
                <a:latin typeface="Consolas" pitchFamily="34" charset="0"/>
              </a:rPr>
              <a:t>0x15c13f79…4f66</a:t>
            </a:r>
          </a:p>
        </p:txBody>
      </p:sp>
      <p:sp>
        <p:nvSpPr>
          <p:cNvPr id="35" name="text"/>
          <p:cNvSpPr txBox="1"/>
          <p:nvPr/>
        </p:nvSpPr>
        <p:spPr>
          <a:xfrm>
            <a:off x="800100" y="4886325"/>
            <a:ext cx="105918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050" b="0" dirty="0">
                <a:solidFill>
                  <a:srgbClr val="566384"/>
                </a:solidFill>
                <a:latin typeface="Consolas" pitchFamily="34" charset="0"/>
              </a:rPr>
              <a:t>Escrow 0x9776498c…5a9a7d     Tab 0x5d482c70…d78c6d     chainId 5042002 · live</a:t>
            </a:r>
          </a:p>
        </p:txBody>
      </p:sp>
      <p:sp>
        <p:nvSpPr>
          <p:cNvPr id="36" name="shape"/>
          <p:cNvSpPr/>
          <p:nvPr/>
        </p:nvSpPr>
        <p:spPr>
          <a:xfrm>
            <a:off x="800100" y="6438900"/>
            <a:ext cx="10591800" cy="9525"/>
          </a:xfrm>
          <a:prstGeom prst="rect">
            <a:avLst/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37" name="text"/>
          <p:cNvSpPr txBox="1"/>
          <p:nvPr/>
        </p:nvSpPr>
        <p:spPr>
          <a:xfrm>
            <a:off x="800100" y="6572250"/>
            <a:ext cx="52959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ON-CHAIN PROOF</a:t>
            </a:r>
          </a:p>
        </p:txBody>
      </p:sp>
      <p:sp>
        <p:nvSpPr>
          <p:cNvPr id="38" name="text"/>
          <p:cNvSpPr txBox="1"/>
          <p:nvPr/>
        </p:nvSpPr>
        <p:spPr>
          <a:xfrm>
            <a:off x="6096000" y="6572250"/>
            <a:ext cx="52959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TESSERA · ARC TESTNET · USDC-NATIVE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E7EBF5"/>
              </a:gs>
              <a:gs pos="100000">
                <a:srgbClr val="EEF1F8"/>
              </a:gs>
            </a:gsLst>
            <a:lin ang="5400000" scaled="0"/>
          </a:gradFill>
          <a:ln>
            <a:noFill/>
          </a:ln>
        </p:spPr>
        <p:txBody>
          <a:bodyPr/>
          <a:lstStyle/>
          <a:p/>
        </p:txBody>
      </p:sp>
      <p:sp>
        <p:nvSpPr>
          <p:cNvPr id="3" name="shape"/>
          <p:cNvSpPr/>
          <p:nvPr/>
        </p:nvSpPr>
        <p:spPr>
          <a:xfrm>
            <a:off x="6667500" y="-2857500"/>
            <a:ext cx="8572500" cy="6667500"/>
          </a:xfrm>
          <a:prstGeom prst="ellipse">
            <a:avLst/>
          </a:prstGeom>
          <a:gradFill rotWithShape="0">
            <a:gsLst>
              <a:gs pos="0">
                <a:srgbClr val="2F6BE0">
                  <a:alpha val="13000"/>
                </a:srgbClr>
              </a:gs>
              <a:gs pos="100000">
                <a:srgbClr val="2F6BE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/>
          <a:lstStyle/>
          <a:p/>
        </p:txBody>
      </p:sp>
      <p:sp>
        <p:nvSpPr>
          <p:cNvPr id="4" name="shape"/>
          <p:cNvSpPr/>
          <p:nvPr/>
        </p:nvSpPr>
        <p:spPr>
          <a:xfrm>
            <a:off x="800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shape"/>
          <p:cNvSpPr/>
          <p:nvPr/>
        </p:nvSpPr>
        <p:spPr>
          <a:xfrm>
            <a:off x="1028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shape"/>
          <p:cNvSpPr/>
          <p:nvPr/>
        </p:nvSpPr>
        <p:spPr>
          <a:xfrm>
            <a:off x="12573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shape"/>
          <p:cNvSpPr/>
          <p:nvPr/>
        </p:nvSpPr>
        <p:spPr>
          <a:xfrm>
            <a:off x="14859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8" name="shape"/>
          <p:cNvSpPr/>
          <p:nvPr/>
        </p:nvSpPr>
        <p:spPr>
          <a:xfrm>
            <a:off x="17145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shape"/>
          <p:cNvSpPr/>
          <p:nvPr/>
        </p:nvSpPr>
        <p:spPr>
          <a:xfrm>
            <a:off x="1943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shape"/>
          <p:cNvSpPr/>
          <p:nvPr/>
        </p:nvSpPr>
        <p:spPr>
          <a:xfrm>
            <a:off x="2171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"/>
          <p:cNvSpPr/>
          <p:nvPr/>
        </p:nvSpPr>
        <p:spPr>
          <a:xfrm>
            <a:off x="24003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"/>
          <p:cNvSpPr/>
          <p:nvPr/>
        </p:nvSpPr>
        <p:spPr>
          <a:xfrm>
            <a:off x="26289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shape"/>
          <p:cNvSpPr/>
          <p:nvPr/>
        </p:nvSpPr>
        <p:spPr>
          <a:xfrm>
            <a:off x="28575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shape"/>
          <p:cNvSpPr/>
          <p:nvPr/>
        </p:nvSpPr>
        <p:spPr>
          <a:xfrm>
            <a:off x="3086100" y="285750"/>
            <a:ext cx="323850" cy="47625"/>
          </a:xfrm>
          <a:prstGeom prst="roundRect">
            <a:avLst>
              <a:gd name="adj" fmla="val 50000"/>
            </a:avLst>
          </a:prstGeom>
          <a:solidFill>
            <a:srgbClr val="2F6BE0"/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shape"/>
          <p:cNvSpPr/>
          <p:nvPr/>
        </p:nvSpPr>
        <p:spPr>
          <a:xfrm>
            <a:off x="3467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shape"/>
          <p:cNvSpPr/>
          <p:nvPr/>
        </p:nvSpPr>
        <p:spPr>
          <a:xfrm>
            <a:off x="3695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text"/>
          <p:cNvSpPr txBox="1"/>
          <p:nvPr/>
        </p:nvSpPr>
        <p:spPr>
          <a:xfrm>
            <a:off x="800100" y="247650"/>
            <a:ext cx="105918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11 / 13</a:t>
            </a:r>
          </a:p>
        </p:txBody>
      </p:sp>
      <p:sp>
        <p:nvSpPr>
          <p:cNvPr id="18" name="shape"/>
          <p:cNvSpPr/>
          <p:nvPr/>
        </p:nvSpPr>
        <p:spPr>
          <a:xfrm>
            <a:off x="800100" y="2015490"/>
            <a:ext cx="381000" cy="23813"/>
          </a:xfrm>
          <a:prstGeom prst="roundRect">
            <a:avLst>
              <a:gd name="adj" fmla="val 50000"/>
            </a:avLst>
          </a:prstGeom>
          <a:solidFill>
            <a:srgbClr val="2F6BE0"/>
          </a:solidFill>
          <a:ln>
            <a:noFill/>
          </a:ln>
        </p:spPr>
        <p:txBody>
          <a:bodyPr/>
          <a:lstStyle/>
          <a:p/>
        </p:txBody>
      </p:sp>
      <p:sp>
        <p:nvSpPr>
          <p:cNvPr id="19" name="text"/>
          <p:cNvSpPr txBox="1"/>
          <p:nvPr/>
        </p:nvSpPr>
        <p:spPr>
          <a:xfrm>
            <a:off x="1295400" y="1951196"/>
            <a:ext cx="10096500" cy="21431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125" b="1" spc="260" dirty="0">
                <a:solidFill>
                  <a:srgbClr val="2F6BE0"/>
                </a:solidFill>
                <a:latin typeface="Consolas" pitchFamily="34" charset="0"/>
              </a:rPr>
              <a:t>WHY ARC + CIRCLE</a:t>
            </a:r>
          </a:p>
        </p:txBody>
      </p:sp>
      <p:sp>
        <p:nvSpPr>
          <p:cNvPr id="20" name="text"/>
          <p:cNvSpPr txBox="1"/>
          <p:nvPr/>
        </p:nvSpPr>
        <p:spPr>
          <a:xfrm>
            <a:off x="800100" y="3228975"/>
            <a:ext cx="5230368" cy="11049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825" b="1" dirty="0">
                <a:solidFill>
                  <a:srgbClr val="0D1424"/>
                </a:solidFill>
                <a:latin typeface="Segoe UI" pitchFamily="34" charset="0"/>
              </a:rPr>
              <a:t>Built for money that moves itself.</a:t>
            </a:r>
          </a:p>
        </p:txBody>
      </p:sp>
      <p:sp>
        <p:nvSpPr>
          <p:cNvPr id="21" name="shape"/>
          <p:cNvSpPr/>
          <p:nvPr/>
        </p:nvSpPr>
        <p:spPr>
          <a:xfrm>
            <a:off x="6563868" y="2379821"/>
            <a:ext cx="4828032" cy="991553"/>
          </a:xfrm>
          <a:prstGeom prst="roundRect">
            <a:avLst>
              <a:gd name="adj" fmla="val 13449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2" name="text"/>
          <p:cNvSpPr txBox="1"/>
          <p:nvPr/>
        </p:nvSpPr>
        <p:spPr>
          <a:xfrm>
            <a:off x="6735318" y="2551271"/>
            <a:ext cx="4485132" cy="64865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en-US" sz="1275" b="1" dirty="0">
                <a:solidFill>
                  <a:srgbClr val="2F6BE0"/>
                </a:solidFill>
                <a:latin typeface="Segoe UI" pitchFamily="34" charset="0"/>
              </a:rPr>
              <a:t>USDC is the gas token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buNone/>
            </a:pPr>
            <a:r>
              <a:rPr lang="en-US" sz="1050" b="0" dirty="0">
                <a:solidFill>
                  <a:srgbClr val="566384"/>
                </a:solidFill>
                <a:latin typeface="Segoe UI" pitchFamily="34" charset="0"/>
              </a:rPr>
              <a:t>The agent funds one asset for both the toll and the fees — no native-gas bootstrap for a bot.</a:t>
            </a:r>
          </a:p>
        </p:txBody>
      </p:sp>
      <p:sp>
        <p:nvSpPr>
          <p:cNvPr id="23" name="shape"/>
          <p:cNvSpPr/>
          <p:nvPr/>
        </p:nvSpPr>
        <p:spPr>
          <a:xfrm>
            <a:off x="6563868" y="3485674"/>
            <a:ext cx="4828032" cy="801053"/>
          </a:xfrm>
          <a:prstGeom prst="roundRect">
            <a:avLst>
              <a:gd name="adj" fmla="val 16647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4" name="text"/>
          <p:cNvSpPr txBox="1"/>
          <p:nvPr/>
        </p:nvSpPr>
        <p:spPr>
          <a:xfrm>
            <a:off x="6735318" y="3657124"/>
            <a:ext cx="4485132" cy="4581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en-US" sz="1275" b="1" dirty="0">
                <a:solidFill>
                  <a:srgbClr val="0D1424"/>
                </a:solidFill>
                <a:latin typeface="Segoe UI" pitchFamily="34" charset="0"/>
              </a:rPr>
              <a:t>Sub-second finality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buNone/>
            </a:pPr>
            <a:r>
              <a:rPr lang="en-US" sz="1050" b="0" dirty="0">
                <a:solidFill>
                  <a:srgbClr val="566384"/>
                </a:solidFill>
                <a:latin typeface="Segoe UI" pitchFamily="34" charset="0"/>
              </a:rPr>
              <a:t>A per-call payment clears inside the request/response cycle.</a:t>
            </a:r>
          </a:p>
        </p:txBody>
      </p:sp>
      <p:sp>
        <p:nvSpPr>
          <p:cNvPr id="25" name="shape"/>
          <p:cNvSpPr/>
          <p:nvPr/>
        </p:nvSpPr>
        <p:spPr>
          <a:xfrm>
            <a:off x="6563868" y="4401026"/>
            <a:ext cx="4828032" cy="991553"/>
          </a:xfrm>
          <a:prstGeom prst="roundRect">
            <a:avLst>
              <a:gd name="adj" fmla="val 13449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6" name="text"/>
          <p:cNvSpPr txBox="1"/>
          <p:nvPr/>
        </p:nvSpPr>
        <p:spPr>
          <a:xfrm>
            <a:off x="6735318" y="4572476"/>
            <a:ext cx="4485132" cy="64865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en-US" sz="1275" b="1" dirty="0">
                <a:solidFill>
                  <a:srgbClr val="0D1424"/>
                </a:solidFill>
                <a:latin typeface="Segoe UI" pitchFamily="34" charset="0"/>
              </a:rPr>
              <a:t>Config, not fork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buNone/>
            </a:pPr>
            <a:r>
              <a:rPr lang="en-US" sz="1050" b="0" dirty="0">
                <a:solidFill>
                  <a:srgbClr val="566384"/>
                </a:solidFill>
                <a:latin typeface="Segoe UI" pitchFamily="34" charset="0"/>
              </a:rPr>
              <a:t>Chain id, RPC, explorer and USDC address are env-driven; mainnet is a configuration change.</a:t>
            </a:r>
          </a:p>
        </p:txBody>
      </p:sp>
      <p:sp>
        <p:nvSpPr>
          <p:cNvPr id="27" name="shape"/>
          <p:cNvSpPr/>
          <p:nvPr/>
        </p:nvSpPr>
        <p:spPr>
          <a:xfrm>
            <a:off x="800100" y="6438900"/>
            <a:ext cx="10591800" cy="9525"/>
          </a:xfrm>
          <a:prstGeom prst="rect">
            <a:avLst/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28" name="text"/>
          <p:cNvSpPr txBox="1"/>
          <p:nvPr/>
        </p:nvSpPr>
        <p:spPr>
          <a:xfrm>
            <a:off x="800100" y="6572250"/>
            <a:ext cx="52959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WHY ARC</a:t>
            </a:r>
          </a:p>
        </p:txBody>
      </p:sp>
      <p:sp>
        <p:nvSpPr>
          <p:cNvPr id="29" name="text"/>
          <p:cNvSpPr txBox="1"/>
          <p:nvPr/>
        </p:nvSpPr>
        <p:spPr>
          <a:xfrm>
            <a:off x="6096000" y="6572250"/>
            <a:ext cx="52959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TESSERA · ARC TESTNET · USDC-NATIVE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E7EBF5"/>
              </a:gs>
              <a:gs pos="100000">
                <a:srgbClr val="EEF1F8"/>
              </a:gs>
            </a:gsLst>
            <a:lin ang="5400000" scaled="0"/>
          </a:gradFill>
          <a:ln>
            <a:noFill/>
          </a:ln>
        </p:spPr>
        <p:txBody>
          <a:bodyPr/>
          <a:lstStyle/>
          <a:p/>
        </p:txBody>
      </p:sp>
      <p:sp>
        <p:nvSpPr>
          <p:cNvPr id="3" name="shape"/>
          <p:cNvSpPr/>
          <p:nvPr/>
        </p:nvSpPr>
        <p:spPr>
          <a:xfrm>
            <a:off x="6667500" y="-2857500"/>
            <a:ext cx="8572500" cy="6667500"/>
          </a:xfrm>
          <a:prstGeom prst="ellipse">
            <a:avLst/>
          </a:prstGeom>
          <a:gradFill rotWithShape="0">
            <a:gsLst>
              <a:gs pos="0">
                <a:srgbClr val="2F6BE0">
                  <a:alpha val="13000"/>
                </a:srgbClr>
              </a:gs>
              <a:gs pos="100000">
                <a:srgbClr val="2F6BE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/>
          <a:lstStyle/>
          <a:p/>
        </p:txBody>
      </p:sp>
      <p:sp>
        <p:nvSpPr>
          <p:cNvPr id="4" name="shape"/>
          <p:cNvSpPr/>
          <p:nvPr/>
        </p:nvSpPr>
        <p:spPr>
          <a:xfrm>
            <a:off x="800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shape"/>
          <p:cNvSpPr/>
          <p:nvPr/>
        </p:nvSpPr>
        <p:spPr>
          <a:xfrm>
            <a:off x="1028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shape"/>
          <p:cNvSpPr/>
          <p:nvPr/>
        </p:nvSpPr>
        <p:spPr>
          <a:xfrm>
            <a:off x="12573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shape"/>
          <p:cNvSpPr/>
          <p:nvPr/>
        </p:nvSpPr>
        <p:spPr>
          <a:xfrm>
            <a:off x="14859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8" name="shape"/>
          <p:cNvSpPr/>
          <p:nvPr/>
        </p:nvSpPr>
        <p:spPr>
          <a:xfrm>
            <a:off x="17145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shape"/>
          <p:cNvSpPr/>
          <p:nvPr/>
        </p:nvSpPr>
        <p:spPr>
          <a:xfrm>
            <a:off x="1943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shape"/>
          <p:cNvSpPr/>
          <p:nvPr/>
        </p:nvSpPr>
        <p:spPr>
          <a:xfrm>
            <a:off x="2171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"/>
          <p:cNvSpPr/>
          <p:nvPr/>
        </p:nvSpPr>
        <p:spPr>
          <a:xfrm>
            <a:off x="24003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"/>
          <p:cNvSpPr/>
          <p:nvPr/>
        </p:nvSpPr>
        <p:spPr>
          <a:xfrm>
            <a:off x="26289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shape"/>
          <p:cNvSpPr/>
          <p:nvPr/>
        </p:nvSpPr>
        <p:spPr>
          <a:xfrm>
            <a:off x="28575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shape"/>
          <p:cNvSpPr/>
          <p:nvPr/>
        </p:nvSpPr>
        <p:spPr>
          <a:xfrm>
            <a:off x="3086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shape"/>
          <p:cNvSpPr/>
          <p:nvPr/>
        </p:nvSpPr>
        <p:spPr>
          <a:xfrm>
            <a:off x="3314700" y="285750"/>
            <a:ext cx="323850" cy="47625"/>
          </a:xfrm>
          <a:prstGeom prst="roundRect">
            <a:avLst>
              <a:gd name="adj" fmla="val 50000"/>
            </a:avLst>
          </a:prstGeom>
          <a:solidFill>
            <a:srgbClr val="2F6BE0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shape"/>
          <p:cNvSpPr/>
          <p:nvPr/>
        </p:nvSpPr>
        <p:spPr>
          <a:xfrm>
            <a:off x="3695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text"/>
          <p:cNvSpPr txBox="1"/>
          <p:nvPr/>
        </p:nvSpPr>
        <p:spPr>
          <a:xfrm>
            <a:off x="800100" y="247650"/>
            <a:ext cx="105918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12 / 13</a:t>
            </a:r>
          </a:p>
        </p:txBody>
      </p:sp>
      <p:sp>
        <p:nvSpPr>
          <p:cNvPr id="18" name="shape"/>
          <p:cNvSpPr/>
          <p:nvPr/>
        </p:nvSpPr>
        <p:spPr>
          <a:xfrm>
            <a:off x="800100" y="2140744"/>
            <a:ext cx="381000" cy="23813"/>
          </a:xfrm>
          <a:prstGeom prst="roundRect">
            <a:avLst>
              <a:gd name="adj" fmla="val 50000"/>
            </a:avLst>
          </a:prstGeom>
          <a:solidFill>
            <a:srgbClr val="2F6BE0"/>
          </a:solidFill>
          <a:ln>
            <a:noFill/>
          </a:ln>
        </p:spPr>
        <p:txBody>
          <a:bodyPr/>
          <a:lstStyle/>
          <a:p/>
        </p:txBody>
      </p:sp>
      <p:sp>
        <p:nvSpPr>
          <p:cNvPr id="19" name="text"/>
          <p:cNvSpPr txBox="1"/>
          <p:nvPr/>
        </p:nvSpPr>
        <p:spPr>
          <a:xfrm>
            <a:off x="1295400" y="2076450"/>
            <a:ext cx="10096500" cy="21431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125" b="1" spc="260" dirty="0">
                <a:solidFill>
                  <a:srgbClr val="2F6BE0"/>
                </a:solidFill>
                <a:latin typeface="Consolas" pitchFamily="34" charset="0"/>
              </a:rPr>
              <a:t>EXECUTION &amp; QUALITY</a:t>
            </a:r>
          </a:p>
        </p:txBody>
      </p:sp>
      <p:sp>
        <p:nvSpPr>
          <p:cNvPr id="20" name="text"/>
          <p:cNvSpPr txBox="1"/>
          <p:nvPr/>
        </p:nvSpPr>
        <p:spPr>
          <a:xfrm>
            <a:off x="800100" y="2362200"/>
            <a:ext cx="7414260" cy="11049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825" b="1" dirty="0">
                <a:solidFill>
                  <a:srgbClr val="0D1424"/>
                </a:solidFill>
                <a:latin typeface="Segoe UI" pitchFamily="34" charset="0"/>
              </a:rPr>
              <a:t>Every feature runs end to end.</a:t>
            </a:r>
          </a:p>
        </p:txBody>
      </p:sp>
      <p:sp>
        <p:nvSpPr>
          <p:cNvPr id="21" name="shape"/>
          <p:cNvSpPr/>
          <p:nvPr/>
        </p:nvSpPr>
        <p:spPr>
          <a:xfrm>
            <a:off x="800100" y="3695700"/>
            <a:ext cx="2519363" cy="142875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2" name="text"/>
          <p:cNvSpPr txBox="1"/>
          <p:nvPr/>
        </p:nvSpPr>
        <p:spPr>
          <a:xfrm>
            <a:off x="990600" y="3924300"/>
            <a:ext cx="2138363" cy="590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3825" b="1" dirty="0">
                <a:solidFill>
                  <a:srgbClr val="0D1424"/>
                </a:solidFill>
                <a:latin typeface="Segoe UI" pitchFamily="34" charset="0"/>
              </a:rPr>
              <a:t>238</a:t>
            </a:r>
          </a:p>
        </p:txBody>
      </p:sp>
      <p:sp>
        <p:nvSpPr>
          <p:cNvPr id="23" name="text"/>
          <p:cNvSpPr txBox="1"/>
          <p:nvPr/>
        </p:nvSpPr>
        <p:spPr>
          <a:xfrm>
            <a:off x="990600" y="4610100"/>
            <a:ext cx="2138363" cy="381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buNone/>
            </a:pPr>
            <a:r>
              <a:rPr lang="en-US" sz="1013" b="0" dirty="0">
                <a:solidFill>
                  <a:srgbClr val="566384"/>
                </a:solidFill>
                <a:latin typeface="Segoe UI" pitchFamily="34" charset="0"/>
              </a:rPr>
              <a:t>automated tests</a:t>
            </a:r>
          </a:p>
          <a:p>
            <a:pPr algn="l">
              <a:lnSpc>
                <a:spcPct val="135000"/>
              </a:lnSpc>
              <a:spcBef>
                <a:spcPts val="200"/>
              </a:spcBef>
              <a:buNone/>
            </a:pPr>
            <a:r>
              <a:rPr lang="en-US" sz="1013" b="0" dirty="0">
                <a:solidFill>
                  <a:srgbClr val="566384"/>
                </a:solidFill>
                <a:latin typeface="Segoe UI" pitchFamily="34" charset="0"/>
              </a:rPr>
              <a:t>104 contract · 134 agent</a:t>
            </a:r>
          </a:p>
        </p:txBody>
      </p:sp>
      <p:sp>
        <p:nvSpPr>
          <p:cNvPr id="24" name="shape"/>
          <p:cNvSpPr/>
          <p:nvPr/>
        </p:nvSpPr>
        <p:spPr>
          <a:xfrm>
            <a:off x="3490913" y="3695700"/>
            <a:ext cx="2519363" cy="142875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5" name="text"/>
          <p:cNvSpPr txBox="1"/>
          <p:nvPr/>
        </p:nvSpPr>
        <p:spPr>
          <a:xfrm>
            <a:off x="3681413" y="3924300"/>
            <a:ext cx="2138363" cy="590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3825" b="1" dirty="0">
                <a:solidFill>
                  <a:srgbClr val="0F9D6B"/>
                </a:solidFill>
                <a:latin typeface="Segoe UI" pitchFamily="34" charset="0"/>
              </a:rPr>
              <a:t>CI</a:t>
            </a:r>
          </a:p>
        </p:txBody>
      </p:sp>
      <p:sp>
        <p:nvSpPr>
          <p:cNvPr id="26" name="text"/>
          <p:cNvSpPr txBox="1"/>
          <p:nvPr/>
        </p:nvSpPr>
        <p:spPr>
          <a:xfrm>
            <a:off x="3681413" y="4610100"/>
            <a:ext cx="2138363" cy="381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buNone/>
            </a:pPr>
            <a:r>
              <a:rPr lang="en-US" sz="1013" b="0" dirty="0">
                <a:solidFill>
                  <a:srgbClr val="566384"/>
                </a:solidFill>
                <a:latin typeface="Segoe UI" pitchFamily="34" charset="0"/>
              </a:rPr>
              <a:t>full agentic scenario</a:t>
            </a:r>
          </a:p>
          <a:p>
            <a:pPr algn="l">
              <a:lnSpc>
                <a:spcPct val="135000"/>
              </a:lnSpc>
              <a:spcBef>
                <a:spcPts val="200"/>
              </a:spcBef>
              <a:buNone/>
            </a:pPr>
            <a:r>
              <a:rPr lang="en-US" sz="1013" b="0" dirty="0">
                <a:solidFill>
                  <a:srgbClr val="566384"/>
                </a:solidFill>
                <a:latin typeface="Segoe UI" pitchFamily="34" charset="0"/>
              </a:rPr>
              <a:t>on every push</a:t>
            </a:r>
          </a:p>
        </p:txBody>
      </p:sp>
      <p:sp>
        <p:nvSpPr>
          <p:cNvPr id="27" name="shape"/>
          <p:cNvSpPr/>
          <p:nvPr/>
        </p:nvSpPr>
        <p:spPr>
          <a:xfrm>
            <a:off x="6181725" y="3695700"/>
            <a:ext cx="2519363" cy="142875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8" name="text"/>
          <p:cNvSpPr txBox="1"/>
          <p:nvPr/>
        </p:nvSpPr>
        <p:spPr>
          <a:xfrm>
            <a:off x="6372225" y="3924300"/>
            <a:ext cx="2138363" cy="590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3825" b="1" dirty="0">
                <a:solidFill>
                  <a:srgbClr val="0D1424"/>
                </a:solidFill>
                <a:latin typeface="Segoe UI" pitchFamily="34" charset="0"/>
              </a:rPr>
              <a:t>1</a:t>
            </a:r>
          </a:p>
        </p:txBody>
      </p:sp>
      <p:sp>
        <p:nvSpPr>
          <p:cNvPr id="29" name="text"/>
          <p:cNvSpPr txBox="1"/>
          <p:nvPr/>
        </p:nvSpPr>
        <p:spPr>
          <a:xfrm>
            <a:off x="6372225" y="4610100"/>
            <a:ext cx="2138363" cy="381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buNone/>
            </a:pPr>
            <a:r>
              <a:rPr lang="en-US" sz="1013" b="0" dirty="0">
                <a:solidFill>
                  <a:srgbClr val="566384"/>
                </a:solidFill>
                <a:latin typeface="Segoe UI" pitchFamily="34" charset="0"/>
              </a:rPr>
              <a:t>command to deploy live</a:t>
            </a:r>
          </a:p>
          <a:p>
            <a:pPr algn="l">
              <a:lnSpc>
                <a:spcPct val="135000"/>
              </a:lnSpc>
              <a:spcBef>
                <a:spcPts val="200"/>
              </a:spcBef>
              <a:buNone/>
            </a:pPr>
            <a:r>
              <a:rPr lang="en-US" sz="1013" b="0" dirty="0">
                <a:solidFill>
                  <a:srgbClr val="566384"/>
                </a:solidFill>
                <a:latin typeface="Segoe UI" pitchFamily="34" charset="0"/>
              </a:rPr>
              <a:t>bootstrap:arc</a:t>
            </a:r>
          </a:p>
        </p:txBody>
      </p:sp>
      <p:sp>
        <p:nvSpPr>
          <p:cNvPr id="30" name="shape"/>
          <p:cNvSpPr/>
          <p:nvPr/>
        </p:nvSpPr>
        <p:spPr>
          <a:xfrm>
            <a:off x="8872538" y="3695700"/>
            <a:ext cx="2519363" cy="142875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31" name="text"/>
          <p:cNvSpPr txBox="1"/>
          <p:nvPr/>
        </p:nvSpPr>
        <p:spPr>
          <a:xfrm>
            <a:off x="9063038" y="3924300"/>
            <a:ext cx="2138363" cy="590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3825" b="1" dirty="0">
                <a:solidFill>
                  <a:srgbClr val="2F6BE0"/>
                </a:solidFill>
                <a:latin typeface="Segoe UI" pitchFamily="34" charset="0"/>
              </a:rPr>
              <a:t>Live</a:t>
            </a:r>
          </a:p>
        </p:txBody>
      </p:sp>
      <p:sp>
        <p:nvSpPr>
          <p:cNvPr id="32" name="text"/>
          <p:cNvSpPr txBox="1"/>
          <p:nvPr/>
        </p:nvSpPr>
        <p:spPr>
          <a:xfrm>
            <a:off x="9063038" y="4610100"/>
            <a:ext cx="2138363" cy="381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buNone/>
            </a:pPr>
            <a:r>
              <a:rPr lang="en-US" sz="1013" b="0" dirty="0">
                <a:solidFill>
                  <a:srgbClr val="566384"/>
                </a:solidFill>
                <a:latin typeface="Segoe UI" pitchFamily="34" charset="0"/>
              </a:rPr>
              <a:t>deployed &amp; transacting</a:t>
            </a:r>
          </a:p>
          <a:p>
            <a:pPr algn="l">
              <a:lnSpc>
                <a:spcPct val="135000"/>
              </a:lnSpc>
              <a:spcBef>
                <a:spcPts val="200"/>
              </a:spcBef>
              <a:buNone/>
            </a:pPr>
            <a:r>
              <a:rPr lang="en-US" sz="1013" b="0" dirty="0">
                <a:solidFill>
                  <a:srgbClr val="566384"/>
                </a:solidFill>
                <a:latin typeface="Segoe UI" pitchFamily="34" charset="0"/>
              </a:rPr>
              <a:t>on Arc testnet</a:t>
            </a:r>
          </a:p>
        </p:txBody>
      </p:sp>
      <p:sp>
        <p:nvSpPr>
          <p:cNvPr id="33" name="shape"/>
          <p:cNvSpPr/>
          <p:nvPr/>
        </p:nvSpPr>
        <p:spPr>
          <a:xfrm>
            <a:off x="800100" y="6438900"/>
            <a:ext cx="10591800" cy="9525"/>
          </a:xfrm>
          <a:prstGeom prst="rect">
            <a:avLst/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34" name="text"/>
          <p:cNvSpPr txBox="1"/>
          <p:nvPr/>
        </p:nvSpPr>
        <p:spPr>
          <a:xfrm>
            <a:off x="800100" y="6572250"/>
            <a:ext cx="52959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EXECUTION</a:t>
            </a:r>
          </a:p>
        </p:txBody>
      </p:sp>
      <p:sp>
        <p:nvSpPr>
          <p:cNvPr id="35" name="text"/>
          <p:cNvSpPr txBox="1"/>
          <p:nvPr/>
        </p:nvSpPr>
        <p:spPr>
          <a:xfrm>
            <a:off x="6096000" y="6572250"/>
            <a:ext cx="52959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TESSERA · ARC TESTNET · USDC-NATIVE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E7EBF5"/>
              </a:gs>
              <a:gs pos="100000">
                <a:srgbClr val="EEF1F8"/>
              </a:gs>
            </a:gsLst>
            <a:lin ang="5400000" scaled="0"/>
          </a:gradFill>
          <a:ln>
            <a:noFill/>
          </a:ln>
        </p:spPr>
        <p:txBody>
          <a:bodyPr/>
          <a:lstStyle/>
          <a:p/>
        </p:txBody>
      </p:sp>
      <p:sp>
        <p:nvSpPr>
          <p:cNvPr id="3" name="shape"/>
          <p:cNvSpPr/>
          <p:nvPr/>
        </p:nvSpPr>
        <p:spPr>
          <a:xfrm>
            <a:off x="6667500" y="-2857500"/>
            <a:ext cx="8572500" cy="6667500"/>
          </a:xfrm>
          <a:prstGeom prst="ellipse">
            <a:avLst/>
          </a:prstGeom>
          <a:gradFill rotWithShape="0">
            <a:gsLst>
              <a:gs pos="0">
                <a:srgbClr val="2F6BE0">
                  <a:alpha val="13000"/>
                </a:srgbClr>
              </a:gs>
              <a:gs pos="100000">
                <a:srgbClr val="2F6BE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/>
          <a:lstStyle/>
          <a:p/>
        </p:txBody>
      </p:sp>
      <p:sp>
        <p:nvSpPr>
          <p:cNvPr id="4" name="shape"/>
          <p:cNvSpPr/>
          <p:nvPr/>
        </p:nvSpPr>
        <p:spPr>
          <a:xfrm>
            <a:off x="800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shape"/>
          <p:cNvSpPr/>
          <p:nvPr/>
        </p:nvSpPr>
        <p:spPr>
          <a:xfrm>
            <a:off x="1028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shape"/>
          <p:cNvSpPr/>
          <p:nvPr/>
        </p:nvSpPr>
        <p:spPr>
          <a:xfrm>
            <a:off x="12573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shape"/>
          <p:cNvSpPr/>
          <p:nvPr/>
        </p:nvSpPr>
        <p:spPr>
          <a:xfrm>
            <a:off x="14859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8" name="shape"/>
          <p:cNvSpPr/>
          <p:nvPr/>
        </p:nvSpPr>
        <p:spPr>
          <a:xfrm>
            <a:off x="17145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shape"/>
          <p:cNvSpPr/>
          <p:nvPr/>
        </p:nvSpPr>
        <p:spPr>
          <a:xfrm>
            <a:off x="1943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shape"/>
          <p:cNvSpPr/>
          <p:nvPr/>
        </p:nvSpPr>
        <p:spPr>
          <a:xfrm>
            <a:off x="2171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"/>
          <p:cNvSpPr/>
          <p:nvPr/>
        </p:nvSpPr>
        <p:spPr>
          <a:xfrm>
            <a:off x="24003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"/>
          <p:cNvSpPr/>
          <p:nvPr/>
        </p:nvSpPr>
        <p:spPr>
          <a:xfrm>
            <a:off x="26289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shape"/>
          <p:cNvSpPr/>
          <p:nvPr/>
        </p:nvSpPr>
        <p:spPr>
          <a:xfrm>
            <a:off x="28575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shape"/>
          <p:cNvSpPr/>
          <p:nvPr/>
        </p:nvSpPr>
        <p:spPr>
          <a:xfrm>
            <a:off x="3086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shape"/>
          <p:cNvSpPr/>
          <p:nvPr/>
        </p:nvSpPr>
        <p:spPr>
          <a:xfrm>
            <a:off x="3314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shape"/>
          <p:cNvSpPr/>
          <p:nvPr/>
        </p:nvSpPr>
        <p:spPr>
          <a:xfrm>
            <a:off x="3543300" y="285750"/>
            <a:ext cx="323850" cy="47625"/>
          </a:xfrm>
          <a:prstGeom prst="roundRect">
            <a:avLst>
              <a:gd name="adj" fmla="val 50000"/>
            </a:avLst>
          </a:prstGeom>
          <a:solidFill>
            <a:srgbClr val="2F6BE0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text"/>
          <p:cNvSpPr txBox="1"/>
          <p:nvPr/>
        </p:nvSpPr>
        <p:spPr>
          <a:xfrm>
            <a:off x="800100" y="247650"/>
            <a:ext cx="105918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13 / 13</a:t>
            </a:r>
          </a:p>
        </p:txBody>
      </p:sp>
      <p:sp>
        <p:nvSpPr>
          <p:cNvPr id="18" name="shape"/>
          <p:cNvSpPr/>
          <p:nvPr/>
        </p:nvSpPr>
        <p:spPr>
          <a:xfrm>
            <a:off x="800100" y="2169319"/>
            <a:ext cx="381000" cy="23813"/>
          </a:xfrm>
          <a:prstGeom prst="roundRect">
            <a:avLst>
              <a:gd name="adj" fmla="val 50000"/>
            </a:avLst>
          </a:prstGeom>
          <a:solidFill>
            <a:srgbClr val="2F6BE0"/>
          </a:solidFill>
          <a:ln>
            <a:noFill/>
          </a:ln>
        </p:spPr>
        <p:txBody>
          <a:bodyPr/>
          <a:lstStyle/>
          <a:p/>
        </p:txBody>
      </p:sp>
      <p:sp>
        <p:nvSpPr>
          <p:cNvPr id="19" name="text"/>
          <p:cNvSpPr txBox="1"/>
          <p:nvPr/>
        </p:nvSpPr>
        <p:spPr>
          <a:xfrm>
            <a:off x="1295400" y="2105025"/>
            <a:ext cx="10096500" cy="21431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125" b="1" spc="260" dirty="0">
                <a:solidFill>
                  <a:srgbClr val="2F6BE0"/>
                </a:solidFill>
                <a:latin typeface="Consolas" pitchFamily="34" charset="0"/>
              </a:rPr>
              <a:t>THE VISION</a:t>
            </a:r>
          </a:p>
        </p:txBody>
      </p:sp>
      <p:sp>
        <p:nvSpPr>
          <p:cNvPr id="20" name="text"/>
          <p:cNvSpPr txBox="1"/>
          <p:nvPr/>
        </p:nvSpPr>
        <p:spPr>
          <a:xfrm>
            <a:off x="800100" y="2390775"/>
            <a:ext cx="8685276" cy="11525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buNone/>
            </a:pPr>
            <a:r>
              <a:rPr lang="en-US" sz="3750" b="1" dirty="0">
                <a:solidFill>
                  <a:srgbClr val="0D1424"/>
                </a:solidFill>
                <a:latin typeface="Segoe UI" pitchFamily="34" charset="0"/>
              </a:rPr>
              <a:t>The settlement rail for agent-to-agent commerce.</a:t>
            </a:r>
          </a:p>
        </p:txBody>
      </p:sp>
      <p:sp>
        <p:nvSpPr>
          <p:cNvPr id="21" name="text"/>
          <p:cNvSpPr txBox="1"/>
          <p:nvPr/>
        </p:nvSpPr>
        <p:spPr>
          <a:xfrm>
            <a:off x="800100" y="3676650"/>
            <a:ext cx="6566916" cy="1038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  <a:buNone/>
            </a:pPr>
            <a:r>
              <a:rPr lang="en-US" sz="1800" b="0" dirty="0">
                <a:solidFill>
                  <a:srgbClr val="566384"/>
                </a:solidFill>
                <a:latin typeface="Segoe UI" pitchFamily="34" charset="0"/>
              </a:rPr>
              <a:t>Escrow, refunds, staking and reputation that make autonomous commerce safe. Next: real providers, a discovery registry, reputation staking.</a:t>
            </a:r>
          </a:p>
        </p:txBody>
      </p:sp>
      <p:sp>
        <p:nvSpPr>
          <p:cNvPr id="22" name="text"/>
          <p:cNvSpPr txBox="1"/>
          <p:nvPr/>
        </p:nvSpPr>
        <p:spPr>
          <a:xfrm>
            <a:off x="800100" y="4886325"/>
            <a:ext cx="10591800" cy="209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125" b="0" dirty="0">
                <a:solidFill>
                  <a:srgbClr val="2F6BE0"/>
                </a:solidFill>
                <a:latin typeface="Consolas" pitchFamily="34" charset="0"/>
              </a:rPr>
              <a:t>github.com/rgdtnhat/arc   ·   live on Arc testnet</a:t>
            </a:r>
          </a:p>
        </p:txBody>
      </p:sp>
      <p:sp>
        <p:nvSpPr>
          <p:cNvPr id="23" name="shape"/>
          <p:cNvSpPr/>
          <p:nvPr/>
        </p:nvSpPr>
        <p:spPr>
          <a:xfrm>
            <a:off x="800100" y="6438900"/>
            <a:ext cx="10591800" cy="9525"/>
          </a:xfrm>
          <a:prstGeom prst="rect">
            <a:avLst/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24" name="text"/>
          <p:cNvSpPr txBox="1"/>
          <p:nvPr/>
        </p:nvSpPr>
        <p:spPr>
          <a:xfrm>
            <a:off x="800100" y="6572250"/>
            <a:ext cx="52959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THE VISION</a:t>
            </a:r>
          </a:p>
        </p:txBody>
      </p:sp>
      <p:sp>
        <p:nvSpPr>
          <p:cNvPr id="25" name="text"/>
          <p:cNvSpPr txBox="1"/>
          <p:nvPr/>
        </p:nvSpPr>
        <p:spPr>
          <a:xfrm>
            <a:off x="6096000" y="6572250"/>
            <a:ext cx="52959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TESSERA · ARC TESTNET · USDC-NATIVE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2F6BE0"/>
      </a:accent1>
      <a:accent2>
        <a:srgbClr val="38BDF8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13</Slides>
  <Paragraphs>52</Paragraphs>
  <TitlesOfParts>
    <vt:vector size="13" baseType="lpstr">
      <vt:lpstr>TESSERA</vt:lpstr>
      <vt:lpstr>THE PROBLEM</vt:lpstr>
      <vt:lpstr>THE INSIGHT</vt:lpstr>
      <vt:lpstr>HOW IT WORKS</vt:lpstr>
      <vt:lpstr>DIFFERENTIATORS</vt:lpstr>
      <vt:lpstr>THE DEFI STACK</vt:lpstr>
      <vt:lpstr>GUARDRAILS</vt:lpstr>
      <vt:lpstr>AGENT WORKSPACE</vt:lpstr>
      <vt:lpstr>LIVE RUN</vt:lpstr>
      <vt:lpstr>ON-CHAIN PROOF</vt:lpstr>
      <vt:lpstr>WHY ARC</vt:lpstr>
      <vt:lpstr>EXECUTION</vt:lpstr>
      <vt:lpstr>THE VISION</vt:lpstr>
    </vt:vector>
  </TitlesOfParts>
  <Company/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Tessera — trustless pay-per-use commerce for AI agents on Arc</dc:title>
  <dc:subject>Agentic payments, escrow with SLA refunds, and the DeFi rails that fund them</dc:subject>
  <dcterms:created xsi:type="dcterms:W3CDTF">2026-07-26T17:16:50Z</dcterms:created>
  <dcterms:modified xsi:type="dcterms:W3CDTF">2026-07-26T17:16:50Z</dcterms:modified>
</cp:coreProperties>
</file>