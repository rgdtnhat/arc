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theme" Target="theme/theme1.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a:xfrm>
            <a:off x="685800" y="685800"/>
            <a:ext cx="5486400" cy="6172200"/>
          </a:xfrm>
          <a:prstGeom prst="rect">
            <a:avLst/>
          </a:prstGeom>
        </p:spPr>
        <p:txBody>
          <a:bodyPr/>
          <a:lstStyle/>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Open on the problem, not the product. An agent today can only buy from a service a human already set up an account and a card for. Tessera is the trust layer that removes that step.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Solve only one side of the trust problem and you still have a curated vendor list. Both sides have to be solved at once, and that is what escrow plus a delivery guarantee does.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whole pitch in one line. Anyone can move USDC. What is missing is the ability to get it back automatically when the other side fails to deliver.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Walk the four steps. The one that matters is step four: the refund is enforced by the contract, not by a dispute process or by trusting the counterparty.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Each of these is running end to end, not stubbed. The staking one is the answer to “why would an agent trust an unknown provider” — because the provider has money at risk.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point of this slide is that the DeFi is not decoration. An agent that earns fees needs somewhere to put them and somewhere to borrow from when it is short.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slide a technical judge will care about. Every line is a thing that cannot be done even with the deployer key, which is what makes the trust assumption bounded.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Worth saying out loud: the analysis tab computes from the prices in the other tabs and says so. We deliberately did not generate market commentary, because that would be invented.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refund and the slash are the two to point at. Everything else a payment rail can do; getting the money back and taking it out of the counterparty's bond is the part that is new.</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Have the explorer open. The refund transaction is the one to show — it is the differentiator made concrete.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gas-token point is the one people miss. On a normal chain an agent needs two assets and a top-up strategy for the one it does not earn.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Close the credibility gap here. The honest caveat belongs in this slide too: unaudited testnet software, and we say so in the app itself.</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End on the market, not the feature list. Every agent that buys anything needs this, and today each of them re-implements a worse version of it.</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0F17"/>
        </a:solidFill>
        <a:effectLst/>
      </p:bgPr>
    </p:bg>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bg"/>
          <p:cNvSpPr/>
          <p:nvPr/>
        </p:nvSpPr>
        <p:spPr>
          <a:xfrm>
            <a:off x="0" y="0"/>
            <a:ext cx="12192000" cy="6858000"/>
          </a:xfrm>
          <a:prstGeom prst="rect">
            <a:avLst/>
          </a:prstGeom>
          <a:solidFill>
            <a:srgbClr val="0B0F17"/>
          </a:solidFill>
          <a:ln>
            <a:noFill/>
          </a:ln>
        </p:spPr>
        <p:txBody>
          <a:bodyPr/>
          <a:lstStyle/>
          <a:p/>
        </p:txBody>
      </p:sp>
      <p:sp>
        <p:nvSpPr>
          <p:cNvPr id="502" name="bg"/>
          <p:cNvSpPr/>
          <p:nvPr/>
        </p:nvSpPr>
        <p:spPr>
          <a:xfrm>
            <a:off x="0" y="0"/>
            <a:ext cx="12192000" cy="57150"/>
          </a:xfrm>
          <a:prstGeom prst="rect">
            <a:avLst/>
          </a:prstGeom>
          <a:solidFill>
            <a:srgbClr val="2F6BE0"/>
          </a:solidFill>
          <a:ln>
            <a:noFill/>
          </a:ln>
        </p:spPr>
        <p:txBody>
          <a:bodyPr/>
          <a:lstStyle/>
          <a:p/>
        </p:txBody>
      </p:sp>
      <p:sp>
        <p:nvSpPr>
          <p:cNvPr id="2"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TESSERA</a:t>
            </a:r>
          </a:p>
        </p:txBody>
      </p:sp>
      <p:sp>
        <p:nvSpPr>
          <p:cNvPr id="3" name="tx"/>
          <p:cNvSpPr txBox="1"/>
          <p:nvPr/>
        </p:nvSpPr>
        <p:spPr>
          <a:xfrm>
            <a:off x="762000" y="1104900"/>
            <a:ext cx="10668000" cy="266700"/>
          </a:xfrm>
          <a:prstGeom prst="rect">
            <a:avLst/>
          </a:prstGeom>
          <a:noFill/>
        </p:spPr>
        <p:txBody>
          <a:bodyPr wrap="square" anchor="t">
            <a:normAutofit/>
          </a:bodyPr>
          <a:lstStyle/>
          <a:p>
            <a:pPr algn="l">
              <a:buNone/>
            </a:pPr>
            <a:r>
              <a:rPr lang="en-US" sz="1200" b="0" dirty="0">
                <a:solidFill>
                  <a:srgbClr val="93A4BF"/>
                </a:solidFill>
                <a:latin typeface="Segoe UI" pitchFamily="34" charset="0"/>
              </a:rPr>
              <a:t>Live on Arc testnet · USDC-native</a:t>
            </a:r>
          </a:p>
        </p:txBody>
      </p:sp>
      <p:sp>
        <p:nvSpPr>
          <p:cNvPr id="4" name="tx"/>
          <p:cNvSpPr txBox="1"/>
          <p:nvPr/>
        </p:nvSpPr>
        <p:spPr>
          <a:xfrm>
            <a:off x="762000" y="146685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Money for machines.</a:t>
            </a:r>
          </a:p>
        </p:txBody>
      </p:sp>
      <p:sp>
        <p:nvSpPr>
          <p:cNvPr id="5" name="tx"/>
          <p:cNvSpPr txBox="1"/>
          <p:nvPr/>
        </p:nvSpPr>
        <p:spPr>
          <a:xfrm>
            <a:off x="762000" y="260985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Trustless pay-per-use commerce for AI agents — plus the DeFi rails that fund it. Settled on Arc in USDC.</a:t>
            </a:r>
          </a:p>
        </p:txBody>
      </p:sp>
      <p:sp>
        <p:nvSpPr>
          <p:cNvPr id="6"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7"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01 / 13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3" name="bg"/>
          <p:cNvSpPr/>
          <p:nvPr/>
        </p:nvSpPr>
        <p:spPr>
          <a:xfrm>
            <a:off x="0" y="0"/>
            <a:ext cx="12192000" cy="6858000"/>
          </a:xfrm>
          <a:prstGeom prst="rect">
            <a:avLst/>
          </a:prstGeom>
          <a:solidFill>
            <a:srgbClr val="0B0F17"/>
          </a:solidFill>
          <a:ln>
            <a:noFill/>
          </a:ln>
        </p:spPr>
        <p:txBody>
          <a:bodyPr/>
          <a:lstStyle/>
          <a:p/>
        </p:txBody>
      </p:sp>
      <p:sp>
        <p:nvSpPr>
          <p:cNvPr id="504" name="bg"/>
          <p:cNvSpPr/>
          <p:nvPr/>
        </p:nvSpPr>
        <p:spPr>
          <a:xfrm>
            <a:off x="0" y="0"/>
            <a:ext cx="12192000" cy="57150"/>
          </a:xfrm>
          <a:prstGeom prst="rect">
            <a:avLst/>
          </a:prstGeom>
          <a:solidFill>
            <a:srgbClr val="2F6BE0"/>
          </a:solidFill>
          <a:ln>
            <a:noFill/>
          </a:ln>
        </p:spPr>
        <p:txBody>
          <a:bodyPr/>
          <a:lstStyle/>
          <a:p/>
        </p:txBody>
      </p:sp>
      <p:sp>
        <p:nvSpPr>
          <p:cNvPr id="8"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PROBLEM</a:t>
            </a:r>
          </a:p>
        </p:txBody>
      </p:sp>
      <p:sp>
        <p:nvSpPr>
          <p:cNvPr id="9"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Agents can't pay strangers.</a:t>
            </a:r>
          </a:p>
        </p:txBody>
      </p:sp>
      <p:sp>
        <p:nvSpPr>
          <p:cNvPr id="10"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An agent can only buy from a service a human already onboarded.</a:t>
            </a:r>
          </a:p>
        </p:txBody>
      </p:sp>
      <p:sp>
        <p:nvSpPr>
          <p:cNvPr id="11" name="tx"/>
          <p:cNvSpPr txBox="1"/>
          <p:nvPr/>
        </p:nvSpPr>
        <p:spPr>
          <a:xfrm>
            <a:off x="762000" y="3200400"/>
            <a:ext cx="10668000"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Trust runs both ways</a:t>
            </a:r>
          </a:p>
          <a:p>
            <a:pPr algn="l">
              <a:buNone/>
            </a:pPr>
            <a:r>
              <a:rPr lang="en-US" sz="1150" b="0" dirty="0">
                <a:solidFill>
                  <a:srgbClr val="93A4BF"/>
                </a:solidFill>
                <a:latin typeface="Segoe UI" pitchFamily="34" charset="0"/>
              </a:rPr>
              <a:t>The service can't tell the agent will pay. The agent can't tell the service will deliver.</a:t>
            </a:r>
          </a:p>
          <a:p>
            <a:pPr algn="l">
              <a:spcBef>
                <a:spcPts val="700"/>
              </a:spcBef>
              <a:buNone/>
            </a:pPr>
            <a:r>
              <a:rPr lang="en-US" sz="1400" b="1" dirty="0">
                <a:solidFill>
                  <a:srgbClr val="E6EDF7"/>
                </a:solidFill>
                <a:latin typeface="Segoe UI" pitchFamily="34" charset="0"/>
              </a:rPr>
              <a:t>So: pre-funded vendors only</a:t>
            </a:r>
          </a:p>
          <a:p>
            <a:pPr algn="l">
              <a:buNone/>
            </a:pPr>
            <a:r>
              <a:rPr lang="en-US" sz="1150" b="0" dirty="0">
                <a:solidFill>
                  <a:srgbClr val="93A4BF"/>
                </a:solidFill>
                <a:latin typeface="Segoe UI" pitchFamily="34" charset="0"/>
              </a:rPr>
              <a:t>Agents are boxed into a hand-curated list of pre-approved suppliers.</a:t>
            </a:r>
          </a:p>
          <a:p>
            <a:pPr algn="l">
              <a:spcBef>
                <a:spcPts val="700"/>
              </a:spcBef>
              <a:buNone/>
            </a:pPr>
            <a:r>
              <a:rPr lang="en-US" sz="1400" b="1" dirty="0">
                <a:solidFill>
                  <a:srgbClr val="E6EDF7"/>
                </a:solidFill>
                <a:latin typeface="Segoe UI" pitchFamily="34" charset="0"/>
              </a:rPr>
              <a:t>That isn't an economy</a:t>
            </a:r>
          </a:p>
          <a:p>
            <a:pPr algn="l">
              <a:buNone/>
            </a:pPr>
            <a:r>
              <a:rPr lang="en-US" sz="1150" b="0" dirty="0">
                <a:solidFill>
                  <a:srgbClr val="93A4BF"/>
                </a:solidFill>
                <a:latin typeface="Segoe UI" pitchFamily="34" charset="0"/>
              </a:rPr>
              <a:t>Machine-to-machine commerce needs strangers to transact safely.</a:t>
            </a:r>
          </a:p>
        </p:txBody>
      </p:sp>
      <p:sp>
        <p:nvSpPr>
          <p:cNvPr id="12"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13"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02 / 13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bg"/>
          <p:cNvSpPr/>
          <p:nvPr/>
        </p:nvSpPr>
        <p:spPr>
          <a:xfrm>
            <a:off x="0" y="0"/>
            <a:ext cx="12192000" cy="6858000"/>
          </a:xfrm>
          <a:prstGeom prst="rect">
            <a:avLst/>
          </a:prstGeom>
          <a:solidFill>
            <a:srgbClr val="0B0F17"/>
          </a:solidFill>
          <a:ln>
            <a:noFill/>
          </a:ln>
        </p:spPr>
        <p:txBody>
          <a:bodyPr/>
          <a:lstStyle/>
          <a:p/>
        </p:txBody>
      </p:sp>
      <p:sp>
        <p:nvSpPr>
          <p:cNvPr id="506" name="bg"/>
          <p:cNvSpPr/>
          <p:nvPr/>
        </p:nvSpPr>
        <p:spPr>
          <a:xfrm>
            <a:off x="0" y="0"/>
            <a:ext cx="12192000" cy="57150"/>
          </a:xfrm>
          <a:prstGeom prst="rect">
            <a:avLst/>
          </a:prstGeom>
          <a:solidFill>
            <a:srgbClr val="2F6BE0"/>
          </a:solidFill>
          <a:ln>
            <a:noFill/>
          </a:ln>
        </p:spPr>
        <p:txBody>
          <a:bodyPr/>
          <a:lstStyle/>
          <a:p/>
        </p:txBody>
      </p:sp>
      <p:sp>
        <p:nvSpPr>
          <p:cNvPr id="14"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INSIGHT</a:t>
            </a:r>
          </a:p>
        </p:txBody>
      </p:sp>
      <p:sp>
        <p:nvSpPr>
          <p:cNvPr id="15" name="tx"/>
          <p:cNvSpPr txBox="1"/>
          <p:nvPr/>
        </p:nvSpPr>
        <p:spPr>
          <a:xfrm>
            <a:off x="762000" y="1104900"/>
            <a:ext cx="10668000" cy="1428750"/>
          </a:xfrm>
          <a:prstGeom prst="rect">
            <a:avLst/>
          </a:prstGeom>
          <a:noFill/>
        </p:spPr>
        <p:txBody>
          <a:bodyPr wrap="square" anchor="t">
            <a:normAutofit/>
          </a:bodyPr>
          <a:lstStyle/>
          <a:p>
            <a:pPr algn="l">
              <a:buNone/>
            </a:pPr>
            <a:r>
              <a:rPr lang="en-US" sz="2800" b="1" dirty="0">
                <a:solidFill>
                  <a:srgbClr val="E6EDF7"/>
                </a:solidFill>
                <a:latin typeface="Segoe UI" pitchFamily="34" charset="0"/>
              </a:rPr>
              <a:t>The missing primitive isn't “send USDC.” It's escrow + SLA + reputation.</a:t>
            </a:r>
          </a:p>
        </p:txBody>
      </p:sp>
      <p:sp>
        <p:nvSpPr>
          <p:cNvPr id="16" name="tx"/>
          <p:cNvSpPr txBox="1"/>
          <p:nvPr/>
        </p:nvSpPr>
        <p:spPr>
          <a:xfrm>
            <a:off x="762000" y="253365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A raw transfer doesn't make a stranger safe to deal with. Programmable escrow — with a delivery guarantee and staked reputation attached — does.</a:t>
            </a:r>
          </a:p>
        </p:txBody>
      </p:sp>
      <p:sp>
        <p:nvSpPr>
          <p:cNvPr id="17"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18"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03 / 13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 name="bg"/>
          <p:cNvSpPr/>
          <p:nvPr/>
        </p:nvSpPr>
        <p:spPr>
          <a:xfrm>
            <a:off x="0" y="0"/>
            <a:ext cx="12192000" cy="6858000"/>
          </a:xfrm>
          <a:prstGeom prst="rect">
            <a:avLst/>
          </a:prstGeom>
          <a:solidFill>
            <a:srgbClr val="0B0F17"/>
          </a:solidFill>
          <a:ln>
            <a:noFill/>
          </a:ln>
        </p:spPr>
        <p:txBody>
          <a:bodyPr/>
          <a:lstStyle/>
          <a:p/>
        </p:txBody>
      </p:sp>
      <p:sp>
        <p:nvSpPr>
          <p:cNvPr id="508" name="bg"/>
          <p:cNvSpPr/>
          <p:nvPr/>
        </p:nvSpPr>
        <p:spPr>
          <a:xfrm>
            <a:off x="0" y="0"/>
            <a:ext cx="12192000" cy="57150"/>
          </a:xfrm>
          <a:prstGeom prst="rect">
            <a:avLst/>
          </a:prstGeom>
          <a:solidFill>
            <a:srgbClr val="2F6BE0"/>
          </a:solidFill>
          <a:ln>
            <a:noFill/>
          </a:ln>
        </p:spPr>
        <p:txBody>
          <a:bodyPr/>
          <a:lstStyle/>
          <a:p/>
        </p:txBody>
      </p:sp>
      <p:sp>
        <p:nvSpPr>
          <p:cNvPr id="19"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HOW IT WORKS</a:t>
            </a:r>
          </a:p>
        </p:txBody>
      </p:sp>
      <p:sp>
        <p:nvSpPr>
          <p:cNvPr id="20"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402 → decide → escrow → settle or refund</a:t>
            </a:r>
          </a:p>
        </p:txBody>
      </p:sp>
      <p:sp>
        <p:nvSpPr>
          <p:cNvPr id="21"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USDC is Arc's gas token, so the agent funds one asset for both the toll and the fees — and sub-second finality lets a payment settle inside the request.</a:t>
            </a:r>
          </a:p>
        </p:txBody>
      </p:sp>
      <p:sp>
        <p:nvSpPr>
          <p:cNvPr id="22"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01 Quote</a:t>
            </a:r>
          </a:p>
          <a:p>
            <a:pPr algn="l">
              <a:buNone/>
            </a:pPr>
            <a:r>
              <a:rPr lang="en-US" sz="1150" b="0" dirty="0">
                <a:solidFill>
                  <a:srgbClr val="93A4BF"/>
                </a:solidFill>
                <a:latin typeface="Segoe UI" pitchFamily="34" charset="0"/>
              </a:rPr>
              <a:t>Agent hits a paid endpoint → HTTP 402 plus an EIP-712 signed USDC price and SLA.</a:t>
            </a:r>
          </a:p>
          <a:p>
            <a:pPr algn="l">
              <a:spcBef>
                <a:spcPts val="700"/>
              </a:spcBef>
              <a:buNone/>
            </a:pPr>
            <a:r>
              <a:rPr lang="en-US" sz="1400" b="1" dirty="0">
                <a:solidFill>
                  <a:srgbClr val="E6EDF7"/>
                </a:solidFill>
                <a:latin typeface="Segoe UI" pitchFamily="34" charset="0"/>
              </a:rPr>
              <a:t>02 Decide</a:t>
            </a:r>
          </a:p>
          <a:p>
            <a:pPr algn="l">
              <a:buNone/>
            </a:pPr>
            <a:r>
              <a:rPr lang="en-US" sz="1150" b="0" dirty="0">
                <a:solidFill>
                  <a:srgbClr val="93A4BF"/>
                </a:solidFill>
                <a:latin typeface="Segoe UI" pitchFamily="34" charset="0"/>
              </a:rPr>
              <a:t>Rules (optionally an LLM) weigh budget, on-chain reputation, bonded stake and the agent's own memory.</a:t>
            </a:r>
          </a:p>
        </p:txBody>
      </p:sp>
      <p:sp>
        <p:nvSpPr>
          <p:cNvPr id="23"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03 Escrow</a:t>
            </a:r>
          </a:p>
          <a:p>
            <a:pPr algn="l">
              <a:buNone/>
            </a:pPr>
            <a:r>
              <a:rPr lang="en-US" sz="1150" b="0" dirty="0">
                <a:solidFill>
                  <a:srgbClr val="93A4BF"/>
                </a:solidFill>
                <a:latin typeface="Segoe UI" pitchFamily="34" charset="0"/>
              </a:rPr>
              <a:t>Locks a nano-sized USDC payment in TesseraEscrow on Arc.</a:t>
            </a:r>
          </a:p>
          <a:p>
            <a:pPr algn="l">
              <a:spcBef>
                <a:spcPts val="700"/>
              </a:spcBef>
              <a:buNone/>
            </a:pPr>
            <a:r>
              <a:rPr lang="en-US" sz="1400" b="1" dirty="0">
                <a:solidFill>
                  <a:srgbClr val="E6EDF7"/>
                </a:solidFill>
                <a:latin typeface="Segoe UI" pitchFamily="34" charset="0"/>
              </a:rPr>
              <a:t>04 Settle / refund</a:t>
            </a:r>
          </a:p>
          <a:p>
            <a:pPr algn="l">
              <a:buNone/>
            </a:pPr>
            <a:r>
              <a:rPr lang="en-US" sz="1150" b="0" dirty="0">
                <a:solidFill>
                  <a:srgbClr val="93A4BF"/>
                </a:solidFill>
                <a:latin typeface="Segoe UI" pitchFamily="34" charset="0"/>
              </a:rPr>
              <a:t>Delivered → released. SLA breach → reclaimed, and the provider's stake is slashed.</a:t>
            </a:r>
          </a:p>
        </p:txBody>
      </p:sp>
      <p:sp>
        <p:nvSpPr>
          <p:cNvPr id="24"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25"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04 / 13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bg"/>
          <p:cNvSpPr/>
          <p:nvPr/>
        </p:nvSpPr>
        <p:spPr>
          <a:xfrm>
            <a:off x="0" y="0"/>
            <a:ext cx="12192000" cy="6858000"/>
          </a:xfrm>
          <a:prstGeom prst="rect">
            <a:avLst/>
          </a:prstGeom>
          <a:solidFill>
            <a:srgbClr val="0B0F17"/>
          </a:solidFill>
          <a:ln>
            <a:noFill/>
          </a:ln>
        </p:spPr>
        <p:txBody>
          <a:bodyPr/>
          <a:lstStyle/>
          <a:p/>
        </p:txBody>
      </p:sp>
      <p:sp>
        <p:nvSpPr>
          <p:cNvPr id="510" name="bg"/>
          <p:cNvSpPr/>
          <p:nvPr/>
        </p:nvSpPr>
        <p:spPr>
          <a:xfrm>
            <a:off x="0" y="0"/>
            <a:ext cx="12192000" cy="57150"/>
          </a:xfrm>
          <a:prstGeom prst="rect">
            <a:avLst/>
          </a:prstGeom>
          <a:solidFill>
            <a:srgbClr val="2F6BE0"/>
          </a:solidFill>
          <a:ln>
            <a:noFill/>
          </a:ln>
        </p:spPr>
        <p:txBody>
          <a:bodyPr/>
          <a:lstStyle/>
          <a:p/>
        </p:txBody>
      </p:sp>
      <p:sp>
        <p:nvSpPr>
          <p:cNvPr id="26"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WHAT MAKES IT REAL</a:t>
            </a:r>
          </a:p>
        </p:txBody>
      </p:sp>
      <p:sp>
        <p:nvSpPr>
          <p:cNvPr id="27"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Guarantees, not promises.</a:t>
            </a:r>
          </a:p>
        </p:txBody>
      </p:sp>
      <p:sp>
        <p:nvSpPr>
          <p:cNvPr id="28"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Escrow + auto-refund</a:t>
            </a:r>
          </a:p>
          <a:p>
            <a:pPr algn="l">
              <a:buNone/>
            </a:pPr>
            <a:r>
              <a:rPr lang="en-US" sz="1150" b="0" dirty="0">
                <a:solidFill>
                  <a:srgbClr val="93A4BF"/>
                </a:solidFill>
                <a:latin typeface="Segoe UI" pitchFamily="34" charset="0"/>
              </a:rPr>
              <a:t>Delivery releases funds; an SLA breach reclaims them. Enforced by the contract.</a:t>
            </a:r>
          </a:p>
          <a:p>
            <a:pPr algn="l">
              <a:spcBef>
                <a:spcPts val="700"/>
              </a:spcBef>
              <a:buNone/>
            </a:pPr>
            <a:r>
              <a:rPr lang="en-US" sz="1400" b="1" dirty="0">
                <a:solidFill>
                  <a:srgbClr val="E6EDF7"/>
                </a:solidFill>
                <a:latin typeface="Segoe UI" pitchFamily="34" charset="0"/>
              </a:rPr>
              <a:t>Provider staking and slashing</a:t>
            </a:r>
          </a:p>
          <a:p>
            <a:pPr algn="l">
              <a:buNone/>
            </a:pPr>
            <a:r>
              <a:rPr lang="en-US" sz="1150" b="0" dirty="0">
                <a:solidFill>
                  <a:srgbClr val="93A4BF"/>
                </a:solidFill>
                <a:latin typeface="Segoe UI" pitchFamily="34" charset="0"/>
              </a:rPr>
              <a:t>Providers bond USDC. A breach slashes it to compensate the agent — real downside.</a:t>
            </a:r>
          </a:p>
        </p:txBody>
      </p:sp>
      <p:sp>
        <p:nvSpPr>
          <p:cNvPr id="29"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Nanopayment tabs</a:t>
            </a:r>
          </a:p>
          <a:p>
            <a:pPr algn="l">
              <a:buNone/>
            </a:pPr>
            <a:r>
              <a:rPr lang="en-US" sz="1150" b="0" dirty="0">
                <a:solidFill>
                  <a:srgbClr val="93A4BF"/>
                </a:solidFill>
                <a:latin typeface="Segoe UI" pitchFamily="34" charset="0"/>
              </a:rPr>
              <a:t>One deposit, many zero-gas signed vouchers, one settlement. Streams at nano-scale.</a:t>
            </a:r>
          </a:p>
          <a:p>
            <a:pPr algn="l">
              <a:spcBef>
                <a:spcPts val="700"/>
              </a:spcBef>
              <a:buNone/>
            </a:pPr>
            <a:r>
              <a:rPr lang="en-US" sz="1400" b="1" dirty="0">
                <a:solidFill>
                  <a:srgbClr val="E6EDF7"/>
                </a:solidFill>
                <a:latin typeface="Segoe UI" pitchFamily="34" charset="0"/>
              </a:rPr>
              <a:t>Guardian + trust memory</a:t>
            </a:r>
          </a:p>
          <a:p>
            <a:pPr algn="l">
              <a:buNone/>
            </a:pPr>
            <a:r>
              <a:rPr lang="en-US" sz="1150" b="0" dirty="0">
                <a:solidFill>
                  <a:srgbClr val="93A4BF"/>
                </a:solidFill>
                <a:latin typeface="Segoe UI" pitchFamily="34" charset="0"/>
              </a:rPr>
              <a:t>Large buys pause for a human co-signer; a provider that failed this agent is declined next time.</a:t>
            </a:r>
          </a:p>
        </p:txBody>
      </p:sp>
      <p:sp>
        <p:nvSpPr>
          <p:cNvPr id="30"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31"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05 / 13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1" name="bg"/>
          <p:cNvSpPr/>
          <p:nvPr/>
        </p:nvSpPr>
        <p:spPr>
          <a:xfrm>
            <a:off x="0" y="0"/>
            <a:ext cx="12192000" cy="6858000"/>
          </a:xfrm>
          <a:prstGeom prst="rect">
            <a:avLst/>
          </a:prstGeom>
          <a:solidFill>
            <a:srgbClr val="0B0F17"/>
          </a:solidFill>
          <a:ln>
            <a:noFill/>
          </a:ln>
        </p:spPr>
        <p:txBody>
          <a:bodyPr/>
          <a:lstStyle/>
          <a:p/>
        </p:txBody>
      </p:sp>
      <p:sp>
        <p:nvSpPr>
          <p:cNvPr id="512" name="bg"/>
          <p:cNvSpPr/>
          <p:nvPr/>
        </p:nvSpPr>
        <p:spPr>
          <a:xfrm>
            <a:off x="0" y="0"/>
            <a:ext cx="12192000" cy="57150"/>
          </a:xfrm>
          <a:prstGeom prst="rect">
            <a:avLst/>
          </a:prstGeom>
          <a:solidFill>
            <a:srgbClr val="2F6BE0"/>
          </a:solidFill>
          <a:ln>
            <a:noFill/>
          </a:ln>
        </p:spPr>
        <p:txBody>
          <a:bodyPr/>
          <a:lstStyle/>
          <a:p/>
        </p:txBody>
      </p:sp>
      <p:sp>
        <p:nvSpPr>
          <p:cNvPr id="32"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DEFI STACK</a:t>
            </a:r>
          </a:p>
        </p:txBody>
      </p:sp>
      <p:sp>
        <p:nvSpPr>
          <p:cNvPr id="33"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The rails that fund the agent.</a:t>
            </a:r>
          </a:p>
        </p:txBody>
      </p:sp>
      <p:sp>
        <p:nvSpPr>
          <p:cNvPr id="34"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An agent needs working capital. Tessera provides it natively rather than assuming a funded wallet.</a:t>
            </a:r>
          </a:p>
        </p:txBody>
      </p:sp>
      <p:sp>
        <p:nvSpPr>
          <p:cNvPr id="35"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Lending &amp; borrowing</a:t>
            </a:r>
          </a:p>
          <a:p>
            <a:pPr algn="l">
              <a:buNone/>
            </a:pPr>
            <a:r>
              <a:rPr lang="en-US" sz="1150" b="0" dirty="0">
                <a:solidFill>
                  <a:srgbClr val="93A4BF"/>
                </a:solidFill>
                <a:latin typeface="Segoe UI" pitchFamily="34" charset="0"/>
              </a:rPr>
              <a:t>Supply for yield or borrow against collateral. Kinked-utilisation interest, health-factor liquidation, per-action freeze controls.</a:t>
            </a:r>
          </a:p>
          <a:p>
            <a:pPr algn="l">
              <a:spcBef>
                <a:spcPts val="700"/>
              </a:spcBef>
              <a:buNone/>
            </a:pPr>
            <a:r>
              <a:rPr lang="en-US" sz="1400" b="1" dirty="0">
                <a:solidFill>
                  <a:srgbClr val="E6EDF7"/>
                </a:solidFill>
                <a:latin typeface="Segoe UI" pitchFamily="34" charset="0"/>
              </a:rPr>
              <a:t>Yield vault</a:t>
            </a:r>
          </a:p>
          <a:p>
            <a:pPr algn="l">
              <a:buNone/>
            </a:pPr>
            <a:r>
              <a:rPr lang="en-US" sz="1150" b="0" dirty="0">
                <a:solidFill>
                  <a:srgbClr val="93A4BF"/>
                </a:solidFill>
                <a:latin typeface="Segoe UI" pitchFamily="34" charset="0"/>
              </a:rPr>
              <a:t>80% held liquid by a contract floor no admin can lower. The app's fee touches yield only — never principal.</a:t>
            </a:r>
          </a:p>
        </p:txBody>
      </p:sp>
      <p:sp>
        <p:nvSpPr>
          <p:cNvPr id="36"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Swap desk</a:t>
            </a:r>
          </a:p>
          <a:p>
            <a:pPr algn="l">
              <a:buNone/>
            </a:pPr>
            <a:r>
              <a:rPr lang="en-US" sz="1150" b="0" dirty="0">
                <a:solidFill>
                  <a:srgbClr val="93A4BF"/>
                </a:solidFill>
                <a:latin typeface="Segoe UI" pitchFamily="34" charset="0"/>
              </a:rPr>
              <a:t>Oracle-priced swaps between pool assets, with the fee split configurable.</a:t>
            </a:r>
          </a:p>
          <a:p>
            <a:pPr algn="l">
              <a:spcBef>
                <a:spcPts val="700"/>
              </a:spcBef>
              <a:buNone/>
            </a:pPr>
            <a:r>
              <a:rPr lang="en-US" sz="1400" b="1" dirty="0">
                <a:solidFill>
                  <a:srgbClr val="E6EDF7"/>
                </a:solidFill>
                <a:latin typeface="Segoe UI" pitchFamily="34" charset="0"/>
              </a:rPr>
              <a:t>Liquidity pools (AMM)</a:t>
            </a:r>
          </a:p>
          <a:p>
            <a:pPr algn="l">
              <a:buNone/>
            </a:pPr>
            <a:r>
              <a:rPr lang="en-US" sz="1150" b="0" dirty="0">
                <a:solidFill>
                  <a:srgbClr val="93A4BF"/>
                </a:solidFill>
                <a:latin typeface="Segoe UI" pitchFamily="34" charset="0"/>
              </a:rPr>
              <a:t>Multi-asset pools where providers keep at least 50% of every swap fee — a constant in the contract, not a setting.</a:t>
            </a:r>
          </a:p>
        </p:txBody>
      </p:sp>
      <p:sp>
        <p:nvSpPr>
          <p:cNvPr id="37"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38"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06 / 13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bg"/>
          <p:cNvSpPr/>
          <p:nvPr/>
        </p:nvSpPr>
        <p:spPr>
          <a:xfrm>
            <a:off x="0" y="0"/>
            <a:ext cx="12192000" cy="6858000"/>
          </a:xfrm>
          <a:prstGeom prst="rect">
            <a:avLst/>
          </a:prstGeom>
          <a:solidFill>
            <a:srgbClr val="0B0F17"/>
          </a:solidFill>
          <a:ln>
            <a:noFill/>
          </a:ln>
        </p:spPr>
        <p:txBody>
          <a:bodyPr/>
          <a:lstStyle/>
          <a:p/>
        </p:txBody>
      </p:sp>
      <p:sp>
        <p:nvSpPr>
          <p:cNvPr id="514" name="bg"/>
          <p:cNvSpPr/>
          <p:nvPr/>
        </p:nvSpPr>
        <p:spPr>
          <a:xfrm>
            <a:off x="0" y="0"/>
            <a:ext cx="12192000" cy="57150"/>
          </a:xfrm>
          <a:prstGeom prst="rect">
            <a:avLst/>
          </a:prstGeom>
          <a:solidFill>
            <a:srgbClr val="2F6BE0"/>
          </a:solidFill>
          <a:ln>
            <a:noFill/>
          </a:ln>
        </p:spPr>
        <p:txBody>
          <a:bodyPr/>
          <a:lstStyle/>
          <a:p/>
        </p:txBody>
      </p:sp>
      <p:sp>
        <p:nvSpPr>
          <p:cNvPr id="39"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GUARDRAILS</a:t>
            </a:r>
          </a:p>
        </p:txBody>
      </p:sp>
      <p:sp>
        <p:nvSpPr>
          <p:cNvPr id="40"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What an operator cannot do.</a:t>
            </a:r>
          </a:p>
        </p:txBody>
      </p:sp>
      <p:sp>
        <p:nvSpPr>
          <p:cNvPr id="41"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The safety properties that matter are the ones written as constants, not as policy.</a:t>
            </a:r>
          </a:p>
        </p:txBody>
      </p:sp>
      <p:sp>
        <p:nvSpPr>
          <p:cNvPr id="42"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Vault reserve floor</a:t>
            </a:r>
          </a:p>
          <a:p>
            <a:pPr algn="l">
              <a:buNone/>
            </a:pPr>
            <a:r>
              <a:rPr lang="en-US" sz="1150" b="0" dirty="0">
                <a:solidFill>
                  <a:srgbClr val="93A4BF"/>
                </a:solidFill>
                <a:latin typeface="Segoe UI" pitchFamily="34" charset="0"/>
              </a:rPr>
              <a:t>80% liquid is a contract constant. Raising it is allowed; lowering it is not.</a:t>
            </a:r>
          </a:p>
          <a:p>
            <a:pPr algn="l">
              <a:spcBef>
                <a:spcPts val="700"/>
              </a:spcBef>
              <a:buNone/>
            </a:pPr>
            <a:r>
              <a:rPr lang="en-US" sz="1400" b="1" dirty="0">
                <a:solidFill>
                  <a:srgbClr val="E6EDF7"/>
                </a:solidFill>
                <a:latin typeface="Segoe UI" pitchFamily="34" charset="0"/>
              </a:rPr>
              <a:t>AMM provider share</a:t>
            </a:r>
          </a:p>
          <a:p>
            <a:pPr algn="l">
              <a:buNone/>
            </a:pPr>
            <a:r>
              <a:rPr lang="en-US" sz="1150" b="0" dirty="0">
                <a:solidFill>
                  <a:srgbClr val="93A4BF"/>
                </a:solidFill>
                <a:latin typeface="Segoe UI" pitchFamily="34" charset="0"/>
              </a:rPr>
              <a:t>50% of swap fees to liquidity providers, enforced on every configuration path.</a:t>
            </a:r>
          </a:p>
          <a:p>
            <a:pPr algn="l">
              <a:spcBef>
                <a:spcPts val="700"/>
              </a:spcBef>
              <a:buNone/>
            </a:pPr>
            <a:r>
              <a:rPr lang="en-US" sz="1400" b="1" dirty="0">
                <a:solidFill>
                  <a:srgbClr val="E6EDF7"/>
                </a:solidFill>
                <a:latin typeface="Segoe UI" pitchFamily="34" charset="0"/>
              </a:rPr>
              <a:t>No position transfers</a:t>
            </a:r>
          </a:p>
          <a:p>
            <a:pPr algn="l">
              <a:buNone/>
            </a:pPr>
            <a:r>
              <a:rPr lang="en-US" sz="1150" b="0" dirty="0">
                <a:solidFill>
                  <a:srgbClr val="93A4BF"/>
                </a:solidFill>
                <a:latin typeface="Segoe UI" pitchFamily="34" charset="0"/>
              </a:rPr>
              <a:t>No function anywhere lets an operator move someone else's position. Migration pays in on their behalf instead.</a:t>
            </a:r>
          </a:p>
        </p:txBody>
      </p:sp>
      <p:sp>
        <p:nvSpPr>
          <p:cNvPr id="43"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Oracle validation</a:t>
            </a:r>
          </a:p>
          <a:p>
            <a:pPr algn="l">
              <a:buNone/>
            </a:pPr>
            <a:r>
              <a:rPr lang="en-US" sz="1150" b="0" dirty="0">
                <a:solidFill>
                  <a:srgbClr val="93A4BF"/>
                </a:solidFill>
                <a:latin typeface="Segoe UI" pitchFamily="34" charset="0"/>
              </a:rPr>
              <a:t>A stale, negative, unfinished or carried-over price pauses the market rather than pricing wrongly.</a:t>
            </a:r>
          </a:p>
          <a:p>
            <a:pPr algn="l">
              <a:spcBef>
                <a:spcPts val="700"/>
              </a:spcBef>
              <a:buNone/>
            </a:pPr>
            <a:r>
              <a:rPr lang="en-US" sz="1400" b="1" dirty="0">
                <a:solidFill>
                  <a:srgbClr val="E6EDF7"/>
                </a:solidFill>
                <a:latin typeface="Segoe UI" pitchFamily="34" charset="0"/>
              </a:rPr>
              <a:t>Freeze, not trap</a:t>
            </a:r>
          </a:p>
          <a:p>
            <a:pPr algn="l">
              <a:buNone/>
            </a:pPr>
            <a:r>
              <a:rPr lang="en-US" sz="1150" b="0" dirty="0">
                <a:solidFill>
                  <a:srgbClr val="93A4BF"/>
                </a:solidFill>
                <a:latin typeface="Segoe UI" pitchFamily="34" charset="0"/>
              </a:rPr>
              <a:t>Freezing is per action — withdraw and repay can stay open, and liquidation is never frozen.</a:t>
            </a:r>
          </a:p>
        </p:txBody>
      </p:sp>
      <p:sp>
        <p:nvSpPr>
          <p:cNvPr id="44"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45"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07 / 13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bg"/>
          <p:cNvSpPr/>
          <p:nvPr/>
        </p:nvSpPr>
        <p:spPr>
          <a:xfrm>
            <a:off x="0" y="0"/>
            <a:ext cx="12192000" cy="6858000"/>
          </a:xfrm>
          <a:prstGeom prst="rect">
            <a:avLst/>
          </a:prstGeom>
          <a:solidFill>
            <a:srgbClr val="0B0F17"/>
          </a:solidFill>
          <a:ln>
            <a:noFill/>
          </a:ln>
        </p:spPr>
        <p:txBody>
          <a:bodyPr/>
          <a:lstStyle/>
          <a:p/>
        </p:txBody>
      </p:sp>
      <p:sp>
        <p:nvSpPr>
          <p:cNvPr id="516" name="bg"/>
          <p:cNvSpPr/>
          <p:nvPr/>
        </p:nvSpPr>
        <p:spPr>
          <a:xfrm>
            <a:off x="0" y="0"/>
            <a:ext cx="12192000" cy="57150"/>
          </a:xfrm>
          <a:prstGeom prst="rect">
            <a:avLst/>
          </a:prstGeom>
          <a:solidFill>
            <a:srgbClr val="2F6BE0"/>
          </a:solidFill>
          <a:ln>
            <a:noFill/>
          </a:ln>
        </p:spPr>
        <p:txBody>
          <a:bodyPr/>
          <a:lstStyle/>
          <a:p/>
        </p:txBody>
      </p:sp>
      <p:sp>
        <p:nvSpPr>
          <p:cNvPr id="46"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AGENT WORKSPACE</a:t>
            </a:r>
          </a:p>
        </p:txBody>
      </p:sp>
      <p:sp>
        <p:nvSpPr>
          <p:cNvPr id="47"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Live information the agent can act on.</a:t>
            </a:r>
          </a:p>
        </p:txBody>
      </p:sp>
      <p:sp>
        <p:nvSpPr>
          <p:cNvPr id="48"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News across 21 topics, FX, crypto, stocks, indices, commodities, and market analysis derived from those prices.</a:t>
            </a:r>
          </a:p>
        </p:txBody>
      </p:sp>
      <p:sp>
        <p:nvSpPr>
          <p:cNvPr id="49"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Named sources</a:t>
            </a:r>
          </a:p>
          <a:p>
            <a:pPr algn="l">
              <a:buNone/>
            </a:pPr>
            <a:r>
              <a:rPr lang="en-US" sz="1150" b="0" dirty="0">
                <a:solidFill>
                  <a:srgbClr val="93A4BF"/>
                </a:solidFill>
                <a:latin typeface="Segoe UI" pitchFamily="34" charset="0"/>
              </a:rPr>
              <a:t>ECB reference rates, CoinGecko, Yahoo Finance, public RSS. Each panel names its source and its age.</a:t>
            </a:r>
          </a:p>
          <a:p>
            <a:pPr algn="l">
              <a:spcBef>
                <a:spcPts val="700"/>
              </a:spcBef>
              <a:buNone/>
            </a:pPr>
            <a:r>
              <a:rPr lang="en-US" sz="1400" b="1" dirty="0">
                <a:solidFill>
                  <a:srgbClr val="E6EDF7"/>
                </a:solidFill>
                <a:latin typeface="Segoe UI" pitchFamily="34" charset="0"/>
              </a:rPr>
              <a:t>Never a fabricated number</a:t>
            </a:r>
          </a:p>
          <a:p>
            <a:pPr algn="l">
              <a:buNone/>
            </a:pPr>
            <a:r>
              <a:rPr lang="en-US" sz="1150" b="0" dirty="0">
                <a:solidFill>
                  <a:srgbClr val="93A4BF"/>
                </a:solidFill>
                <a:latin typeface="Segoe UI" pitchFamily="34" charset="0"/>
              </a:rPr>
              <a:t>An unreachable feed says so. It does not fall back to a stale figure someone might trade on.</a:t>
            </a:r>
          </a:p>
        </p:txBody>
      </p:sp>
      <p:sp>
        <p:nvSpPr>
          <p:cNvPr id="50"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Analysis, not opinion</a:t>
            </a:r>
          </a:p>
          <a:p>
            <a:pPr algn="l">
              <a:buNone/>
            </a:pPr>
            <a:r>
              <a:rPr lang="en-US" sz="1150" b="0" dirty="0">
                <a:solidFill>
                  <a:srgbClr val="93A4BF"/>
                </a:solidFill>
                <a:latin typeface="Segoe UI" pitchFamily="34" charset="0"/>
              </a:rPr>
              <a:t>Breadth, leaders, laggards, volatility, dollar direction — arithmetic on the prices shown, no forecasts.</a:t>
            </a:r>
          </a:p>
          <a:p>
            <a:pPr algn="l">
              <a:spcBef>
                <a:spcPts val="700"/>
              </a:spcBef>
              <a:buNone/>
            </a:pPr>
            <a:r>
              <a:rPr lang="en-US" sz="1400" b="1" dirty="0">
                <a:solidFill>
                  <a:srgbClr val="E6EDF7"/>
                </a:solidFill>
                <a:latin typeface="Segoe UI" pitchFamily="34" charset="0"/>
              </a:rPr>
              <a:t>Full transaction history</a:t>
            </a:r>
          </a:p>
          <a:p>
            <a:pPr algn="l">
              <a:buNone/>
            </a:pPr>
            <a:r>
              <a:rPr lang="en-US" sz="1150" b="0" dirty="0">
                <a:solidFill>
                  <a:srgbClr val="93A4BF"/>
                </a:solidFill>
                <a:latin typeface="Segoe UI" pitchFamily="34" charset="0"/>
              </a:rPr>
              <a:t>Filter by user, date, range, value, outcome and type; export to CSV.</a:t>
            </a:r>
          </a:p>
        </p:txBody>
      </p:sp>
      <p:sp>
        <p:nvSpPr>
          <p:cNvPr id="51"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52"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08 / 13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 name="bg"/>
          <p:cNvSpPr/>
          <p:nvPr/>
        </p:nvSpPr>
        <p:spPr>
          <a:xfrm>
            <a:off x="0" y="0"/>
            <a:ext cx="12192000" cy="6858000"/>
          </a:xfrm>
          <a:prstGeom prst="rect">
            <a:avLst/>
          </a:prstGeom>
          <a:solidFill>
            <a:srgbClr val="0B0F17"/>
          </a:solidFill>
          <a:ln>
            <a:noFill/>
          </a:ln>
        </p:spPr>
        <p:txBody>
          <a:bodyPr/>
          <a:lstStyle/>
          <a:p/>
        </p:txBody>
      </p:sp>
      <p:sp>
        <p:nvSpPr>
          <p:cNvPr id="518" name="bg"/>
          <p:cNvSpPr/>
          <p:nvPr/>
        </p:nvSpPr>
        <p:spPr>
          <a:xfrm>
            <a:off x="0" y="0"/>
            <a:ext cx="12192000" cy="57150"/>
          </a:xfrm>
          <a:prstGeom prst="rect">
            <a:avLst/>
          </a:prstGeom>
          <a:solidFill>
            <a:srgbClr val="2F6BE0"/>
          </a:solidFill>
          <a:ln>
            <a:noFill/>
          </a:ln>
        </p:spPr>
        <p:txBody>
          <a:bodyPr/>
          <a:lstStyle/>
          <a:p/>
        </p:txBody>
      </p:sp>
      <p:sp>
        <p:nvSpPr>
          <p:cNvPr id="53"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LIVE RUN</a:t>
            </a:r>
          </a:p>
        </p:txBody>
      </p:sp>
      <p:sp>
        <p:nvSpPr>
          <p:cNvPr id="54"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One autonomous run, four outcomes.</a:t>
            </a:r>
          </a:p>
        </p:txBody>
      </p:sp>
      <p:sp>
        <p:nvSpPr>
          <p:cNvPr id="55"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Nothing here is scripted — this is what the agent decided on its own.</a:t>
            </a:r>
          </a:p>
        </p:txBody>
      </p:sp>
      <p:sp>
        <p:nvSpPr>
          <p:cNvPr id="56"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Settled</a:t>
            </a:r>
          </a:p>
          <a:p>
            <a:pPr algn="l">
              <a:buNone/>
            </a:pPr>
            <a:r>
              <a:rPr lang="en-US" sz="1150" b="0" dirty="0">
                <a:solidFill>
                  <a:srgbClr val="93A4BF"/>
                </a:solidFill>
                <a:latin typeface="Segoe UI" pitchFamily="34" charset="0"/>
              </a:rPr>
              <a:t>Weather and FX-quote calls delivered against their SLA and released automatically.</a:t>
            </a:r>
          </a:p>
          <a:p>
            <a:pPr algn="l">
              <a:spcBef>
                <a:spcPts val="700"/>
              </a:spcBef>
              <a:buNone/>
            </a:pPr>
            <a:r>
              <a:rPr lang="en-US" sz="1400" b="1" dirty="0">
                <a:solidFill>
                  <a:srgbClr val="E6EDF7"/>
                </a:solidFill>
                <a:latin typeface="Segoe UI" pitchFamily="34" charset="0"/>
              </a:rPr>
              <a:t>Refunded + slashed</a:t>
            </a:r>
          </a:p>
          <a:p>
            <a:pPr algn="l">
              <a:buNone/>
            </a:pPr>
            <a:r>
              <a:rPr lang="en-US" sz="1150" b="0" dirty="0">
                <a:solidFill>
                  <a:srgbClr val="93A4BF"/>
                </a:solidFill>
                <a:latin typeface="Segoe UI" pitchFamily="34" charset="0"/>
              </a:rPr>
              <a:t>A news service returned junk. The agent reclaimed its USDC and slashed the provider's bond.</a:t>
            </a:r>
          </a:p>
        </p:txBody>
      </p:sp>
      <p:sp>
        <p:nvSpPr>
          <p:cNvPr id="57"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Guardian pause</a:t>
            </a:r>
          </a:p>
          <a:p>
            <a:pPr algn="l">
              <a:buNone/>
            </a:pPr>
            <a:r>
              <a:rPr lang="en-US" sz="1150" b="0" dirty="0">
                <a:solidFill>
                  <a:srgbClr val="93A4BF"/>
                </a:solidFill>
                <a:latin typeface="Segoe UI" pitchFamily="34" charset="0"/>
              </a:rPr>
              <a:t>A premium call exceeded the per-call policy cap, so a human co-signed before it settled.</a:t>
            </a:r>
          </a:p>
          <a:p>
            <a:pPr algn="l">
              <a:spcBef>
                <a:spcPts val="700"/>
              </a:spcBef>
              <a:buNone/>
            </a:pPr>
            <a:r>
              <a:rPr lang="en-US" sz="1400" b="1" dirty="0">
                <a:solidFill>
                  <a:srgbClr val="E6EDF7"/>
                </a:solidFill>
                <a:latin typeface="Segoe UI" pitchFamily="34" charset="0"/>
              </a:rPr>
              <a:t>Declined from memory</a:t>
            </a:r>
          </a:p>
          <a:p>
            <a:pPr algn="l">
              <a:buNone/>
            </a:pPr>
            <a:r>
              <a:rPr lang="en-US" sz="1150" b="0" dirty="0">
                <a:solidFill>
                  <a:srgbClr val="93A4BF"/>
                </a:solidFill>
                <a:latin typeface="Segoe UI" pitchFamily="34" charset="0"/>
              </a:rPr>
              <a:t>A later invoice from the provider that had failed it was declined without asking anyone.</a:t>
            </a:r>
          </a:p>
        </p:txBody>
      </p:sp>
      <p:sp>
        <p:nvSpPr>
          <p:cNvPr id="58"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59"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09 / 13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 name="bg"/>
          <p:cNvSpPr/>
          <p:nvPr/>
        </p:nvSpPr>
        <p:spPr>
          <a:xfrm>
            <a:off x="0" y="0"/>
            <a:ext cx="12192000" cy="6858000"/>
          </a:xfrm>
          <a:prstGeom prst="rect">
            <a:avLst/>
          </a:prstGeom>
          <a:solidFill>
            <a:srgbClr val="0B0F17"/>
          </a:solidFill>
          <a:ln>
            <a:noFill/>
          </a:ln>
        </p:spPr>
        <p:txBody>
          <a:bodyPr/>
          <a:lstStyle/>
          <a:p/>
        </p:txBody>
      </p:sp>
      <p:sp>
        <p:nvSpPr>
          <p:cNvPr id="520" name="bg"/>
          <p:cNvSpPr/>
          <p:nvPr/>
        </p:nvSpPr>
        <p:spPr>
          <a:xfrm>
            <a:off x="0" y="0"/>
            <a:ext cx="12192000" cy="57150"/>
          </a:xfrm>
          <a:prstGeom prst="rect">
            <a:avLst/>
          </a:prstGeom>
          <a:solidFill>
            <a:srgbClr val="2F6BE0"/>
          </a:solidFill>
          <a:ln>
            <a:noFill/>
          </a:ln>
        </p:spPr>
        <p:txBody>
          <a:bodyPr/>
          <a:lstStyle/>
          <a:p/>
        </p:txBody>
      </p:sp>
      <p:sp>
        <p:nvSpPr>
          <p:cNvPr id="60"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ON-CHAIN PROOF</a:t>
            </a:r>
          </a:p>
        </p:txBody>
      </p:sp>
      <p:sp>
        <p:nvSpPr>
          <p:cNvPr id="61"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Deployed and transacting on Arc testnet.</a:t>
            </a:r>
          </a:p>
        </p:txBody>
      </p:sp>
      <p:sp>
        <p:nvSpPr>
          <p:cNvPr id="62"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Chain</a:t>
            </a:r>
          </a:p>
          <a:p>
            <a:pPr algn="l">
              <a:buNone/>
            </a:pPr>
            <a:r>
              <a:rPr lang="en-US" sz="1150" b="0" dirty="0">
                <a:solidFill>
                  <a:srgbClr val="93A4BF"/>
                </a:solidFill>
                <a:latin typeface="Segoe UI" pitchFamily="34" charset="0"/>
              </a:rPr>
              <a:t>Arc testnet, chainId 5042002, bound to native USDC at 0x3600…0000.</a:t>
            </a:r>
          </a:p>
          <a:p>
            <a:pPr algn="l">
              <a:spcBef>
                <a:spcPts val="700"/>
              </a:spcBef>
              <a:buNone/>
            </a:pPr>
            <a:r>
              <a:rPr lang="en-US" sz="1400" b="1" dirty="0">
                <a:solidFill>
                  <a:srgbClr val="E6EDF7"/>
                </a:solidFill>
                <a:latin typeface="Segoe UI" pitchFamily="34" charset="0"/>
              </a:rPr>
              <a:t>Contracts</a:t>
            </a:r>
          </a:p>
          <a:p>
            <a:pPr algn="l">
              <a:buNone/>
            </a:pPr>
            <a:r>
              <a:rPr lang="en-US" sz="1150" b="0" dirty="0">
                <a:solidFill>
                  <a:srgbClr val="93A4BF"/>
                </a:solidFill>
                <a:latin typeface="Segoe UI" pitchFamily="34" charset="0"/>
              </a:rPr>
              <a:t>Escrow, nanopayment tabs, lending pool, vault, swap desk, AMM, and two fee collectors.</a:t>
            </a:r>
          </a:p>
        </p:txBody>
      </p:sp>
      <p:sp>
        <p:nvSpPr>
          <p:cNvPr id="63"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Verified transactions</a:t>
            </a:r>
          </a:p>
          <a:p>
            <a:pPr algn="l">
              <a:buNone/>
            </a:pPr>
            <a:r>
              <a:rPr lang="en-US" sz="1150" b="0" dirty="0">
                <a:solidFill>
                  <a:srgbClr val="93A4BF"/>
                </a:solidFill>
                <a:latin typeface="Segoe UI" pitchFamily="34" charset="0"/>
              </a:rPr>
              <a:t>Settle, refund (SLA breach reclaimed), and a tab settled in one on-chain claim.</a:t>
            </a:r>
          </a:p>
          <a:p>
            <a:pPr algn="l">
              <a:spcBef>
                <a:spcPts val="700"/>
              </a:spcBef>
              <a:buNone/>
            </a:pPr>
            <a:r>
              <a:rPr lang="en-US" sz="1400" b="1" dirty="0">
                <a:solidFill>
                  <a:srgbClr val="E6EDF7"/>
                </a:solidFill>
                <a:latin typeface="Segoe UI" pitchFamily="34" charset="0"/>
              </a:rPr>
              <a:t>Real assets</a:t>
            </a:r>
          </a:p>
          <a:p>
            <a:pPr algn="l">
              <a:buNone/>
            </a:pPr>
            <a:r>
              <a:rPr lang="en-US" sz="1150" b="0" dirty="0">
                <a:solidFill>
                  <a:srgbClr val="93A4BF"/>
                </a:solidFill>
                <a:latin typeface="Segoe UI" pitchFamily="34" charset="0"/>
              </a:rPr>
              <a:t>USDC, EURC and cirBTC — Circle's own tokens on Arc, not mocks.</a:t>
            </a:r>
          </a:p>
        </p:txBody>
      </p:sp>
      <p:sp>
        <p:nvSpPr>
          <p:cNvPr id="64"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65"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10 / 13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1" name="bg"/>
          <p:cNvSpPr/>
          <p:nvPr/>
        </p:nvSpPr>
        <p:spPr>
          <a:xfrm>
            <a:off x="0" y="0"/>
            <a:ext cx="12192000" cy="6858000"/>
          </a:xfrm>
          <a:prstGeom prst="rect">
            <a:avLst/>
          </a:prstGeom>
          <a:solidFill>
            <a:srgbClr val="0B0F17"/>
          </a:solidFill>
          <a:ln>
            <a:noFill/>
          </a:ln>
        </p:spPr>
        <p:txBody>
          <a:bodyPr/>
          <a:lstStyle/>
          <a:p/>
        </p:txBody>
      </p:sp>
      <p:sp>
        <p:nvSpPr>
          <p:cNvPr id="522" name="bg"/>
          <p:cNvSpPr/>
          <p:nvPr/>
        </p:nvSpPr>
        <p:spPr>
          <a:xfrm>
            <a:off x="0" y="0"/>
            <a:ext cx="12192000" cy="57150"/>
          </a:xfrm>
          <a:prstGeom prst="rect">
            <a:avLst/>
          </a:prstGeom>
          <a:solidFill>
            <a:srgbClr val="2F6BE0"/>
          </a:solidFill>
          <a:ln>
            <a:noFill/>
          </a:ln>
        </p:spPr>
        <p:txBody>
          <a:bodyPr/>
          <a:lstStyle/>
          <a:p/>
        </p:txBody>
      </p:sp>
      <p:sp>
        <p:nvSpPr>
          <p:cNvPr id="66"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WHY ARC</a:t>
            </a:r>
          </a:p>
        </p:txBody>
      </p:sp>
      <p:sp>
        <p:nvSpPr>
          <p:cNvPr id="67"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The chain makes the product possible.</a:t>
            </a:r>
          </a:p>
        </p:txBody>
      </p:sp>
      <p:sp>
        <p:nvSpPr>
          <p:cNvPr id="68"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USDC as gas</a:t>
            </a:r>
          </a:p>
          <a:p>
            <a:pPr algn="l">
              <a:buNone/>
            </a:pPr>
            <a:r>
              <a:rPr lang="en-US" sz="1150" b="0" dirty="0">
                <a:solidFill>
                  <a:srgbClr val="93A4BF"/>
                </a:solidFill>
                <a:latin typeface="Segoe UI" pitchFamily="34" charset="0"/>
              </a:rPr>
              <a:t>One asset funds both the purchase and the fee. No separate gas token to manage.</a:t>
            </a:r>
          </a:p>
          <a:p>
            <a:pPr algn="l">
              <a:spcBef>
                <a:spcPts val="700"/>
              </a:spcBef>
              <a:buNone/>
            </a:pPr>
            <a:r>
              <a:rPr lang="en-US" sz="1400" b="1" dirty="0">
                <a:solidFill>
                  <a:srgbClr val="E6EDF7"/>
                </a:solidFill>
                <a:latin typeface="Segoe UI" pitchFamily="34" charset="0"/>
              </a:rPr>
              <a:t>Sub-second finality</a:t>
            </a:r>
          </a:p>
          <a:p>
            <a:pPr algn="l">
              <a:buNone/>
            </a:pPr>
            <a:r>
              <a:rPr lang="en-US" sz="1150" b="0" dirty="0">
                <a:solidFill>
                  <a:srgbClr val="93A4BF"/>
                </a:solidFill>
                <a:latin typeface="Segoe UI" pitchFamily="34" charset="0"/>
              </a:rPr>
              <a:t>A payment can settle inside the HTTP request that triggered it.</a:t>
            </a:r>
          </a:p>
        </p:txBody>
      </p:sp>
      <p:sp>
        <p:nvSpPr>
          <p:cNvPr id="69"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Stablecoin-native</a:t>
            </a:r>
          </a:p>
          <a:p>
            <a:pPr algn="l">
              <a:buNone/>
            </a:pPr>
            <a:r>
              <a:rPr lang="en-US" sz="1150" b="0" dirty="0">
                <a:solidFill>
                  <a:srgbClr val="93A4BF"/>
                </a:solidFill>
                <a:latin typeface="Segoe UI" pitchFamily="34" charset="0"/>
              </a:rPr>
              <a:t>Prices in the unit the invoice is denominated in — no FX exposure between quote and settlement.</a:t>
            </a:r>
          </a:p>
          <a:p>
            <a:pPr algn="l">
              <a:spcBef>
                <a:spcPts val="700"/>
              </a:spcBef>
              <a:buNone/>
            </a:pPr>
            <a:r>
              <a:rPr lang="en-US" sz="1400" b="1" dirty="0">
                <a:solidFill>
                  <a:srgbClr val="E6EDF7"/>
                </a:solidFill>
                <a:latin typeface="Segoe UI" pitchFamily="34" charset="0"/>
              </a:rPr>
              <a:t>Config, not fork</a:t>
            </a:r>
          </a:p>
          <a:p>
            <a:pPr algn="l">
              <a:buNone/>
            </a:pPr>
            <a:r>
              <a:rPr lang="en-US" sz="1150" b="0" dirty="0">
                <a:solidFill>
                  <a:srgbClr val="93A4BF"/>
                </a:solidFill>
                <a:latin typeface="Segoe UI" pitchFamily="34" charset="0"/>
              </a:rPr>
              <a:t>Chain id, RPC, explorer and USDC address are all env-driven; mainnet is a configuration change.</a:t>
            </a:r>
          </a:p>
        </p:txBody>
      </p:sp>
      <p:sp>
        <p:nvSpPr>
          <p:cNvPr id="70"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71"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11 / 13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bg"/>
          <p:cNvSpPr/>
          <p:nvPr/>
        </p:nvSpPr>
        <p:spPr>
          <a:xfrm>
            <a:off x="0" y="0"/>
            <a:ext cx="12192000" cy="6858000"/>
          </a:xfrm>
          <a:prstGeom prst="rect">
            <a:avLst/>
          </a:prstGeom>
          <a:solidFill>
            <a:srgbClr val="0B0F17"/>
          </a:solidFill>
          <a:ln>
            <a:noFill/>
          </a:ln>
        </p:spPr>
        <p:txBody>
          <a:bodyPr/>
          <a:lstStyle/>
          <a:p/>
        </p:txBody>
      </p:sp>
      <p:sp>
        <p:nvSpPr>
          <p:cNvPr id="524" name="bg"/>
          <p:cNvSpPr/>
          <p:nvPr/>
        </p:nvSpPr>
        <p:spPr>
          <a:xfrm>
            <a:off x="0" y="0"/>
            <a:ext cx="12192000" cy="57150"/>
          </a:xfrm>
          <a:prstGeom prst="rect">
            <a:avLst/>
          </a:prstGeom>
          <a:solidFill>
            <a:srgbClr val="2F6BE0"/>
          </a:solidFill>
          <a:ln>
            <a:noFill/>
          </a:ln>
        </p:spPr>
        <p:txBody>
          <a:bodyPr/>
          <a:lstStyle/>
          <a:p/>
        </p:txBody>
      </p:sp>
      <p:sp>
        <p:nvSpPr>
          <p:cNvPr id="72"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EXECUTION</a:t>
            </a:r>
          </a:p>
        </p:txBody>
      </p:sp>
      <p:sp>
        <p:nvSpPr>
          <p:cNvPr id="73"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Every feature runs end to end.</a:t>
            </a:r>
          </a:p>
        </p:txBody>
      </p:sp>
      <p:sp>
        <p:nvSpPr>
          <p:cNvPr id="74"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225 automated tests</a:t>
            </a:r>
          </a:p>
          <a:p>
            <a:pPr algn="l">
              <a:buNone/>
            </a:pPr>
            <a:r>
              <a:rPr lang="en-US" sz="1150" b="0" dirty="0">
                <a:solidFill>
                  <a:srgbClr val="93A4BF"/>
                </a:solidFill>
                <a:latin typeface="Segoe UI" pitchFamily="34" charset="0"/>
              </a:rPr>
              <a:t>104 contract tests on Hardhat plus 121 agent unit tests, in CI on every push.</a:t>
            </a:r>
          </a:p>
          <a:p>
            <a:pPr algn="l">
              <a:spcBef>
                <a:spcPts val="700"/>
              </a:spcBef>
              <a:buNone/>
            </a:pPr>
            <a:r>
              <a:rPr lang="en-US" sz="1400" b="1" dirty="0">
                <a:solidFill>
                  <a:srgbClr val="E6EDF7"/>
                </a:solidFill>
                <a:latin typeface="Segoe UI" pitchFamily="34" charset="0"/>
              </a:rPr>
              <a:t>Browser and API QA</a:t>
            </a:r>
          </a:p>
          <a:p>
            <a:pPr algn="l">
              <a:buNone/>
            </a:pPr>
            <a:r>
              <a:rPr lang="en-US" sz="1150" b="0" dirty="0">
                <a:solidFill>
                  <a:srgbClr val="93A4BF"/>
                </a:solidFill>
                <a:latin typeface="Segoe UI" pitchFamily="34" charset="0"/>
              </a:rPr>
              <a:t>Interaction, responsiveness across five viewport widths, and a security sweep of every endpoint.</a:t>
            </a:r>
          </a:p>
        </p:txBody>
      </p:sp>
      <p:sp>
        <p:nvSpPr>
          <p:cNvPr id="75"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Security posture documented</a:t>
            </a:r>
          </a:p>
          <a:p>
            <a:pPr algn="l">
              <a:buNone/>
            </a:pPr>
            <a:r>
              <a:rPr lang="en-US" sz="1150" b="0" dirty="0">
                <a:solidFill>
                  <a:srgbClr val="93A4BF"/>
                </a:solidFill>
                <a:latin typeface="Segoe UI" pitchFamily="34" charset="0"/>
              </a:rPr>
              <a:t>Findings, fixes, guardrails, and the residual risks stated plainly in docs/SECURITY.md.</a:t>
            </a:r>
          </a:p>
          <a:p>
            <a:pPr algn="l">
              <a:spcBef>
                <a:spcPts val="700"/>
              </a:spcBef>
              <a:buNone/>
            </a:pPr>
            <a:r>
              <a:rPr lang="en-US" sz="1400" b="1" dirty="0">
                <a:solidFill>
                  <a:srgbClr val="E6EDF7"/>
                </a:solidFill>
                <a:latin typeface="Segoe UI" pitchFamily="34" charset="0"/>
              </a:rPr>
              <a:t>Self-custody by default</a:t>
            </a:r>
          </a:p>
          <a:p>
            <a:pPr algn="l">
              <a:buNone/>
            </a:pPr>
            <a:r>
              <a:rPr lang="en-US" sz="1150" b="0" dirty="0">
                <a:solidFill>
                  <a:srgbClr val="93A4BF"/>
                </a:solidFill>
                <a:latin typeface="Segoe UI" pitchFamily="34" charset="0"/>
              </a:rPr>
              <a:t>Calldata is built in the browser and signed by the user's wallet. The server never holds a user key.</a:t>
            </a:r>
          </a:p>
        </p:txBody>
      </p:sp>
      <p:sp>
        <p:nvSpPr>
          <p:cNvPr id="76"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77"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12 / 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5" name="bg"/>
          <p:cNvSpPr/>
          <p:nvPr/>
        </p:nvSpPr>
        <p:spPr>
          <a:xfrm>
            <a:off x="0" y="0"/>
            <a:ext cx="12192000" cy="6858000"/>
          </a:xfrm>
          <a:prstGeom prst="rect">
            <a:avLst/>
          </a:prstGeom>
          <a:solidFill>
            <a:srgbClr val="0B0F17"/>
          </a:solidFill>
          <a:ln>
            <a:noFill/>
          </a:ln>
        </p:spPr>
        <p:txBody>
          <a:bodyPr/>
          <a:lstStyle/>
          <a:p/>
        </p:txBody>
      </p:sp>
      <p:sp>
        <p:nvSpPr>
          <p:cNvPr id="526" name="bg"/>
          <p:cNvSpPr/>
          <p:nvPr/>
        </p:nvSpPr>
        <p:spPr>
          <a:xfrm>
            <a:off x="0" y="0"/>
            <a:ext cx="12192000" cy="57150"/>
          </a:xfrm>
          <a:prstGeom prst="rect">
            <a:avLst/>
          </a:prstGeom>
          <a:solidFill>
            <a:srgbClr val="2F6BE0"/>
          </a:solidFill>
          <a:ln>
            <a:noFill/>
          </a:ln>
        </p:spPr>
        <p:txBody>
          <a:bodyPr/>
          <a:lstStyle/>
          <a:p/>
        </p:txBody>
      </p:sp>
      <p:sp>
        <p:nvSpPr>
          <p:cNvPr id="78"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VISION</a:t>
            </a:r>
          </a:p>
        </p:txBody>
      </p:sp>
      <p:sp>
        <p:nvSpPr>
          <p:cNvPr id="79" name="tx"/>
          <p:cNvSpPr txBox="1"/>
          <p:nvPr/>
        </p:nvSpPr>
        <p:spPr>
          <a:xfrm>
            <a:off x="762000" y="1104900"/>
            <a:ext cx="10668000" cy="1428750"/>
          </a:xfrm>
          <a:prstGeom prst="rect">
            <a:avLst/>
          </a:prstGeom>
          <a:noFill/>
        </p:spPr>
        <p:txBody>
          <a:bodyPr wrap="square" anchor="t">
            <a:normAutofit/>
          </a:bodyPr>
          <a:lstStyle/>
          <a:p>
            <a:pPr algn="l">
              <a:buNone/>
            </a:pPr>
            <a:r>
              <a:rPr lang="en-US" sz="3400" b="1" dirty="0">
                <a:solidFill>
                  <a:srgbClr val="E6EDF7"/>
                </a:solidFill>
                <a:latin typeface="Segoe UI" pitchFamily="34" charset="0"/>
              </a:rPr>
              <a:t>The settlement rail for agent-to-agent commerce.</a:t>
            </a:r>
          </a:p>
        </p:txBody>
      </p:sp>
      <p:sp>
        <p:nvSpPr>
          <p:cNvPr id="80"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When agents transact continuously, the bottleneck is not intelligence — it is trust between strangers. Tessera is that layer, and it settles in USDC on Arc.</a:t>
            </a:r>
          </a:p>
        </p:txBody>
      </p:sp>
      <p:sp>
        <p:nvSpPr>
          <p:cNvPr id="81"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82"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13 / 13</a:t>
            </a:r>
          </a:p>
        </p:txBody>
      </p:sp>
    </p:spTree>
  </p:cSld>
  <p:clrMapOvr>
    <a:masterClrMapping/>
  </p:clrMapOvr>
</p:sld>
</file>

<file path=ppt/theme/theme1.xml><?xml version="1.0" encoding="utf-8"?>
<a:theme xmlns:a="http://schemas.openxmlformats.org/drawingml/2006/main" name="Tessera">
  <a:themeElements>
    <a:clrScheme name="Tessera">
      <a:dk1>
        <a:srgbClr val="0B0F17"/>
      </a:dk1>
      <a:lt1>
        <a:srgbClr val="E6EDF7"/>
      </a:lt1>
      <a:dk2>
        <a:srgbClr val="121826"/>
      </a:dk2>
      <a:lt2>
        <a:srgbClr val="F2F6FC"/>
      </a:lt2>
      <a:accent1>
        <a:srgbClr val="2F6BE0"/>
      </a:accent1>
      <a:accent2>
        <a:srgbClr val="38BDF8"/>
      </a:accent2>
      <a:accent3>
        <a:srgbClr val="34D399"/>
      </a:accent3>
      <a:accent4>
        <a:srgbClr val="FBBF24"/>
      </a:accent4>
      <a:accent5>
        <a:srgbClr val="F87171"/>
      </a:accent5>
      <a:accent6>
        <a:srgbClr val="A78BFA"/>
      </a:accent6>
      <a:hlink>
        <a:srgbClr val="38BDF8"/>
      </a:hlink>
      <a:folHlink>
        <a:srgbClr val="93A4BF"/>
      </a:folHlink>
    </a:clrScheme>
    <a:fontScheme name="Tessera">
      <a:majorFont>
        <a:latin typeface="Segoe UI"/>
        <a:ea typeface=""/>
        <a:cs typeface=""/>
      </a:majorFont>
      <a:minorFont>
        <a:latin typeface="Segoe UI"/>
        <a:ea typeface=""/>
        <a:cs typeface=""/>
      </a:minorFont>
    </a:fontScheme>
    <a:fmtScheme name="Tessera">
      <a:fillStyleLst>
        <a:solidFill>
          <a:schemeClr val="phClr"/>
        </a:solidFill>
        <a:solidFill>
          <a:schemeClr val="phClr"/>
        </a:solidFill>
        <a:solidFill>
          <a:schemeClr val="phClr"/>
        </a:solidFill>
      </a:fillStyleLst>
      <a:lnStyleLst>
        <a:ln w="9525">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Tessera deck generator</Application>
  <Slides>13</Slides>
  <TitlesOfParts>
    <vt:vector size="13" baseType="lpstr">
      <vt:lpstr>TESSERA</vt:lpstr>
      <vt:lpstr>THE PROBLEM</vt:lpstr>
      <vt:lpstr>THE INSIGHT</vt:lpstr>
      <vt:lpstr>HOW IT WORKS</vt:lpstr>
      <vt:lpstr>WHAT MAKES IT REAL</vt:lpstr>
      <vt:lpstr>THE DEFI STACK</vt:lpstr>
      <vt:lpstr>GUARDRAILS</vt:lpstr>
      <vt:lpstr>AGENT WORKSPACE</vt:lpstr>
      <vt:lpstr>LIVE RUN</vt:lpstr>
      <vt:lpstr>ON-CHAIN PROOF</vt:lpstr>
      <vt:lpstr>WHY ARC</vt:lpstr>
      <vt:lpstr>EXECUTION</vt:lpstr>
      <vt:lpstr>THE VISION</vt:lpstr>
    </vt:vector>
  </TitlesOfPart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Tessera — trustless pay-per-use commerce for AI agents on Arc</dc:title>
  <dc:subject>Agentic payments, escrow with SLA refunds, and the DeFi rails that fund them</dc:subject>
  <dcterms:created xsi:type="dcterms:W3CDTF">2026-07-26T05:53:05Z</dcterms:created>
  <dcterms:modified xsi:type="dcterms:W3CDTF">2026-07-26T05:53:05Z</dcterms:modified>
</cp:coreProperties>
</file>