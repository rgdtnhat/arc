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Tessera. It's the trust layer that lets AI agents pay for services on their own — settled in USDC on Arc. Let me show you why that's hard, and how we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are starting to buy things — data, APIs, compute. But right now an agent can only pay a service that a human already set up an account and a card for. And trust runs both ways: the service doesn't know the agent will pay, and the agent doesn't know the service will actually deliver. So agents are boxed into a hand-picked list of pre-funded vendors. That's not an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agent-payment demos stop at "the agent sends USDC." But a raw transfer doesn't make a stranger safe to deal with. The missing primitive is programmable escrow, with a service-level guarantee and reputation attached. That's what lets an agent buy from someone it has never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The agent hits a paid endpoint and gets a 402 with a USDC price and an SLA. It decides for itself whether it's worth buying. It escrows the payment on Arc. If the service delivers, the escrow releases. If it breaks the SLA, the agent's money comes back — automatically. And because USDC is Arc's gas token, the agent funds one asset for both the payment and the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make it real. One: escrow with an automatic SLA refund. Two: providers stake collateral, and a breach slashes it to compensate the agent — skin in the game. Three: nanopayment tabs, so a price stream is one deposit and hundreds of zero-gas signed vouchers, settled once. Four: a wallet-style safety layer — a spending policy that escalates big buys to a human, and a memory that refuses providers who burned it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autonomous run. The agent buys weather and FX and settles them. The news provider returns junk — so the agent reclaims its USDC and slashes that provider's stake. A premium call is over its policy limit, so it pauses and asks me to approve. It streams a live ticker over a nanopayment tab. And it declines an invoice from the provider that already failed it. No human drove any of that except the one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none of it is faked. Here it is on Arc testnet: the settlement releasing USDC to a provider, the SLA refund reclaiming it, and the tab settling six calls in a single transaction. The contracts are deployed and transacting, and the provider reputation you saw is real on-chain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is the right chain for this. USDC as the gas token removes the native-gas bootstrap problem for a bot. Sub-second finality means a per-call payment clears inside the request. We use USDC and Circle Wallets today, and Paymaster for a gasless first call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execution: sixty-four automated tests, CI running the full agentic scenario on every push, and a one-command live deploy to Arc. We optimized for quality over surface area — every feature you saw is tested and runs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Tessera is the settlement rail for the agent economy — escrow, refunds, staking, and reputation that make autonomous commerce safe. Next is wrapping real providers, a discovery registry, and reputation staking. The code is public and live on Arc today. Thanks — let's let machines do business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AGENTIC ECONOMY · ARC HACKATHON</a:t>
            </a:r>
            <a:endParaRPr lang="en-US" sz="1250" dirty="0"/>
          </a:p>
        </p:txBody>
      </p:sp>
      <p:sp>
        <p:nvSpPr>
          <p:cNvPr id="6" name="Shape 4"/>
          <p:cNvSpPr/>
          <p:nvPr/>
        </p:nvSpPr>
        <p:spPr>
          <a:xfrm>
            <a:off x="640080" y="1417320"/>
            <a:ext cx="384048" cy="384048"/>
          </a:xfrm>
          <a:prstGeom prst="roundRect">
            <a:avLst>
              <a:gd name="adj" fmla="val 7143"/>
            </a:avLst>
          </a:prstGeom>
          <a:solidFill>
            <a:srgbClr val="4D8BFF"/>
          </a:solidFill>
          <a:ln/>
        </p:spPr>
      </p:sp>
      <p:sp>
        <p:nvSpPr>
          <p:cNvPr id="7" name="Shape 5"/>
          <p:cNvSpPr/>
          <p:nvPr/>
        </p:nvSpPr>
        <p:spPr>
          <a:xfrm>
            <a:off x="1069848" y="1417320"/>
            <a:ext cx="384048" cy="384048"/>
          </a:xfrm>
          <a:prstGeom prst="roundRect">
            <a:avLst>
              <a:gd name="adj" fmla="val 7143"/>
            </a:avLst>
          </a:prstGeom>
          <a:solidFill>
            <a:srgbClr val="1B2542"/>
          </a:solidFill>
          <a:ln w="12700">
            <a:solidFill>
              <a:srgbClr val="26314F"/>
            </a:solidFill>
            <a:prstDash val="solid"/>
          </a:ln>
        </p:spPr>
      </p:sp>
      <p:sp>
        <p:nvSpPr>
          <p:cNvPr id="8" name="Shape 6"/>
          <p:cNvSpPr/>
          <p:nvPr/>
        </p:nvSpPr>
        <p:spPr>
          <a:xfrm>
            <a:off x="1499616" y="1417320"/>
            <a:ext cx="384048" cy="384048"/>
          </a:xfrm>
          <a:prstGeom prst="roundRect">
            <a:avLst>
              <a:gd name="adj" fmla="val 7143"/>
            </a:avLst>
          </a:prstGeom>
          <a:solidFill>
            <a:srgbClr val="34D399"/>
          </a:solidFill>
          <a:ln/>
        </p:spPr>
      </p:sp>
      <p:sp>
        <p:nvSpPr>
          <p:cNvPr id="9" name="Shape 7"/>
          <p:cNvSpPr/>
          <p:nvPr/>
        </p:nvSpPr>
        <p:spPr>
          <a:xfrm>
            <a:off x="640080" y="1847088"/>
            <a:ext cx="384048" cy="384048"/>
          </a:xfrm>
          <a:prstGeom prst="roundRect">
            <a:avLst>
              <a:gd name="adj" fmla="val 7143"/>
            </a:avLst>
          </a:prstGeom>
          <a:solidFill>
            <a:srgbClr val="1B2542"/>
          </a:solidFill>
          <a:ln w="12700">
            <a:solidFill>
              <a:srgbClr val="26314F"/>
            </a:solidFill>
            <a:prstDash val="solid"/>
          </a:ln>
        </p:spPr>
      </p:sp>
      <p:sp>
        <p:nvSpPr>
          <p:cNvPr id="10" name="Shape 8"/>
          <p:cNvSpPr/>
          <p:nvPr/>
        </p:nvSpPr>
        <p:spPr>
          <a:xfrm>
            <a:off x="1069848" y="1847088"/>
            <a:ext cx="384048" cy="384048"/>
          </a:xfrm>
          <a:prstGeom prst="roundRect">
            <a:avLst>
              <a:gd name="adj" fmla="val 7143"/>
            </a:avLst>
          </a:prstGeom>
          <a:solidFill>
            <a:srgbClr val="4D8BFF"/>
          </a:solidFill>
          <a:ln/>
        </p:spPr>
      </p:sp>
      <p:sp>
        <p:nvSpPr>
          <p:cNvPr id="11" name="Shape 9"/>
          <p:cNvSpPr/>
          <p:nvPr/>
        </p:nvSpPr>
        <p:spPr>
          <a:xfrm>
            <a:off x="1499616" y="1847088"/>
            <a:ext cx="384048" cy="384048"/>
          </a:xfrm>
          <a:prstGeom prst="roundRect">
            <a:avLst>
              <a:gd name="adj" fmla="val 7143"/>
            </a:avLst>
          </a:prstGeom>
          <a:solidFill>
            <a:srgbClr val="1B2542"/>
          </a:solidFill>
          <a:ln w="12700">
            <a:solidFill>
              <a:srgbClr val="26314F"/>
            </a:solidFill>
            <a:prstDash val="solid"/>
          </a:ln>
        </p:spPr>
      </p:sp>
      <p:sp>
        <p:nvSpPr>
          <p:cNvPr id="12" name="Shape 10"/>
          <p:cNvSpPr/>
          <p:nvPr/>
        </p:nvSpPr>
        <p:spPr>
          <a:xfrm>
            <a:off x="640080" y="2276856"/>
            <a:ext cx="384048" cy="384048"/>
          </a:xfrm>
          <a:prstGeom prst="roundRect">
            <a:avLst>
              <a:gd name="adj" fmla="val 7143"/>
            </a:avLst>
          </a:prstGeom>
          <a:solidFill>
            <a:srgbClr val="34D399"/>
          </a:solidFill>
          <a:ln/>
        </p:spPr>
      </p:sp>
      <p:sp>
        <p:nvSpPr>
          <p:cNvPr id="13" name="Shape 11"/>
          <p:cNvSpPr/>
          <p:nvPr/>
        </p:nvSpPr>
        <p:spPr>
          <a:xfrm>
            <a:off x="1069848" y="2276856"/>
            <a:ext cx="384048" cy="384048"/>
          </a:xfrm>
          <a:prstGeom prst="roundRect">
            <a:avLst>
              <a:gd name="adj" fmla="val 7143"/>
            </a:avLst>
          </a:prstGeom>
          <a:solidFill>
            <a:srgbClr val="1B2542"/>
          </a:solidFill>
          <a:ln w="12700">
            <a:solidFill>
              <a:srgbClr val="26314F"/>
            </a:solidFill>
            <a:prstDash val="solid"/>
          </a:ln>
        </p:spPr>
      </p:sp>
      <p:sp>
        <p:nvSpPr>
          <p:cNvPr id="14" name="Shape 12"/>
          <p:cNvSpPr/>
          <p:nvPr/>
        </p:nvSpPr>
        <p:spPr>
          <a:xfrm>
            <a:off x="1499616" y="2276856"/>
            <a:ext cx="384048" cy="384048"/>
          </a:xfrm>
          <a:prstGeom prst="roundRect">
            <a:avLst>
              <a:gd name="adj" fmla="val 7143"/>
            </a:avLst>
          </a:prstGeom>
          <a:solidFill>
            <a:srgbClr val="4D8BFF"/>
          </a:solidFill>
          <a:ln/>
        </p:spPr>
      </p:sp>
      <p:sp>
        <p:nvSpPr>
          <p:cNvPr id="15" name="Text 13"/>
          <p:cNvSpPr/>
          <p:nvPr/>
        </p:nvSpPr>
        <p:spPr>
          <a:xfrm>
            <a:off x="2057400" y="1371600"/>
            <a:ext cx="7315200" cy="777240"/>
          </a:xfrm>
          <a:prstGeom prst="rect">
            <a:avLst/>
          </a:prstGeom>
          <a:noFill/>
          <a:ln/>
        </p:spPr>
        <p:txBody>
          <a:bodyPr wrap="square" lIns="0" tIns="0" rIns="0" bIns="0" rtlCol="0" anchor="ctr"/>
          <a:lstStyle/>
          <a:p>
            <a:pPr algn="l" indent="0" marL="0">
              <a:buNone/>
            </a:pPr>
            <a:r>
              <a:rPr lang="en-US" sz="3400" b="1" spc="-50" kern="0" dirty="0">
                <a:solidFill>
                  <a:srgbClr val="EAEEFB"/>
                </a:solidFill>
                <a:latin typeface="Arial" pitchFamily="34" charset="0"/>
                <a:ea typeface="Arial" pitchFamily="34" charset="-122"/>
                <a:cs typeface="Arial" pitchFamily="34" charset="-120"/>
              </a:rPr>
              <a:t>Tessera</a:t>
            </a:r>
            <a:endParaRPr lang="en-US" sz="3400" dirty="0"/>
          </a:p>
        </p:txBody>
      </p:sp>
      <p:sp>
        <p:nvSpPr>
          <p:cNvPr id="16" name="Text 14"/>
          <p:cNvSpPr/>
          <p:nvPr/>
        </p:nvSpPr>
        <p:spPr>
          <a:xfrm>
            <a:off x="640080" y="2514600"/>
            <a:ext cx="10515600" cy="1554480"/>
          </a:xfrm>
          <a:prstGeom prst="rect">
            <a:avLst/>
          </a:prstGeom>
          <a:noFill/>
          <a:ln/>
        </p:spPr>
        <p:txBody>
          <a:bodyPr wrap="square" lIns="0" tIns="0" rIns="0" bIns="0" rtlCol="0" anchor="ctr"/>
          <a:lstStyle/>
          <a:p>
            <a:pPr algn="l" indent="0" marL="0">
              <a:buNone/>
            </a:pPr>
            <a:r>
              <a:rPr lang="en-US" sz="7600" b="1" spc="-150" kern="0" dirty="0">
                <a:solidFill>
                  <a:srgbClr val="EAEEFB"/>
                </a:solidFill>
                <a:latin typeface="Arial" pitchFamily="34" charset="0"/>
                <a:ea typeface="Arial" pitchFamily="34" charset="-122"/>
                <a:cs typeface="Arial" pitchFamily="34" charset="-120"/>
              </a:rPr>
              <a:t>Money for machines.</a:t>
            </a:r>
            <a:endParaRPr lang="en-US" sz="7600" dirty="0"/>
          </a:p>
        </p:txBody>
      </p:sp>
      <p:sp>
        <p:nvSpPr>
          <p:cNvPr id="17" name="Text 15"/>
          <p:cNvSpPr/>
          <p:nvPr/>
        </p:nvSpPr>
        <p:spPr>
          <a:xfrm>
            <a:off x="640080" y="4160520"/>
            <a:ext cx="7863840" cy="1280160"/>
          </a:xfrm>
          <a:prstGeom prst="rect">
            <a:avLst/>
          </a:prstGeom>
          <a:noFill/>
          <a:ln/>
        </p:spPr>
        <p:txBody>
          <a:bodyPr wrap="square" lIns="0" tIns="0" rIns="0" bIns="0" rtlCol="0" anchor="t"/>
          <a:lstStyle/>
          <a:p>
            <a:pPr algn="l" indent="0" marL="0">
              <a:lnSpc>
                <a:spcPct val="130000"/>
              </a:lnSpc>
              <a:buNone/>
            </a:pPr>
            <a:r>
              <a:rPr lang="en-US" sz="2000" dirty="0">
                <a:solidFill>
                  <a:srgbClr val="8A97B6"/>
                </a:solidFill>
                <a:latin typeface="Arial" pitchFamily="34" charset="0"/>
                <a:ea typeface="Arial" pitchFamily="34" charset="-122"/>
                <a:cs typeface="Arial" pitchFamily="34" charset="-120"/>
              </a:rPr>
              <a:t>Trustless pay-per-use commerce for AI agents — settled on </a:t>
            </a:r>
            <a:pPr algn="l" indent="0" marL="0">
              <a:lnSpc>
                <a:spcPct val="130000"/>
              </a:lnSpc>
              <a:buNone/>
            </a:pPr>
            <a:r>
              <a:rPr lang="en-US" sz="2000" b="1" dirty="0">
                <a:solidFill>
                  <a:srgbClr val="4D8BFF"/>
                </a:solidFill>
                <a:latin typeface="Arial" pitchFamily="34" charset="0"/>
                <a:ea typeface="Arial" pitchFamily="34" charset="-122"/>
                <a:cs typeface="Arial" pitchFamily="34" charset="-120"/>
              </a:rPr>
              <a:t>Arc</a:t>
            </a:r>
            <a:pPr algn="l" indent="0" marL="0">
              <a:lnSpc>
                <a:spcPct val="130000"/>
              </a:lnSpc>
              <a:buNone/>
            </a:pPr>
            <a:r>
              <a:rPr lang="en-US" sz="2000" dirty="0">
                <a:solidFill>
                  <a:srgbClr val="8A97B6"/>
                </a:solidFill>
                <a:latin typeface="Arial" pitchFamily="34" charset="0"/>
                <a:ea typeface="Arial" pitchFamily="34" charset="-122"/>
                <a:cs typeface="Arial" pitchFamily="34" charset="-120"/>
              </a:rPr>
              <a:t> in USDC. The trust layer that lets an agent pay a service it has never met.</a:t>
            </a:r>
            <a:endParaRPr lang="en-US" sz="2000" dirty="0"/>
          </a:p>
        </p:txBody>
      </p:sp>
      <p:sp>
        <p:nvSpPr>
          <p:cNvPr id="18" name="Text 16"/>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TESSERA</a:t>
            </a:r>
            <a:endParaRPr lang="en-US" sz="1050" dirty="0"/>
          </a:p>
        </p:txBody>
      </p:sp>
      <p:sp>
        <p:nvSpPr>
          <p:cNvPr id="19" name="Text 17"/>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01</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THE PROBLEM</a:t>
            </a:r>
            <a:endParaRPr lang="en-US" sz="1250" dirty="0"/>
          </a:p>
        </p:txBody>
      </p:sp>
      <p:sp>
        <p:nvSpPr>
          <p:cNvPr id="6" name="Text 4"/>
          <p:cNvSpPr/>
          <p:nvPr/>
        </p:nvSpPr>
        <p:spPr>
          <a:xfrm>
            <a:off x="640080" y="1554480"/>
            <a:ext cx="5394960" cy="1737360"/>
          </a:xfrm>
          <a:prstGeom prst="rect">
            <a:avLst/>
          </a:prstGeom>
          <a:noFill/>
          <a:ln/>
        </p:spPr>
        <p:txBody>
          <a:bodyPr wrap="square" lIns="0" tIns="0" rIns="0" bIns="0" rtlCol="0" anchor="t"/>
          <a:lstStyle/>
          <a:p>
            <a:pPr algn="l" indent="0" marL="0">
              <a:lnSpc>
                <a:spcPct val="100000"/>
              </a:lnSpc>
              <a:buNone/>
            </a:pPr>
            <a:r>
              <a:rPr lang="en-US" sz="4400" b="1" spc="-100" kern="0" dirty="0">
                <a:solidFill>
                  <a:srgbClr val="EAEEFB"/>
                </a:solidFill>
                <a:latin typeface="Arial" pitchFamily="34" charset="0"/>
                <a:ea typeface="Arial" pitchFamily="34" charset="-122"/>
                <a:cs typeface="Arial" pitchFamily="34" charset="-120"/>
              </a:rPr>
              <a:t>Agents can't pay strangers.</a:t>
            </a:r>
            <a:endParaRPr lang="en-US" sz="4400" dirty="0"/>
          </a:p>
        </p:txBody>
      </p:sp>
      <p:sp>
        <p:nvSpPr>
          <p:cNvPr id="7" name="Text 5"/>
          <p:cNvSpPr/>
          <p:nvPr/>
        </p:nvSpPr>
        <p:spPr>
          <a:xfrm>
            <a:off x="640080" y="3429000"/>
            <a:ext cx="5029200" cy="1463040"/>
          </a:xfrm>
          <a:prstGeom prst="rect">
            <a:avLst/>
          </a:prstGeom>
          <a:noFill/>
          <a:ln/>
        </p:spPr>
        <p:txBody>
          <a:bodyPr wrap="square" lIns="0" tIns="0" rIns="0" bIns="0" rtlCol="0" anchor="t"/>
          <a:lstStyle/>
          <a:p>
            <a:pPr algn="l" indent="0" marL="0">
              <a:lnSpc>
                <a:spcPct val="130000"/>
              </a:lnSpc>
              <a:buNone/>
            </a:pPr>
            <a:r>
              <a:rPr lang="en-US" sz="1900" dirty="0">
                <a:solidFill>
                  <a:srgbClr val="8A97B6"/>
                </a:solidFill>
                <a:latin typeface="Arial" pitchFamily="34" charset="0"/>
                <a:ea typeface="Arial" pitchFamily="34" charset="-122"/>
                <a:cs typeface="Arial" pitchFamily="34" charset="-120"/>
              </a:rPr>
              <a:t>An agent can only buy from a service a human already set up an account and a card for.</a:t>
            </a:r>
            <a:endParaRPr lang="en-US" sz="1900" dirty="0"/>
          </a:p>
        </p:txBody>
      </p:sp>
      <p:sp>
        <p:nvSpPr>
          <p:cNvPr id="8" name="Shape 6"/>
          <p:cNvSpPr/>
          <p:nvPr/>
        </p:nvSpPr>
        <p:spPr>
          <a:xfrm>
            <a:off x="6355080" y="1463040"/>
            <a:ext cx="5212080" cy="1298448"/>
          </a:xfrm>
          <a:prstGeom prst="roundRect">
            <a:avLst>
              <a:gd name="adj" fmla="val 6338"/>
            </a:avLst>
          </a:prstGeom>
          <a:solidFill>
            <a:srgbClr val="151D33"/>
          </a:solidFill>
          <a:ln w="12700">
            <a:solidFill>
              <a:srgbClr val="26314F"/>
            </a:solidFill>
            <a:prstDash val="solid"/>
          </a:ln>
        </p:spPr>
      </p:sp>
      <p:sp>
        <p:nvSpPr>
          <p:cNvPr id="9" name="Text 7"/>
          <p:cNvSpPr/>
          <p:nvPr/>
        </p:nvSpPr>
        <p:spPr>
          <a:xfrm>
            <a:off x="6574536" y="1645920"/>
            <a:ext cx="4773168" cy="457200"/>
          </a:xfrm>
          <a:prstGeom prst="rect">
            <a:avLst/>
          </a:prstGeom>
          <a:noFill/>
          <a:ln/>
        </p:spPr>
        <p:txBody>
          <a:bodyPr wrap="square" lIns="0" tIns="0" rIns="0" bIns="0" rtlCol="0" anchor="t"/>
          <a:lstStyle/>
          <a:p>
            <a:pPr algn="l" indent="0" marL="0">
              <a:buNone/>
            </a:pPr>
            <a:r>
              <a:rPr lang="en-US" sz="1500" b="1" dirty="0">
                <a:solidFill>
                  <a:srgbClr val="EAEEFB"/>
                </a:solidFill>
                <a:latin typeface="Arial" pitchFamily="34" charset="0"/>
                <a:ea typeface="Arial" pitchFamily="34" charset="-122"/>
                <a:cs typeface="Arial" pitchFamily="34" charset="-120"/>
              </a:rPr>
              <a:t>Trust runs both ways</a:t>
            </a:r>
            <a:endParaRPr lang="en-US" sz="1500" dirty="0"/>
          </a:p>
        </p:txBody>
      </p:sp>
      <p:sp>
        <p:nvSpPr>
          <p:cNvPr id="10" name="Text 8"/>
          <p:cNvSpPr/>
          <p:nvPr/>
        </p:nvSpPr>
        <p:spPr>
          <a:xfrm>
            <a:off x="6574536" y="2139696"/>
            <a:ext cx="477316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The service can't tell the agent will pay. The agent can't tell the service will deliver.</a:t>
            </a:r>
            <a:endParaRPr lang="en-US" sz="1200" dirty="0"/>
          </a:p>
        </p:txBody>
      </p:sp>
      <p:sp>
        <p:nvSpPr>
          <p:cNvPr id="11" name="Shape 9"/>
          <p:cNvSpPr/>
          <p:nvPr/>
        </p:nvSpPr>
        <p:spPr>
          <a:xfrm>
            <a:off x="6355080" y="3017520"/>
            <a:ext cx="5212080" cy="1298448"/>
          </a:xfrm>
          <a:prstGeom prst="roundRect">
            <a:avLst>
              <a:gd name="adj" fmla="val 6338"/>
            </a:avLst>
          </a:prstGeom>
          <a:solidFill>
            <a:srgbClr val="151D33"/>
          </a:solidFill>
          <a:ln w="12700">
            <a:solidFill>
              <a:srgbClr val="26314F"/>
            </a:solidFill>
            <a:prstDash val="solid"/>
          </a:ln>
        </p:spPr>
      </p:sp>
      <p:sp>
        <p:nvSpPr>
          <p:cNvPr id="12" name="Text 10"/>
          <p:cNvSpPr/>
          <p:nvPr/>
        </p:nvSpPr>
        <p:spPr>
          <a:xfrm>
            <a:off x="6574536" y="3200400"/>
            <a:ext cx="4773168" cy="457200"/>
          </a:xfrm>
          <a:prstGeom prst="rect">
            <a:avLst/>
          </a:prstGeom>
          <a:noFill/>
          <a:ln/>
        </p:spPr>
        <p:txBody>
          <a:bodyPr wrap="square" lIns="0" tIns="0" rIns="0" bIns="0" rtlCol="0" anchor="t"/>
          <a:lstStyle/>
          <a:p>
            <a:pPr algn="l" indent="0" marL="0">
              <a:buNone/>
            </a:pPr>
            <a:r>
              <a:rPr lang="en-US" sz="1500" b="1" dirty="0">
                <a:solidFill>
                  <a:srgbClr val="EAEEFB"/>
                </a:solidFill>
                <a:latin typeface="Arial" pitchFamily="34" charset="0"/>
                <a:ea typeface="Arial" pitchFamily="34" charset="-122"/>
                <a:cs typeface="Arial" pitchFamily="34" charset="-120"/>
              </a:rPr>
              <a:t>So: pre-funded vendors only</a:t>
            </a:r>
            <a:endParaRPr lang="en-US" sz="1500" dirty="0"/>
          </a:p>
        </p:txBody>
      </p:sp>
      <p:sp>
        <p:nvSpPr>
          <p:cNvPr id="13" name="Text 11"/>
          <p:cNvSpPr/>
          <p:nvPr/>
        </p:nvSpPr>
        <p:spPr>
          <a:xfrm>
            <a:off x="6574536" y="3694176"/>
            <a:ext cx="477316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Agents are boxed into a hand-curated list of pre-approved suppliers.</a:t>
            </a:r>
            <a:endParaRPr lang="en-US" sz="1200" dirty="0"/>
          </a:p>
        </p:txBody>
      </p:sp>
      <p:sp>
        <p:nvSpPr>
          <p:cNvPr id="14" name="Shape 12"/>
          <p:cNvSpPr/>
          <p:nvPr/>
        </p:nvSpPr>
        <p:spPr>
          <a:xfrm>
            <a:off x="6355080" y="4572000"/>
            <a:ext cx="5212080" cy="1298448"/>
          </a:xfrm>
          <a:prstGeom prst="roundRect">
            <a:avLst>
              <a:gd name="adj" fmla="val 6338"/>
            </a:avLst>
          </a:prstGeom>
          <a:solidFill>
            <a:srgbClr val="151D33"/>
          </a:solidFill>
          <a:ln w="12700">
            <a:solidFill>
              <a:srgbClr val="26314F"/>
            </a:solidFill>
            <a:prstDash val="solid"/>
          </a:ln>
        </p:spPr>
      </p:sp>
      <p:sp>
        <p:nvSpPr>
          <p:cNvPr id="15" name="Text 13"/>
          <p:cNvSpPr/>
          <p:nvPr/>
        </p:nvSpPr>
        <p:spPr>
          <a:xfrm>
            <a:off x="6574536" y="4754880"/>
            <a:ext cx="4773168" cy="457200"/>
          </a:xfrm>
          <a:prstGeom prst="rect">
            <a:avLst/>
          </a:prstGeom>
          <a:noFill/>
          <a:ln/>
        </p:spPr>
        <p:txBody>
          <a:bodyPr wrap="square" lIns="0" tIns="0" rIns="0" bIns="0" rtlCol="0" anchor="t"/>
          <a:lstStyle/>
          <a:p>
            <a:pPr algn="l" indent="0" marL="0">
              <a:buNone/>
            </a:pPr>
            <a:r>
              <a:rPr lang="en-US" sz="1500" b="1" dirty="0">
                <a:solidFill>
                  <a:srgbClr val="4D8BFF"/>
                </a:solidFill>
                <a:latin typeface="Arial" pitchFamily="34" charset="0"/>
                <a:ea typeface="Arial" pitchFamily="34" charset="-122"/>
                <a:cs typeface="Arial" pitchFamily="34" charset="-120"/>
              </a:rPr>
              <a:t>That isn't an economy</a:t>
            </a:r>
            <a:endParaRPr lang="en-US" sz="1500" dirty="0"/>
          </a:p>
        </p:txBody>
      </p:sp>
      <p:sp>
        <p:nvSpPr>
          <p:cNvPr id="16" name="Text 14"/>
          <p:cNvSpPr/>
          <p:nvPr/>
        </p:nvSpPr>
        <p:spPr>
          <a:xfrm>
            <a:off x="6574536" y="5248656"/>
            <a:ext cx="477316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Real machine-to-machine commerce needs strangers to transact safely.</a:t>
            </a:r>
            <a:endParaRPr lang="en-US" sz="1200" dirty="0"/>
          </a:p>
        </p:txBody>
      </p:sp>
      <p:sp>
        <p:nvSpPr>
          <p:cNvPr id="17" name="Text 15"/>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THE PROBLEM</a:t>
            </a:r>
            <a:endParaRPr lang="en-US" sz="1050" dirty="0"/>
          </a:p>
        </p:txBody>
      </p:sp>
      <p:sp>
        <p:nvSpPr>
          <p:cNvPr id="18" name="Text 16"/>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02</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THE INSIGHT</a:t>
            </a:r>
            <a:endParaRPr lang="en-US" sz="1250" dirty="0"/>
          </a:p>
        </p:txBody>
      </p:sp>
      <p:sp>
        <p:nvSpPr>
          <p:cNvPr id="6" name="Text 4"/>
          <p:cNvSpPr/>
          <p:nvPr/>
        </p:nvSpPr>
        <p:spPr>
          <a:xfrm>
            <a:off x="640080" y="2011680"/>
            <a:ext cx="10424160" cy="2194560"/>
          </a:xfrm>
          <a:prstGeom prst="rect">
            <a:avLst/>
          </a:prstGeom>
          <a:noFill/>
          <a:ln/>
        </p:spPr>
        <p:txBody>
          <a:bodyPr wrap="square" lIns="0" tIns="0" rIns="0" bIns="0" rtlCol="0" anchor="ctr"/>
          <a:lstStyle/>
          <a:p>
            <a:pPr algn="l" indent="0" marL="0">
              <a:lnSpc>
                <a:spcPct val="108000"/>
              </a:lnSpc>
              <a:buNone/>
            </a:pPr>
            <a:r>
              <a:rPr lang="en-US" sz="5000" b="1" spc="-100" kern="0" dirty="0">
                <a:solidFill>
                  <a:srgbClr val="EAEEFB"/>
                </a:solidFill>
                <a:latin typeface="Arial" pitchFamily="34" charset="0"/>
                <a:ea typeface="Arial" pitchFamily="34" charset="-122"/>
                <a:cs typeface="Arial" pitchFamily="34" charset="-120"/>
              </a:rPr>
              <a:t>The missing primitive isn't </a:t>
            </a:r>
            <a:pPr algn="l" indent="0" marL="0">
              <a:lnSpc>
                <a:spcPct val="108000"/>
              </a:lnSpc>
              <a:buNone/>
            </a:pPr>
            <a:r>
              <a:rPr lang="en-US" sz="5000" b="1" spc="-100" kern="0" dirty="0">
                <a:solidFill>
                  <a:srgbClr val="5D6A8C"/>
                </a:solidFill>
                <a:latin typeface="Arial" pitchFamily="34" charset="0"/>
                <a:ea typeface="Arial" pitchFamily="34" charset="-122"/>
                <a:cs typeface="Arial" pitchFamily="34" charset="-120"/>
              </a:rPr>
              <a:t>"send USDC."</a:t>
            </a:r>
            <a:pPr algn="l" indent="0" marL="0">
              <a:lnSpc>
                <a:spcPct val="108000"/>
              </a:lnSpc>
              <a:buNone/>
            </a:pPr>
            <a:r>
              <a:rPr lang="en-US" sz="5000" b="1" spc="-100" kern="0" dirty="0">
                <a:solidFill>
                  <a:srgbClr val="000000"/>
                </a:solidFill>
                <a:latin typeface="Arial" pitchFamily="34" charset="0"/>
                <a:ea typeface="Arial" pitchFamily="34" charset="-122"/>
                <a:cs typeface="Arial" pitchFamily="34" charset="-120"/>
              </a:rPr>
              <a:t>
</a:t>
            </a:r>
            <a:pPr algn="l" indent="0" marL="0">
              <a:lnSpc>
                <a:spcPct val="108000"/>
              </a:lnSpc>
              <a:buNone/>
            </a:pPr>
            <a:r>
              <a:rPr lang="en-US" sz="5000" b="1" spc="-100" kern="0" dirty="0">
                <a:solidFill>
                  <a:srgbClr val="EAEEFB"/>
                </a:solidFill>
                <a:latin typeface="Arial" pitchFamily="34" charset="0"/>
                <a:ea typeface="Arial" pitchFamily="34" charset="-122"/>
                <a:cs typeface="Arial" pitchFamily="34" charset="-120"/>
              </a:rPr>
              <a:t>It's </a:t>
            </a:r>
            <a:pPr algn="l" indent="0" marL="0">
              <a:lnSpc>
                <a:spcPct val="108000"/>
              </a:lnSpc>
              <a:buNone/>
            </a:pPr>
            <a:r>
              <a:rPr lang="en-US" sz="5000" b="1" spc="-100" kern="0" dirty="0">
                <a:solidFill>
                  <a:srgbClr val="4D8BFF"/>
                </a:solidFill>
                <a:latin typeface="Arial" pitchFamily="34" charset="0"/>
                <a:ea typeface="Arial" pitchFamily="34" charset="-122"/>
                <a:cs typeface="Arial" pitchFamily="34" charset="-120"/>
              </a:rPr>
              <a:t>escrow + SLA + reputation.</a:t>
            </a:r>
            <a:endParaRPr lang="en-US" sz="5000" dirty="0"/>
          </a:p>
        </p:txBody>
      </p:sp>
      <p:sp>
        <p:nvSpPr>
          <p:cNvPr id="7" name="Text 5"/>
          <p:cNvSpPr/>
          <p:nvPr/>
        </p:nvSpPr>
        <p:spPr>
          <a:xfrm>
            <a:off x="640080" y="4434840"/>
            <a:ext cx="8412480" cy="1097280"/>
          </a:xfrm>
          <a:prstGeom prst="rect">
            <a:avLst/>
          </a:prstGeom>
          <a:noFill/>
          <a:ln/>
        </p:spPr>
        <p:txBody>
          <a:bodyPr wrap="square" lIns="0" tIns="0" rIns="0" bIns="0" rtlCol="0" anchor="t"/>
          <a:lstStyle/>
          <a:p>
            <a:pPr algn="l" indent="0" marL="0">
              <a:lnSpc>
                <a:spcPct val="130000"/>
              </a:lnSpc>
              <a:buNone/>
            </a:pPr>
            <a:r>
              <a:rPr lang="en-US" sz="1900" dirty="0">
                <a:solidFill>
                  <a:srgbClr val="8A97B6"/>
                </a:solidFill>
                <a:latin typeface="Arial" pitchFamily="34" charset="0"/>
                <a:ea typeface="Arial" pitchFamily="34" charset="-122"/>
                <a:cs typeface="Arial" pitchFamily="34" charset="-120"/>
              </a:rPr>
              <a:t>A raw transfer doesn't make a stranger safe to deal with. Programmable escrow — with a delivery guarantee and reputation attached — does.</a:t>
            </a:r>
            <a:endParaRPr lang="en-US" sz="1900" dirty="0"/>
          </a:p>
        </p:txBody>
      </p:sp>
      <p:sp>
        <p:nvSpPr>
          <p:cNvPr id="8" name="Text 6"/>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THE INSIGHT</a:t>
            </a:r>
            <a:endParaRPr lang="en-US" sz="1050" dirty="0"/>
          </a:p>
        </p:txBody>
      </p:sp>
      <p:sp>
        <p:nvSpPr>
          <p:cNvPr id="9" name="Text 7"/>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03</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HOW IT WORKS</a:t>
            </a:r>
            <a:endParaRPr lang="en-US" sz="1250" dirty="0"/>
          </a:p>
        </p:txBody>
      </p:sp>
      <p:sp>
        <p:nvSpPr>
          <p:cNvPr id="6" name="Text 4"/>
          <p:cNvSpPr/>
          <p:nvPr/>
        </p:nvSpPr>
        <p:spPr>
          <a:xfrm>
            <a:off x="640080" y="1234440"/>
            <a:ext cx="10972800" cy="868680"/>
          </a:xfrm>
          <a:prstGeom prst="rect">
            <a:avLst/>
          </a:prstGeom>
          <a:noFill/>
          <a:ln/>
        </p:spPr>
        <p:txBody>
          <a:bodyPr wrap="square" lIns="0" tIns="0" rIns="0" bIns="0" rtlCol="0" anchor="ctr"/>
          <a:lstStyle/>
          <a:p>
            <a:pPr algn="l" indent="0" marL="0">
              <a:buNone/>
            </a:pPr>
            <a:r>
              <a:rPr lang="en-US" sz="3800" b="1" spc="-80" kern="0" dirty="0">
                <a:solidFill>
                  <a:srgbClr val="EAEEFB"/>
                </a:solidFill>
                <a:latin typeface="Arial" pitchFamily="34" charset="0"/>
                <a:ea typeface="Arial" pitchFamily="34" charset="-122"/>
                <a:cs typeface="Arial" pitchFamily="34" charset="-120"/>
              </a:rPr>
              <a:t>402 → decide → escrow → settle or refund</a:t>
            </a:r>
            <a:endParaRPr lang="en-US" sz="3800" dirty="0"/>
          </a:p>
        </p:txBody>
      </p:sp>
      <p:sp>
        <p:nvSpPr>
          <p:cNvPr id="7" name="Shape 5"/>
          <p:cNvSpPr/>
          <p:nvPr/>
        </p:nvSpPr>
        <p:spPr>
          <a:xfrm>
            <a:off x="640080" y="2423160"/>
            <a:ext cx="2439848" cy="2148840"/>
          </a:xfrm>
          <a:prstGeom prst="roundRect">
            <a:avLst>
              <a:gd name="adj" fmla="val 3830"/>
            </a:avLst>
          </a:prstGeom>
          <a:solidFill>
            <a:srgbClr val="151D33"/>
          </a:solidFill>
          <a:ln w="12700">
            <a:solidFill>
              <a:srgbClr val="26314F"/>
            </a:solidFill>
            <a:prstDash val="solid"/>
          </a:ln>
        </p:spPr>
      </p:sp>
      <p:sp>
        <p:nvSpPr>
          <p:cNvPr id="8" name="Text 6"/>
          <p:cNvSpPr/>
          <p:nvPr/>
        </p:nvSpPr>
        <p:spPr>
          <a:xfrm>
            <a:off x="841248" y="2606040"/>
            <a:ext cx="2074088" cy="274320"/>
          </a:xfrm>
          <a:prstGeom prst="rect">
            <a:avLst/>
          </a:prstGeom>
          <a:noFill/>
          <a:ln/>
        </p:spPr>
        <p:txBody>
          <a:bodyPr wrap="square" lIns="0" tIns="0" rIns="0" bIns="0" rtlCol="0" anchor="ctr"/>
          <a:lstStyle/>
          <a:p>
            <a:pPr indent="0" marL="0">
              <a:buNone/>
            </a:pPr>
            <a:r>
              <a:rPr lang="en-US" sz="1200" spc="150" kern="0" dirty="0">
                <a:solidFill>
                  <a:srgbClr val="5D6A8C"/>
                </a:solidFill>
                <a:latin typeface="Consolas" pitchFamily="34" charset="0"/>
                <a:ea typeface="Consolas" pitchFamily="34" charset="-122"/>
                <a:cs typeface="Consolas" pitchFamily="34" charset="-120"/>
              </a:rPr>
              <a:t>01</a:t>
            </a:r>
            <a:endParaRPr lang="en-US" sz="1200" dirty="0"/>
          </a:p>
        </p:txBody>
      </p:sp>
      <p:sp>
        <p:nvSpPr>
          <p:cNvPr id="9" name="Text 7"/>
          <p:cNvSpPr/>
          <p:nvPr/>
        </p:nvSpPr>
        <p:spPr>
          <a:xfrm>
            <a:off x="841248" y="2926080"/>
            <a:ext cx="2074088" cy="502920"/>
          </a:xfrm>
          <a:prstGeom prst="rect">
            <a:avLst/>
          </a:prstGeom>
          <a:noFill/>
          <a:ln/>
        </p:spPr>
        <p:txBody>
          <a:bodyPr wrap="square" lIns="0" tIns="0" rIns="0" bIns="0" rtlCol="0" anchor="ctr"/>
          <a:lstStyle/>
          <a:p>
            <a:pPr indent="0" marL="0">
              <a:buNone/>
            </a:pPr>
            <a:r>
              <a:rPr lang="en-US" sz="2000" b="1" spc="-30" kern="0" dirty="0">
                <a:solidFill>
                  <a:srgbClr val="EAEEFB"/>
                </a:solidFill>
                <a:latin typeface="Arial" pitchFamily="34" charset="0"/>
                <a:ea typeface="Arial" pitchFamily="34" charset="-122"/>
                <a:cs typeface="Arial" pitchFamily="34" charset="-120"/>
              </a:rPr>
              <a:t>Quote</a:t>
            </a:r>
            <a:endParaRPr lang="en-US" sz="2000" dirty="0"/>
          </a:p>
        </p:txBody>
      </p:sp>
      <p:sp>
        <p:nvSpPr>
          <p:cNvPr id="10" name="Text 8"/>
          <p:cNvSpPr/>
          <p:nvPr/>
        </p:nvSpPr>
        <p:spPr>
          <a:xfrm>
            <a:off x="841248" y="3502152"/>
            <a:ext cx="2055800" cy="914400"/>
          </a:xfrm>
          <a:prstGeom prst="rect">
            <a:avLst/>
          </a:prstGeom>
          <a:noFill/>
          <a:ln/>
        </p:spPr>
        <p:txBody>
          <a:bodyPr wrap="square" lIns="0" tIns="0" rIns="0" bIns="0" rtlCol="0" anchor="t"/>
          <a:lstStyle/>
          <a:p>
            <a:pPr indent="0" marL="0">
              <a:lnSpc>
                <a:spcPct val="118000"/>
              </a:lnSpc>
              <a:buNone/>
            </a:pPr>
            <a:r>
              <a:rPr lang="en-US" sz="1250" dirty="0">
                <a:solidFill>
                  <a:srgbClr val="8A97B6"/>
                </a:solidFill>
                <a:latin typeface="Arial" pitchFamily="34" charset="0"/>
                <a:ea typeface="Arial" pitchFamily="34" charset="-122"/>
                <a:cs typeface="Arial" pitchFamily="34" charset="-120"/>
              </a:rPr>
              <a:t>Agent hits a paid endpoint → HTTP 402 + a signed USDC price &amp; SLA.</a:t>
            </a:r>
            <a:endParaRPr lang="en-US" sz="1250" dirty="0"/>
          </a:p>
        </p:txBody>
      </p:sp>
      <p:sp>
        <p:nvSpPr>
          <p:cNvPr id="11" name="Text 9"/>
          <p:cNvSpPr/>
          <p:nvPr/>
        </p:nvSpPr>
        <p:spPr>
          <a:xfrm>
            <a:off x="3079928" y="2423160"/>
            <a:ext cx="384048" cy="2148840"/>
          </a:xfrm>
          <a:prstGeom prst="rect">
            <a:avLst/>
          </a:prstGeom>
          <a:noFill/>
          <a:ln/>
        </p:spPr>
        <p:txBody>
          <a:bodyPr wrap="square" lIns="0" tIns="0" rIns="0" bIns="0" rtlCol="0" anchor="ctr"/>
          <a:lstStyle/>
          <a:p>
            <a:pPr algn="ctr" indent="0" marL="0">
              <a:buNone/>
            </a:pPr>
            <a:r>
              <a:rPr lang="en-US" sz="1800" dirty="0">
                <a:solidFill>
                  <a:srgbClr val="5D6A8C"/>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3463976" y="2423160"/>
            <a:ext cx="2439848" cy="2148840"/>
          </a:xfrm>
          <a:prstGeom prst="roundRect">
            <a:avLst>
              <a:gd name="adj" fmla="val 3830"/>
            </a:avLst>
          </a:prstGeom>
          <a:solidFill>
            <a:srgbClr val="151D33"/>
          </a:solidFill>
          <a:ln w="12700">
            <a:solidFill>
              <a:srgbClr val="26314F"/>
            </a:solidFill>
            <a:prstDash val="solid"/>
          </a:ln>
        </p:spPr>
      </p:sp>
      <p:sp>
        <p:nvSpPr>
          <p:cNvPr id="13" name="Text 11"/>
          <p:cNvSpPr/>
          <p:nvPr/>
        </p:nvSpPr>
        <p:spPr>
          <a:xfrm>
            <a:off x="3665144" y="2606040"/>
            <a:ext cx="2074088" cy="274320"/>
          </a:xfrm>
          <a:prstGeom prst="rect">
            <a:avLst/>
          </a:prstGeom>
          <a:noFill/>
          <a:ln/>
        </p:spPr>
        <p:txBody>
          <a:bodyPr wrap="square" lIns="0" tIns="0" rIns="0" bIns="0" rtlCol="0" anchor="ctr"/>
          <a:lstStyle/>
          <a:p>
            <a:pPr indent="0" marL="0">
              <a:buNone/>
            </a:pPr>
            <a:r>
              <a:rPr lang="en-US" sz="1200" spc="150" kern="0" dirty="0">
                <a:solidFill>
                  <a:srgbClr val="5D6A8C"/>
                </a:solidFill>
                <a:latin typeface="Consolas" pitchFamily="34" charset="0"/>
                <a:ea typeface="Consolas" pitchFamily="34" charset="-122"/>
                <a:cs typeface="Consolas" pitchFamily="34" charset="-120"/>
              </a:rPr>
              <a:t>02</a:t>
            </a:r>
            <a:endParaRPr lang="en-US" sz="1200" dirty="0"/>
          </a:p>
        </p:txBody>
      </p:sp>
      <p:sp>
        <p:nvSpPr>
          <p:cNvPr id="14" name="Text 12"/>
          <p:cNvSpPr/>
          <p:nvPr/>
        </p:nvSpPr>
        <p:spPr>
          <a:xfrm>
            <a:off x="3665144" y="2926080"/>
            <a:ext cx="2074088" cy="502920"/>
          </a:xfrm>
          <a:prstGeom prst="rect">
            <a:avLst/>
          </a:prstGeom>
          <a:noFill/>
          <a:ln/>
        </p:spPr>
        <p:txBody>
          <a:bodyPr wrap="square" lIns="0" tIns="0" rIns="0" bIns="0" rtlCol="0" anchor="ctr"/>
          <a:lstStyle/>
          <a:p>
            <a:pPr indent="0" marL="0">
              <a:buNone/>
            </a:pPr>
            <a:r>
              <a:rPr lang="en-US" sz="2000" b="1" spc="-30" kern="0" dirty="0">
                <a:solidFill>
                  <a:srgbClr val="EAEEFB"/>
                </a:solidFill>
                <a:latin typeface="Arial" pitchFamily="34" charset="0"/>
                <a:ea typeface="Arial" pitchFamily="34" charset="-122"/>
                <a:cs typeface="Arial" pitchFamily="34" charset="-120"/>
              </a:rPr>
              <a:t>Decide</a:t>
            </a:r>
            <a:endParaRPr lang="en-US" sz="2000" dirty="0"/>
          </a:p>
        </p:txBody>
      </p:sp>
      <p:sp>
        <p:nvSpPr>
          <p:cNvPr id="15" name="Text 13"/>
          <p:cNvSpPr/>
          <p:nvPr/>
        </p:nvSpPr>
        <p:spPr>
          <a:xfrm>
            <a:off x="3665144" y="3502152"/>
            <a:ext cx="2055800" cy="914400"/>
          </a:xfrm>
          <a:prstGeom prst="rect">
            <a:avLst/>
          </a:prstGeom>
          <a:noFill/>
          <a:ln/>
        </p:spPr>
        <p:txBody>
          <a:bodyPr wrap="square" lIns="0" tIns="0" rIns="0" bIns="0" rtlCol="0" anchor="t"/>
          <a:lstStyle/>
          <a:p>
            <a:pPr indent="0" marL="0">
              <a:lnSpc>
                <a:spcPct val="118000"/>
              </a:lnSpc>
              <a:buNone/>
            </a:pPr>
            <a:r>
              <a:rPr lang="en-US" sz="1250" dirty="0">
                <a:solidFill>
                  <a:srgbClr val="8A97B6"/>
                </a:solidFill>
                <a:latin typeface="Arial" pitchFamily="34" charset="0"/>
                <a:ea typeface="Arial" pitchFamily="34" charset="-122"/>
                <a:cs typeface="Arial" pitchFamily="34" charset="-120"/>
              </a:rPr>
              <a:t>Rules/LLM engine weighs budget, on-chain reputation, stake &amp; memory.</a:t>
            </a:r>
            <a:endParaRPr lang="en-US" sz="1250" dirty="0"/>
          </a:p>
        </p:txBody>
      </p:sp>
      <p:sp>
        <p:nvSpPr>
          <p:cNvPr id="16" name="Text 14"/>
          <p:cNvSpPr/>
          <p:nvPr/>
        </p:nvSpPr>
        <p:spPr>
          <a:xfrm>
            <a:off x="5903824" y="2423160"/>
            <a:ext cx="384048" cy="2148840"/>
          </a:xfrm>
          <a:prstGeom prst="rect">
            <a:avLst/>
          </a:prstGeom>
          <a:noFill/>
          <a:ln/>
        </p:spPr>
        <p:txBody>
          <a:bodyPr wrap="square" lIns="0" tIns="0" rIns="0" bIns="0" rtlCol="0" anchor="ctr"/>
          <a:lstStyle/>
          <a:p>
            <a:pPr algn="ctr" indent="0" marL="0">
              <a:buNone/>
            </a:pPr>
            <a:r>
              <a:rPr lang="en-US" sz="1800" dirty="0">
                <a:solidFill>
                  <a:srgbClr val="5D6A8C"/>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6287872" y="2423160"/>
            <a:ext cx="2439848" cy="2148840"/>
          </a:xfrm>
          <a:prstGeom prst="roundRect">
            <a:avLst>
              <a:gd name="adj" fmla="val 3830"/>
            </a:avLst>
          </a:prstGeom>
          <a:solidFill>
            <a:srgbClr val="151D33"/>
          </a:solidFill>
          <a:ln w="12700">
            <a:solidFill>
              <a:srgbClr val="26314F"/>
            </a:solidFill>
            <a:prstDash val="solid"/>
          </a:ln>
        </p:spPr>
      </p:sp>
      <p:sp>
        <p:nvSpPr>
          <p:cNvPr id="18" name="Text 16"/>
          <p:cNvSpPr/>
          <p:nvPr/>
        </p:nvSpPr>
        <p:spPr>
          <a:xfrm>
            <a:off x="6489040" y="2606040"/>
            <a:ext cx="2074088" cy="274320"/>
          </a:xfrm>
          <a:prstGeom prst="rect">
            <a:avLst/>
          </a:prstGeom>
          <a:noFill/>
          <a:ln/>
        </p:spPr>
        <p:txBody>
          <a:bodyPr wrap="square" lIns="0" tIns="0" rIns="0" bIns="0" rtlCol="0" anchor="ctr"/>
          <a:lstStyle/>
          <a:p>
            <a:pPr indent="0" marL="0">
              <a:buNone/>
            </a:pPr>
            <a:r>
              <a:rPr lang="en-US" sz="1200" spc="150" kern="0" dirty="0">
                <a:solidFill>
                  <a:srgbClr val="5D6A8C"/>
                </a:solidFill>
                <a:latin typeface="Consolas" pitchFamily="34" charset="0"/>
                <a:ea typeface="Consolas" pitchFamily="34" charset="-122"/>
                <a:cs typeface="Consolas" pitchFamily="34" charset="-120"/>
              </a:rPr>
              <a:t>03</a:t>
            </a:r>
            <a:endParaRPr lang="en-US" sz="1200" dirty="0"/>
          </a:p>
        </p:txBody>
      </p:sp>
      <p:sp>
        <p:nvSpPr>
          <p:cNvPr id="19" name="Text 17"/>
          <p:cNvSpPr/>
          <p:nvPr/>
        </p:nvSpPr>
        <p:spPr>
          <a:xfrm>
            <a:off x="6489040" y="2926080"/>
            <a:ext cx="2074088" cy="502920"/>
          </a:xfrm>
          <a:prstGeom prst="rect">
            <a:avLst/>
          </a:prstGeom>
          <a:noFill/>
          <a:ln/>
        </p:spPr>
        <p:txBody>
          <a:bodyPr wrap="square" lIns="0" tIns="0" rIns="0" bIns="0" rtlCol="0" anchor="ctr"/>
          <a:lstStyle/>
          <a:p>
            <a:pPr indent="0" marL="0">
              <a:buNone/>
            </a:pPr>
            <a:r>
              <a:rPr lang="en-US" sz="2000" b="1" spc="-30" kern="0" dirty="0">
                <a:solidFill>
                  <a:srgbClr val="EAEEFB"/>
                </a:solidFill>
                <a:latin typeface="Arial" pitchFamily="34" charset="0"/>
                <a:ea typeface="Arial" pitchFamily="34" charset="-122"/>
                <a:cs typeface="Arial" pitchFamily="34" charset="-120"/>
              </a:rPr>
              <a:t>Escrow</a:t>
            </a:r>
            <a:endParaRPr lang="en-US" sz="2000" dirty="0"/>
          </a:p>
        </p:txBody>
      </p:sp>
      <p:sp>
        <p:nvSpPr>
          <p:cNvPr id="20" name="Text 18"/>
          <p:cNvSpPr/>
          <p:nvPr/>
        </p:nvSpPr>
        <p:spPr>
          <a:xfrm>
            <a:off x="6489040" y="3502152"/>
            <a:ext cx="2055800" cy="914400"/>
          </a:xfrm>
          <a:prstGeom prst="rect">
            <a:avLst/>
          </a:prstGeom>
          <a:noFill/>
          <a:ln/>
        </p:spPr>
        <p:txBody>
          <a:bodyPr wrap="square" lIns="0" tIns="0" rIns="0" bIns="0" rtlCol="0" anchor="t"/>
          <a:lstStyle/>
          <a:p>
            <a:pPr indent="0" marL="0">
              <a:lnSpc>
                <a:spcPct val="118000"/>
              </a:lnSpc>
              <a:buNone/>
            </a:pPr>
            <a:r>
              <a:rPr lang="en-US" sz="1250" dirty="0">
                <a:solidFill>
                  <a:srgbClr val="8A97B6"/>
                </a:solidFill>
                <a:latin typeface="Arial" pitchFamily="34" charset="0"/>
                <a:ea typeface="Arial" pitchFamily="34" charset="-122"/>
                <a:cs typeface="Arial" pitchFamily="34" charset="-120"/>
              </a:rPr>
              <a:t>Locks a nano USDC payment in TesseraEscrow on Arc.</a:t>
            </a:r>
            <a:endParaRPr lang="en-US" sz="1250" dirty="0"/>
          </a:p>
        </p:txBody>
      </p:sp>
      <p:sp>
        <p:nvSpPr>
          <p:cNvPr id="21" name="Text 19"/>
          <p:cNvSpPr/>
          <p:nvPr/>
        </p:nvSpPr>
        <p:spPr>
          <a:xfrm>
            <a:off x="8727719" y="2423160"/>
            <a:ext cx="384048" cy="2148840"/>
          </a:xfrm>
          <a:prstGeom prst="rect">
            <a:avLst/>
          </a:prstGeom>
          <a:noFill/>
          <a:ln/>
        </p:spPr>
        <p:txBody>
          <a:bodyPr wrap="square" lIns="0" tIns="0" rIns="0" bIns="0" rtlCol="0" anchor="ctr"/>
          <a:lstStyle/>
          <a:p>
            <a:pPr algn="ctr" indent="0" marL="0">
              <a:buNone/>
            </a:pPr>
            <a:r>
              <a:rPr lang="en-US" sz="1800" dirty="0">
                <a:solidFill>
                  <a:srgbClr val="5D6A8C"/>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9111767" y="2423160"/>
            <a:ext cx="2439848" cy="2148840"/>
          </a:xfrm>
          <a:prstGeom prst="roundRect">
            <a:avLst>
              <a:gd name="adj" fmla="val 3830"/>
            </a:avLst>
          </a:prstGeom>
          <a:solidFill>
            <a:srgbClr val="151D33"/>
          </a:solidFill>
          <a:ln w="12700">
            <a:solidFill>
              <a:srgbClr val="26314F"/>
            </a:solidFill>
            <a:prstDash val="solid"/>
          </a:ln>
        </p:spPr>
      </p:sp>
      <p:sp>
        <p:nvSpPr>
          <p:cNvPr id="23" name="Text 21"/>
          <p:cNvSpPr/>
          <p:nvPr/>
        </p:nvSpPr>
        <p:spPr>
          <a:xfrm>
            <a:off x="9312935" y="2606040"/>
            <a:ext cx="2074088" cy="274320"/>
          </a:xfrm>
          <a:prstGeom prst="rect">
            <a:avLst/>
          </a:prstGeom>
          <a:noFill/>
          <a:ln/>
        </p:spPr>
        <p:txBody>
          <a:bodyPr wrap="square" lIns="0" tIns="0" rIns="0" bIns="0" rtlCol="0" anchor="ctr"/>
          <a:lstStyle/>
          <a:p>
            <a:pPr indent="0" marL="0">
              <a:buNone/>
            </a:pPr>
            <a:r>
              <a:rPr lang="en-US" sz="1200" spc="150" kern="0" dirty="0">
                <a:solidFill>
                  <a:srgbClr val="5D6A8C"/>
                </a:solidFill>
                <a:latin typeface="Consolas" pitchFamily="34" charset="0"/>
                <a:ea typeface="Consolas" pitchFamily="34" charset="-122"/>
                <a:cs typeface="Consolas" pitchFamily="34" charset="-120"/>
              </a:rPr>
              <a:t>04</a:t>
            </a:r>
            <a:endParaRPr lang="en-US" sz="1200" dirty="0"/>
          </a:p>
        </p:txBody>
      </p:sp>
      <p:sp>
        <p:nvSpPr>
          <p:cNvPr id="24" name="Text 22"/>
          <p:cNvSpPr/>
          <p:nvPr/>
        </p:nvSpPr>
        <p:spPr>
          <a:xfrm>
            <a:off x="9312935" y="2926080"/>
            <a:ext cx="2074088" cy="502920"/>
          </a:xfrm>
          <a:prstGeom prst="rect">
            <a:avLst/>
          </a:prstGeom>
          <a:noFill/>
          <a:ln/>
        </p:spPr>
        <p:txBody>
          <a:bodyPr wrap="square" lIns="0" tIns="0" rIns="0" bIns="0" rtlCol="0" anchor="ctr"/>
          <a:lstStyle/>
          <a:p>
            <a:pPr indent="0" marL="0">
              <a:buNone/>
            </a:pPr>
            <a:r>
              <a:rPr lang="en-US" sz="2000" b="1" spc="-30" kern="0" dirty="0">
                <a:solidFill>
                  <a:srgbClr val="EAEEFB"/>
                </a:solidFill>
                <a:latin typeface="Arial" pitchFamily="34" charset="0"/>
                <a:ea typeface="Arial" pitchFamily="34" charset="-122"/>
                <a:cs typeface="Arial" pitchFamily="34" charset="-120"/>
              </a:rPr>
              <a:t>Settle / Refund</a:t>
            </a:r>
            <a:endParaRPr lang="en-US" sz="2000" dirty="0"/>
          </a:p>
        </p:txBody>
      </p:sp>
      <p:sp>
        <p:nvSpPr>
          <p:cNvPr id="25" name="Text 23"/>
          <p:cNvSpPr/>
          <p:nvPr/>
        </p:nvSpPr>
        <p:spPr>
          <a:xfrm>
            <a:off x="9312935" y="3502152"/>
            <a:ext cx="2055800" cy="914400"/>
          </a:xfrm>
          <a:prstGeom prst="rect">
            <a:avLst/>
          </a:prstGeom>
          <a:noFill/>
          <a:ln/>
        </p:spPr>
        <p:txBody>
          <a:bodyPr wrap="square" lIns="0" tIns="0" rIns="0" bIns="0" rtlCol="0" anchor="t"/>
          <a:lstStyle/>
          <a:p>
            <a:pPr indent="0" marL="0">
              <a:lnSpc>
                <a:spcPct val="118000"/>
              </a:lnSpc>
              <a:buNone/>
            </a:pPr>
            <a:r>
              <a:rPr lang="en-US" sz="1250" dirty="0">
                <a:solidFill>
                  <a:srgbClr val="34D399"/>
                </a:solidFill>
                <a:latin typeface="Arial" pitchFamily="34" charset="0"/>
                <a:ea typeface="Arial" pitchFamily="34" charset="-122"/>
                <a:cs typeface="Arial" pitchFamily="34" charset="-120"/>
              </a:rPr>
              <a:t>Delivered → released.</a:t>
            </a:r>
            <a:pPr indent="0" marL="0">
              <a:lnSpc>
                <a:spcPct val="118000"/>
              </a:lnSpc>
              <a:buNone/>
            </a:pPr>
            <a:r>
              <a:rPr lang="en-US" sz="1250" dirty="0">
                <a:solidFill>
                  <a:srgbClr val="F5B544"/>
                </a:solidFill>
                <a:latin typeface="Arial" pitchFamily="34" charset="0"/>
                <a:ea typeface="Arial" pitchFamily="34" charset="-122"/>
                <a:cs typeface="Arial" pitchFamily="34" charset="-120"/>
              </a:rPr>
              <a:t>  SLA breach → reclaimed.</a:t>
            </a:r>
            <a:endParaRPr lang="en-US" sz="1250" dirty="0"/>
          </a:p>
        </p:txBody>
      </p:sp>
      <p:sp>
        <p:nvSpPr>
          <p:cNvPr id="26" name="Text 24"/>
          <p:cNvSpPr/>
          <p:nvPr/>
        </p:nvSpPr>
        <p:spPr>
          <a:xfrm>
            <a:off x="640080" y="4937760"/>
            <a:ext cx="10424160" cy="1097280"/>
          </a:xfrm>
          <a:prstGeom prst="rect">
            <a:avLst/>
          </a:prstGeom>
          <a:noFill/>
          <a:ln/>
        </p:spPr>
        <p:txBody>
          <a:bodyPr wrap="square" lIns="0" tIns="0" rIns="0" bIns="0" rtlCol="0" anchor="t"/>
          <a:lstStyle/>
          <a:p>
            <a:pPr algn="l" indent="0" marL="0">
              <a:lnSpc>
                <a:spcPct val="130000"/>
              </a:lnSpc>
              <a:buNone/>
            </a:pPr>
            <a:r>
              <a:rPr lang="en-US" sz="1800" dirty="0">
                <a:solidFill>
                  <a:srgbClr val="8A97B6"/>
                </a:solidFill>
                <a:latin typeface="Arial" pitchFamily="34" charset="0"/>
                <a:ea typeface="Arial" pitchFamily="34" charset="-122"/>
                <a:cs typeface="Arial" pitchFamily="34" charset="-120"/>
              </a:rPr>
              <a:t>USDC is Arc's </a:t>
            </a:r>
            <a:pPr algn="l" indent="0" marL="0">
              <a:lnSpc>
                <a:spcPct val="130000"/>
              </a:lnSpc>
              <a:buNone/>
            </a:pPr>
            <a:r>
              <a:rPr lang="en-US" sz="1800" b="1" dirty="0">
                <a:solidFill>
                  <a:srgbClr val="4D8BFF"/>
                </a:solidFill>
                <a:latin typeface="Arial" pitchFamily="34" charset="0"/>
                <a:ea typeface="Arial" pitchFamily="34" charset="-122"/>
                <a:cs typeface="Arial" pitchFamily="34" charset="-120"/>
              </a:rPr>
              <a:t>gas token</a:t>
            </a:r>
            <a:pPr algn="l" indent="0" marL="0">
              <a:lnSpc>
                <a:spcPct val="130000"/>
              </a:lnSpc>
              <a:buNone/>
            </a:pPr>
            <a:r>
              <a:rPr lang="en-US" sz="1800" dirty="0">
                <a:solidFill>
                  <a:srgbClr val="8A97B6"/>
                </a:solidFill>
                <a:latin typeface="Arial" pitchFamily="34" charset="0"/>
                <a:ea typeface="Arial" pitchFamily="34" charset="-122"/>
                <a:cs typeface="Arial" pitchFamily="34" charset="-120"/>
              </a:rPr>
              <a:t>, so the agent funds one asset for the toll and the fees — and sub-second finality lets a payment settle inside the request.</a:t>
            </a:r>
            <a:endParaRPr lang="en-US" sz="1800" dirty="0"/>
          </a:p>
        </p:txBody>
      </p:sp>
      <p:sp>
        <p:nvSpPr>
          <p:cNvPr id="27" name="Text 25"/>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HOW IT WORKS</a:t>
            </a:r>
            <a:endParaRPr lang="en-US" sz="1050" dirty="0"/>
          </a:p>
        </p:txBody>
      </p:sp>
      <p:sp>
        <p:nvSpPr>
          <p:cNvPr id="28" name="Text 26"/>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04</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WHAT MAKES IT REAL</a:t>
            </a:r>
            <a:endParaRPr lang="en-US" sz="1250" dirty="0"/>
          </a:p>
        </p:txBody>
      </p:sp>
      <p:sp>
        <p:nvSpPr>
          <p:cNvPr id="6" name="Shape 4"/>
          <p:cNvSpPr/>
          <p:nvPr/>
        </p:nvSpPr>
        <p:spPr>
          <a:xfrm>
            <a:off x="640080" y="1508760"/>
            <a:ext cx="5272888" cy="1874520"/>
          </a:xfrm>
          <a:prstGeom prst="roundRect">
            <a:avLst>
              <a:gd name="adj" fmla="val 4390"/>
            </a:avLst>
          </a:prstGeom>
          <a:solidFill>
            <a:srgbClr val="151D33"/>
          </a:solidFill>
          <a:ln w="12700">
            <a:solidFill>
              <a:srgbClr val="26314F"/>
            </a:solidFill>
            <a:prstDash val="solid"/>
          </a:ln>
        </p:spPr>
      </p:sp>
      <p:sp>
        <p:nvSpPr>
          <p:cNvPr id="7" name="Text 5"/>
          <p:cNvSpPr/>
          <p:nvPr/>
        </p:nvSpPr>
        <p:spPr>
          <a:xfrm>
            <a:off x="859536" y="1691640"/>
            <a:ext cx="4833976" cy="457200"/>
          </a:xfrm>
          <a:prstGeom prst="rect">
            <a:avLst/>
          </a:prstGeom>
          <a:noFill/>
          <a:ln/>
        </p:spPr>
        <p:txBody>
          <a:bodyPr wrap="square" lIns="0" tIns="0" rIns="0" bIns="0" rtlCol="0" anchor="t"/>
          <a:lstStyle/>
          <a:p>
            <a:pPr algn="l" indent="0" marL="0">
              <a:buNone/>
            </a:pPr>
            <a:r>
              <a:rPr lang="en-US" sz="1800" b="1" dirty="0">
                <a:solidFill>
                  <a:srgbClr val="4D8BFF"/>
                </a:solidFill>
                <a:latin typeface="Arial" pitchFamily="34" charset="0"/>
                <a:ea typeface="Arial" pitchFamily="34" charset="-122"/>
                <a:cs typeface="Arial" pitchFamily="34" charset="-120"/>
              </a:rPr>
              <a:t>◆  </a:t>
            </a:r>
            <a:pPr algn="l" indent="0" marL="0">
              <a:buNone/>
            </a:pPr>
            <a:r>
              <a:rPr lang="en-US" sz="1800" b="1" dirty="0">
                <a:solidFill>
                  <a:srgbClr val="EAEEFB"/>
                </a:solidFill>
                <a:latin typeface="Arial" pitchFamily="34" charset="0"/>
                <a:ea typeface="Arial" pitchFamily="34" charset="-122"/>
                <a:cs typeface="Arial" pitchFamily="34" charset="-120"/>
              </a:rPr>
              <a:t>Escrow + auto-refund</a:t>
            </a:r>
            <a:endParaRPr lang="en-US" sz="1800" dirty="0"/>
          </a:p>
        </p:txBody>
      </p:sp>
      <p:sp>
        <p:nvSpPr>
          <p:cNvPr id="8" name="Text 6"/>
          <p:cNvSpPr/>
          <p:nvPr/>
        </p:nvSpPr>
        <p:spPr>
          <a:xfrm>
            <a:off x="859536" y="2295144"/>
            <a:ext cx="4833976" cy="978408"/>
          </a:xfrm>
          <a:prstGeom prst="rect">
            <a:avLst/>
          </a:prstGeom>
          <a:noFill/>
          <a:ln/>
        </p:spPr>
        <p:txBody>
          <a:bodyPr wrap="square" lIns="0" tIns="0" rIns="0" bIns="0" rtlCol="0" anchor="t"/>
          <a:lstStyle/>
          <a:p>
            <a:pPr algn="l" indent="0" marL="0">
              <a:lnSpc>
                <a:spcPct val="112000"/>
              </a:lnSpc>
              <a:buNone/>
            </a:pPr>
            <a:r>
              <a:rPr lang="en-US" sz="1350" dirty="0">
                <a:solidFill>
                  <a:srgbClr val="8A97B6"/>
                </a:solidFill>
                <a:latin typeface="Arial" pitchFamily="34" charset="0"/>
                <a:ea typeface="Arial" pitchFamily="34" charset="-122"/>
                <a:cs typeface="Arial" pitchFamily="34" charset="-120"/>
              </a:rPr>
              <a:t>Delivery releases funds; an SLA breach reclaims them automatically. Enforced by the contract, not trust.</a:t>
            </a:r>
            <a:endParaRPr lang="en-US" sz="1350" dirty="0"/>
          </a:p>
        </p:txBody>
      </p:sp>
      <p:sp>
        <p:nvSpPr>
          <p:cNvPr id="9" name="Shape 7"/>
          <p:cNvSpPr/>
          <p:nvPr/>
        </p:nvSpPr>
        <p:spPr>
          <a:xfrm>
            <a:off x="6278728" y="1508760"/>
            <a:ext cx="5272888" cy="1874520"/>
          </a:xfrm>
          <a:prstGeom prst="roundRect">
            <a:avLst>
              <a:gd name="adj" fmla="val 4390"/>
            </a:avLst>
          </a:prstGeom>
          <a:solidFill>
            <a:srgbClr val="151D33"/>
          </a:solidFill>
          <a:ln w="12700">
            <a:solidFill>
              <a:srgbClr val="26314F"/>
            </a:solidFill>
            <a:prstDash val="solid"/>
          </a:ln>
        </p:spPr>
      </p:sp>
      <p:sp>
        <p:nvSpPr>
          <p:cNvPr id="10" name="Text 8"/>
          <p:cNvSpPr/>
          <p:nvPr/>
        </p:nvSpPr>
        <p:spPr>
          <a:xfrm>
            <a:off x="6498184" y="1691640"/>
            <a:ext cx="4833976" cy="457200"/>
          </a:xfrm>
          <a:prstGeom prst="rect">
            <a:avLst/>
          </a:prstGeom>
          <a:noFill/>
          <a:ln/>
        </p:spPr>
        <p:txBody>
          <a:bodyPr wrap="square" lIns="0" tIns="0" rIns="0" bIns="0" rtlCol="0" anchor="t"/>
          <a:lstStyle/>
          <a:p>
            <a:pPr algn="l" indent="0" marL="0">
              <a:buNone/>
            </a:pPr>
            <a:r>
              <a:rPr lang="en-US" sz="1800" b="1" dirty="0">
                <a:solidFill>
                  <a:srgbClr val="34D399"/>
                </a:solidFill>
                <a:latin typeface="Arial" pitchFamily="34" charset="0"/>
                <a:ea typeface="Arial" pitchFamily="34" charset="-122"/>
                <a:cs typeface="Arial" pitchFamily="34" charset="-120"/>
              </a:rPr>
              <a:t>◆  </a:t>
            </a:r>
            <a:pPr algn="l" indent="0" marL="0">
              <a:buNone/>
            </a:pPr>
            <a:r>
              <a:rPr lang="en-US" sz="1800" b="1" dirty="0">
                <a:solidFill>
                  <a:srgbClr val="EAEEFB"/>
                </a:solidFill>
                <a:latin typeface="Arial" pitchFamily="34" charset="0"/>
                <a:ea typeface="Arial" pitchFamily="34" charset="-122"/>
                <a:cs typeface="Arial" pitchFamily="34" charset="-120"/>
              </a:rPr>
              <a:t>Provider staking &amp; slashing</a:t>
            </a:r>
            <a:endParaRPr lang="en-US" sz="1800" dirty="0"/>
          </a:p>
        </p:txBody>
      </p:sp>
      <p:sp>
        <p:nvSpPr>
          <p:cNvPr id="11" name="Text 9"/>
          <p:cNvSpPr/>
          <p:nvPr/>
        </p:nvSpPr>
        <p:spPr>
          <a:xfrm>
            <a:off x="6498184" y="2295144"/>
            <a:ext cx="4833976" cy="978408"/>
          </a:xfrm>
          <a:prstGeom prst="rect">
            <a:avLst/>
          </a:prstGeom>
          <a:noFill/>
          <a:ln/>
        </p:spPr>
        <p:txBody>
          <a:bodyPr wrap="square" lIns="0" tIns="0" rIns="0" bIns="0" rtlCol="0" anchor="t"/>
          <a:lstStyle/>
          <a:p>
            <a:pPr algn="l" indent="0" marL="0">
              <a:lnSpc>
                <a:spcPct val="112000"/>
              </a:lnSpc>
              <a:buNone/>
            </a:pPr>
            <a:r>
              <a:rPr lang="en-US" sz="1350" dirty="0">
                <a:solidFill>
                  <a:srgbClr val="8A97B6"/>
                </a:solidFill>
                <a:latin typeface="Arial" pitchFamily="34" charset="0"/>
                <a:ea typeface="Arial" pitchFamily="34" charset="-122"/>
                <a:cs typeface="Arial" pitchFamily="34" charset="-120"/>
              </a:rPr>
              <a:t>Providers bond USDC; a breach slashes it to compensate the agent. Skin in the game.</a:t>
            </a:r>
            <a:endParaRPr lang="en-US" sz="1350" dirty="0"/>
          </a:p>
        </p:txBody>
      </p:sp>
      <p:sp>
        <p:nvSpPr>
          <p:cNvPr id="12" name="Shape 10"/>
          <p:cNvSpPr/>
          <p:nvPr/>
        </p:nvSpPr>
        <p:spPr>
          <a:xfrm>
            <a:off x="640080" y="3712464"/>
            <a:ext cx="5272888" cy="1874520"/>
          </a:xfrm>
          <a:prstGeom prst="roundRect">
            <a:avLst>
              <a:gd name="adj" fmla="val 4390"/>
            </a:avLst>
          </a:prstGeom>
          <a:solidFill>
            <a:srgbClr val="151D33"/>
          </a:solidFill>
          <a:ln w="12700">
            <a:solidFill>
              <a:srgbClr val="26314F"/>
            </a:solidFill>
            <a:prstDash val="solid"/>
          </a:ln>
        </p:spPr>
      </p:sp>
      <p:sp>
        <p:nvSpPr>
          <p:cNvPr id="13" name="Text 11"/>
          <p:cNvSpPr/>
          <p:nvPr/>
        </p:nvSpPr>
        <p:spPr>
          <a:xfrm>
            <a:off x="859536" y="3895344"/>
            <a:ext cx="4833976" cy="457200"/>
          </a:xfrm>
          <a:prstGeom prst="rect">
            <a:avLst/>
          </a:prstGeom>
          <a:noFill/>
          <a:ln/>
        </p:spPr>
        <p:txBody>
          <a:bodyPr wrap="square" lIns="0" tIns="0" rIns="0" bIns="0" rtlCol="0" anchor="t"/>
          <a:lstStyle/>
          <a:p>
            <a:pPr algn="l" indent="0" marL="0">
              <a:buNone/>
            </a:pPr>
            <a:r>
              <a:rPr lang="en-US" sz="1800" b="1" dirty="0">
                <a:solidFill>
                  <a:srgbClr val="F5B544"/>
                </a:solidFill>
                <a:latin typeface="Arial" pitchFamily="34" charset="0"/>
                <a:ea typeface="Arial" pitchFamily="34" charset="-122"/>
                <a:cs typeface="Arial" pitchFamily="34" charset="-120"/>
              </a:rPr>
              <a:t>◆  </a:t>
            </a:r>
            <a:pPr algn="l" indent="0" marL="0">
              <a:buNone/>
            </a:pPr>
            <a:r>
              <a:rPr lang="en-US" sz="1800" b="1" dirty="0">
                <a:solidFill>
                  <a:srgbClr val="EAEEFB"/>
                </a:solidFill>
                <a:latin typeface="Arial" pitchFamily="34" charset="0"/>
                <a:ea typeface="Arial" pitchFamily="34" charset="-122"/>
                <a:cs typeface="Arial" pitchFamily="34" charset="-120"/>
              </a:rPr>
              <a:t>Nanopayment tabs</a:t>
            </a:r>
            <a:endParaRPr lang="en-US" sz="1800" dirty="0"/>
          </a:p>
        </p:txBody>
      </p:sp>
      <p:sp>
        <p:nvSpPr>
          <p:cNvPr id="14" name="Text 12"/>
          <p:cNvSpPr/>
          <p:nvPr/>
        </p:nvSpPr>
        <p:spPr>
          <a:xfrm>
            <a:off x="859536" y="4498848"/>
            <a:ext cx="4833976" cy="978408"/>
          </a:xfrm>
          <a:prstGeom prst="rect">
            <a:avLst/>
          </a:prstGeom>
          <a:noFill/>
          <a:ln/>
        </p:spPr>
        <p:txBody>
          <a:bodyPr wrap="square" lIns="0" tIns="0" rIns="0" bIns="0" rtlCol="0" anchor="t"/>
          <a:lstStyle/>
          <a:p>
            <a:pPr algn="l" indent="0" marL="0">
              <a:lnSpc>
                <a:spcPct val="112000"/>
              </a:lnSpc>
              <a:buNone/>
            </a:pPr>
            <a:r>
              <a:rPr lang="en-US" sz="1350" dirty="0">
                <a:solidFill>
                  <a:srgbClr val="8A97B6"/>
                </a:solidFill>
                <a:latin typeface="Arial" pitchFamily="34" charset="0"/>
                <a:ea typeface="Arial" pitchFamily="34" charset="-122"/>
                <a:cs typeface="Arial" pitchFamily="34" charset="-120"/>
              </a:rPr>
              <a:t>One deposit, many zero-gas off-chain vouchers, one settlement. Streams at nano-scale.</a:t>
            </a:r>
            <a:endParaRPr lang="en-US" sz="1350" dirty="0"/>
          </a:p>
        </p:txBody>
      </p:sp>
      <p:sp>
        <p:nvSpPr>
          <p:cNvPr id="15" name="Shape 13"/>
          <p:cNvSpPr/>
          <p:nvPr/>
        </p:nvSpPr>
        <p:spPr>
          <a:xfrm>
            <a:off x="6278728" y="3712464"/>
            <a:ext cx="5272888" cy="1874520"/>
          </a:xfrm>
          <a:prstGeom prst="roundRect">
            <a:avLst>
              <a:gd name="adj" fmla="val 4390"/>
            </a:avLst>
          </a:prstGeom>
          <a:solidFill>
            <a:srgbClr val="151D33"/>
          </a:solidFill>
          <a:ln w="12700">
            <a:solidFill>
              <a:srgbClr val="26314F"/>
            </a:solidFill>
            <a:prstDash val="solid"/>
          </a:ln>
        </p:spPr>
      </p:sp>
      <p:sp>
        <p:nvSpPr>
          <p:cNvPr id="16" name="Text 14"/>
          <p:cNvSpPr/>
          <p:nvPr/>
        </p:nvSpPr>
        <p:spPr>
          <a:xfrm>
            <a:off x="6498184" y="3895344"/>
            <a:ext cx="4833976" cy="457200"/>
          </a:xfrm>
          <a:prstGeom prst="rect">
            <a:avLst/>
          </a:prstGeom>
          <a:noFill/>
          <a:ln/>
        </p:spPr>
        <p:txBody>
          <a:bodyPr wrap="square" lIns="0" tIns="0" rIns="0" bIns="0" rtlCol="0" anchor="t"/>
          <a:lstStyle/>
          <a:p>
            <a:pPr algn="l" indent="0" marL="0">
              <a:buNone/>
            </a:pPr>
            <a:r>
              <a:rPr lang="en-US" sz="1800" b="1" dirty="0">
                <a:solidFill>
                  <a:srgbClr val="4D8BFF"/>
                </a:solidFill>
                <a:latin typeface="Arial" pitchFamily="34" charset="0"/>
                <a:ea typeface="Arial" pitchFamily="34" charset="-122"/>
                <a:cs typeface="Arial" pitchFamily="34" charset="-120"/>
              </a:rPr>
              <a:t>◆  </a:t>
            </a:r>
            <a:pPr algn="l" indent="0" marL="0">
              <a:buNone/>
            </a:pPr>
            <a:r>
              <a:rPr lang="en-US" sz="1800" b="1" dirty="0">
                <a:solidFill>
                  <a:srgbClr val="EAEEFB"/>
                </a:solidFill>
                <a:latin typeface="Arial" pitchFamily="34" charset="0"/>
                <a:ea typeface="Arial" pitchFamily="34" charset="-122"/>
                <a:cs typeface="Arial" pitchFamily="34" charset="-120"/>
              </a:rPr>
              <a:t>Guardian + trust memory</a:t>
            </a:r>
            <a:endParaRPr lang="en-US" sz="1800" dirty="0"/>
          </a:p>
        </p:txBody>
      </p:sp>
      <p:sp>
        <p:nvSpPr>
          <p:cNvPr id="17" name="Text 15"/>
          <p:cNvSpPr/>
          <p:nvPr/>
        </p:nvSpPr>
        <p:spPr>
          <a:xfrm>
            <a:off x="6498184" y="4498848"/>
            <a:ext cx="4833976" cy="978408"/>
          </a:xfrm>
          <a:prstGeom prst="rect">
            <a:avLst/>
          </a:prstGeom>
          <a:noFill/>
          <a:ln/>
        </p:spPr>
        <p:txBody>
          <a:bodyPr wrap="square" lIns="0" tIns="0" rIns="0" bIns="0" rtlCol="0" anchor="t"/>
          <a:lstStyle/>
          <a:p>
            <a:pPr algn="l" indent="0" marL="0">
              <a:lnSpc>
                <a:spcPct val="112000"/>
              </a:lnSpc>
              <a:buNone/>
            </a:pPr>
            <a:r>
              <a:rPr lang="en-US" sz="1350" dirty="0">
                <a:solidFill>
                  <a:srgbClr val="8A97B6"/>
                </a:solidFill>
                <a:latin typeface="Arial" pitchFamily="34" charset="0"/>
                <a:ea typeface="Arial" pitchFamily="34" charset="-122"/>
                <a:cs typeface="Arial" pitchFamily="34" charset="-120"/>
              </a:rPr>
              <a:t>Big buys pause for a human co-signer; a provider that burned this agent is declined next time.</a:t>
            </a:r>
            <a:endParaRPr lang="en-US" sz="1350" dirty="0"/>
          </a:p>
        </p:txBody>
      </p:sp>
      <p:sp>
        <p:nvSpPr>
          <p:cNvPr id="18" name="Text 16"/>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DIFFERENTIATORS</a:t>
            </a:r>
            <a:endParaRPr lang="en-US" sz="1050" dirty="0"/>
          </a:p>
        </p:txBody>
      </p:sp>
      <p:sp>
        <p:nvSpPr>
          <p:cNvPr id="19" name="Text 17"/>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05</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LIVE DEMO · ONE AUTONOMOUS RUN</a:t>
            </a:r>
            <a:endParaRPr lang="en-US" sz="1250" dirty="0"/>
          </a:p>
        </p:txBody>
      </p:sp>
      <p:sp>
        <p:nvSpPr>
          <p:cNvPr id="6" name="Shape 4"/>
          <p:cNvSpPr/>
          <p:nvPr/>
        </p:nvSpPr>
        <p:spPr>
          <a:xfrm>
            <a:off x="640080" y="1554480"/>
            <a:ext cx="5943600" cy="658368"/>
          </a:xfrm>
          <a:prstGeom prst="roundRect">
            <a:avLst>
              <a:gd name="adj" fmla="val 9722"/>
            </a:avLst>
          </a:prstGeom>
          <a:solidFill>
            <a:srgbClr val="151D33"/>
          </a:solidFill>
          <a:ln w="12700">
            <a:solidFill>
              <a:srgbClr val="26314F"/>
            </a:solidFill>
            <a:prstDash val="solid"/>
          </a:ln>
        </p:spPr>
      </p:sp>
      <p:sp>
        <p:nvSpPr>
          <p:cNvPr id="7" name="Text 5"/>
          <p:cNvSpPr/>
          <p:nvPr/>
        </p:nvSpPr>
        <p:spPr>
          <a:xfrm>
            <a:off x="877824" y="1554480"/>
            <a:ext cx="3566160" cy="658368"/>
          </a:xfrm>
          <a:prstGeom prst="rect">
            <a:avLst/>
          </a:prstGeom>
          <a:noFill/>
          <a:ln/>
        </p:spPr>
        <p:txBody>
          <a:bodyPr wrap="square" lIns="0" tIns="0" rIns="0" bIns="0" rtlCol="0" anchor="ctr"/>
          <a:lstStyle/>
          <a:p>
            <a:pPr indent="0" marL="0">
              <a:buNone/>
            </a:pPr>
            <a:r>
              <a:rPr lang="en-US" sz="1350" dirty="0">
                <a:solidFill>
                  <a:srgbClr val="EAEEFB"/>
                </a:solidFill>
                <a:latin typeface="Arial" pitchFamily="34" charset="0"/>
                <a:ea typeface="Arial" pitchFamily="34" charset="-122"/>
                <a:cs typeface="Arial" pitchFamily="34" charset="-120"/>
              </a:rPr>
              <a:t>AtmosFeed — weather</a:t>
            </a:r>
            <a:endParaRPr lang="en-US" sz="1350" dirty="0"/>
          </a:p>
        </p:txBody>
      </p:sp>
      <p:sp>
        <p:nvSpPr>
          <p:cNvPr id="8" name="Text 6"/>
          <p:cNvSpPr/>
          <p:nvPr/>
        </p:nvSpPr>
        <p:spPr>
          <a:xfrm>
            <a:off x="4251960" y="1554480"/>
            <a:ext cx="1051560" cy="658368"/>
          </a:xfrm>
          <a:prstGeom prst="rect">
            <a:avLst/>
          </a:prstGeom>
          <a:noFill/>
          <a:ln/>
        </p:spPr>
        <p:txBody>
          <a:bodyPr wrap="square" lIns="0" tIns="0" rIns="0" bIns="0" rtlCol="0" anchor="ctr"/>
          <a:lstStyle/>
          <a:p>
            <a:pPr algn="r" indent="0" marL="0">
              <a:buNone/>
            </a:pPr>
            <a:r>
              <a:rPr lang="en-US" sz="1250" dirty="0">
                <a:solidFill>
                  <a:srgbClr val="8A97B6"/>
                </a:solidFill>
                <a:latin typeface="Consolas" pitchFamily="34" charset="0"/>
                <a:ea typeface="Consolas" pitchFamily="34" charset="-122"/>
                <a:cs typeface="Consolas" pitchFamily="34" charset="-120"/>
              </a:rPr>
              <a:t>0.0025</a:t>
            </a:r>
            <a:endParaRPr lang="en-US" sz="1250" dirty="0"/>
          </a:p>
        </p:txBody>
      </p:sp>
      <p:sp>
        <p:nvSpPr>
          <p:cNvPr id="9" name="Shape 7"/>
          <p:cNvSpPr/>
          <p:nvPr/>
        </p:nvSpPr>
        <p:spPr>
          <a:xfrm>
            <a:off x="5413248" y="1709928"/>
            <a:ext cx="960120" cy="347472"/>
          </a:xfrm>
          <a:prstGeom prst="roundRect">
            <a:avLst>
              <a:gd name="adj" fmla="val 50000"/>
            </a:avLst>
          </a:prstGeom>
          <a:solidFill>
            <a:srgbClr val="34D399">
              <a:alpha val="18000"/>
            </a:srgbClr>
          </a:solidFill>
          <a:ln w="12700">
            <a:solidFill>
              <a:srgbClr val="34D399"/>
            </a:solidFill>
            <a:prstDash val="solid"/>
          </a:ln>
        </p:spPr>
      </p:sp>
      <p:sp>
        <p:nvSpPr>
          <p:cNvPr id="10" name="Text 8"/>
          <p:cNvSpPr/>
          <p:nvPr/>
        </p:nvSpPr>
        <p:spPr>
          <a:xfrm>
            <a:off x="5413248" y="1709928"/>
            <a:ext cx="960120" cy="347472"/>
          </a:xfrm>
          <a:prstGeom prst="rect">
            <a:avLst/>
          </a:prstGeom>
          <a:noFill/>
          <a:ln/>
        </p:spPr>
        <p:txBody>
          <a:bodyPr wrap="square" lIns="0" tIns="0" rIns="0" bIns="0" rtlCol="0" anchor="ctr"/>
          <a:lstStyle/>
          <a:p>
            <a:pPr algn="ctr" indent="0" marL="0">
              <a:buNone/>
            </a:pPr>
            <a:r>
              <a:rPr lang="en-US" sz="900" b="1" spc="50" kern="0" dirty="0">
                <a:solidFill>
                  <a:srgbClr val="34D399"/>
                </a:solidFill>
                <a:latin typeface="Consolas" pitchFamily="34" charset="0"/>
                <a:ea typeface="Consolas" pitchFamily="34" charset="-122"/>
                <a:cs typeface="Consolas" pitchFamily="34" charset="-120"/>
              </a:rPr>
              <a:t>SETTLED</a:t>
            </a:r>
            <a:endParaRPr lang="en-US" sz="900" dirty="0"/>
          </a:p>
        </p:txBody>
      </p:sp>
      <p:sp>
        <p:nvSpPr>
          <p:cNvPr id="11" name="Shape 9"/>
          <p:cNvSpPr/>
          <p:nvPr/>
        </p:nvSpPr>
        <p:spPr>
          <a:xfrm>
            <a:off x="640080" y="2395728"/>
            <a:ext cx="5943600" cy="658368"/>
          </a:xfrm>
          <a:prstGeom prst="roundRect">
            <a:avLst>
              <a:gd name="adj" fmla="val 9722"/>
            </a:avLst>
          </a:prstGeom>
          <a:solidFill>
            <a:srgbClr val="151D33"/>
          </a:solidFill>
          <a:ln w="12700">
            <a:solidFill>
              <a:srgbClr val="26314F"/>
            </a:solidFill>
            <a:prstDash val="solid"/>
          </a:ln>
        </p:spPr>
      </p:sp>
      <p:sp>
        <p:nvSpPr>
          <p:cNvPr id="12" name="Text 10"/>
          <p:cNvSpPr/>
          <p:nvPr/>
        </p:nvSpPr>
        <p:spPr>
          <a:xfrm>
            <a:off x="877824" y="2395728"/>
            <a:ext cx="3566160" cy="658368"/>
          </a:xfrm>
          <a:prstGeom prst="rect">
            <a:avLst/>
          </a:prstGeom>
          <a:noFill/>
          <a:ln/>
        </p:spPr>
        <p:txBody>
          <a:bodyPr wrap="square" lIns="0" tIns="0" rIns="0" bIns="0" rtlCol="0" anchor="ctr"/>
          <a:lstStyle/>
          <a:p>
            <a:pPr indent="0" marL="0">
              <a:buNone/>
            </a:pPr>
            <a:r>
              <a:rPr lang="en-US" sz="1350" dirty="0">
                <a:solidFill>
                  <a:srgbClr val="EAEEFB"/>
                </a:solidFill>
                <a:latin typeface="Arial" pitchFamily="34" charset="0"/>
                <a:ea typeface="Arial" pitchFamily="34" charset="-122"/>
                <a:cs typeface="Arial" pitchFamily="34" charset="-120"/>
              </a:rPr>
              <a:t>ParityDesk — FX quote</a:t>
            </a:r>
            <a:endParaRPr lang="en-US" sz="1350" dirty="0"/>
          </a:p>
        </p:txBody>
      </p:sp>
      <p:sp>
        <p:nvSpPr>
          <p:cNvPr id="13" name="Text 11"/>
          <p:cNvSpPr/>
          <p:nvPr/>
        </p:nvSpPr>
        <p:spPr>
          <a:xfrm>
            <a:off x="4251960" y="2395728"/>
            <a:ext cx="1051560" cy="658368"/>
          </a:xfrm>
          <a:prstGeom prst="rect">
            <a:avLst/>
          </a:prstGeom>
          <a:noFill/>
          <a:ln/>
        </p:spPr>
        <p:txBody>
          <a:bodyPr wrap="square" lIns="0" tIns="0" rIns="0" bIns="0" rtlCol="0" anchor="ctr"/>
          <a:lstStyle/>
          <a:p>
            <a:pPr algn="r" indent="0" marL="0">
              <a:buNone/>
            </a:pPr>
            <a:r>
              <a:rPr lang="en-US" sz="1250" dirty="0">
                <a:solidFill>
                  <a:srgbClr val="8A97B6"/>
                </a:solidFill>
                <a:latin typeface="Consolas" pitchFamily="34" charset="0"/>
                <a:ea typeface="Consolas" pitchFamily="34" charset="-122"/>
                <a:cs typeface="Consolas" pitchFamily="34" charset="-120"/>
              </a:rPr>
              <a:t>0.0040</a:t>
            </a:r>
            <a:endParaRPr lang="en-US" sz="1250" dirty="0"/>
          </a:p>
        </p:txBody>
      </p:sp>
      <p:sp>
        <p:nvSpPr>
          <p:cNvPr id="14" name="Shape 12"/>
          <p:cNvSpPr/>
          <p:nvPr/>
        </p:nvSpPr>
        <p:spPr>
          <a:xfrm>
            <a:off x="5413248" y="2551176"/>
            <a:ext cx="960120" cy="347472"/>
          </a:xfrm>
          <a:prstGeom prst="roundRect">
            <a:avLst>
              <a:gd name="adj" fmla="val 50000"/>
            </a:avLst>
          </a:prstGeom>
          <a:solidFill>
            <a:srgbClr val="34D399">
              <a:alpha val="18000"/>
            </a:srgbClr>
          </a:solidFill>
          <a:ln w="12700">
            <a:solidFill>
              <a:srgbClr val="34D399"/>
            </a:solidFill>
            <a:prstDash val="solid"/>
          </a:ln>
        </p:spPr>
      </p:sp>
      <p:sp>
        <p:nvSpPr>
          <p:cNvPr id="15" name="Text 13"/>
          <p:cNvSpPr/>
          <p:nvPr/>
        </p:nvSpPr>
        <p:spPr>
          <a:xfrm>
            <a:off x="5413248" y="2551176"/>
            <a:ext cx="960120" cy="347472"/>
          </a:xfrm>
          <a:prstGeom prst="rect">
            <a:avLst/>
          </a:prstGeom>
          <a:noFill/>
          <a:ln/>
        </p:spPr>
        <p:txBody>
          <a:bodyPr wrap="square" lIns="0" tIns="0" rIns="0" bIns="0" rtlCol="0" anchor="ctr"/>
          <a:lstStyle/>
          <a:p>
            <a:pPr algn="ctr" indent="0" marL="0">
              <a:buNone/>
            </a:pPr>
            <a:r>
              <a:rPr lang="en-US" sz="900" b="1" spc="50" kern="0" dirty="0">
                <a:solidFill>
                  <a:srgbClr val="34D399"/>
                </a:solidFill>
                <a:latin typeface="Consolas" pitchFamily="34" charset="0"/>
                <a:ea typeface="Consolas" pitchFamily="34" charset="-122"/>
                <a:cs typeface="Consolas" pitchFamily="34" charset="-120"/>
              </a:rPr>
              <a:t>SETTLED</a:t>
            </a:r>
            <a:endParaRPr lang="en-US" sz="900" dirty="0"/>
          </a:p>
        </p:txBody>
      </p:sp>
      <p:sp>
        <p:nvSpPr>
          <p:cNvPr id="16" name="Shape 14"/>
          <p:cNvSpPr/>
          <p:nvPr/>
        </p:nvSpPr>
        <p:spPr>
          <a:xfrm>
            <a:off x="640080" y="3236976"/>
            <a:ext cx="5943600" cy="658368"/>
          </a:xfrm>
          <a:prstGeom prst="roundRect">
            <a:avLst>
              <a:gd name="adj" fmla="val 9722"/>
            </a:avLst>
          </a:prstGeom>
          <a:solidFill>
            <a:srgbClr val="151D33"/>
          </a:solidFill>
          <a:ln w="12700">
            <a:solidFill>
              <a:srgbClr val="26314F"/>
            </a:solidFill>
            <a:prstDash val="solid"/>
          </a:ln>
        </p:spPr>
      </p:sp>
      <p:sp>
        <p:nvSpPr>
          <p:cNvPr id="17" name="Text 15"/>
          <p:cNvSpPr/>
          <p:nvPr/>
        </p:nvSpPr>
        <p:spPr>
          <a:xfrm>
            <a:off x="877824" y="3236976"/>
            <a:ext cx="3566160" cy="658368"/>
          </a:xfrm>
          <a:prstGeom prst="rect">
            <a:avLst/>
          </a:prstGeom>
          <a:noFill/>
          <a:ln/>
        </p:spPr>
        <p:txBody>
          <a:bodyPr wrap="square" lIns="0" tIns="0" rIns="0" bIns="0" rtlCol="0" anchor="ctr"/>
          <a:lstStyle/>
          <a:p>
            <a:pPr indent="0" marL="0">
              <a:buNone/>
            </a:pPr>
            <a:r>
              <a:rPr lang="en-US" sz="1350" dirty="0">
                <a:solidFill>
                  <a:srgbClr val="EAEEFB"/>
                </a:solidFill>
                <a:latin typeface="Arial" pitchFamily="34" charset="0"/>
                <a:ea typeface="Arial" pitchFamily="34" charset="-122"/>
                <a:cs typeface="Arial" pitchFamily="34" charset="-120"/>
              </a:rPr>
              <a:t>WireScoop — news</a:t>
            </a:r>
            <a:pPr indent="0" marL="0">
              <a:buNone/>
            </a:pPr>
            <a:r>
              <a:rPr lang="en-US" sz="1350" b="1" dirty="0">
                <a:solidFill>
                  <a:srgbClr val="F87171"/>
                </a:solidFill>
                <a:latin typeface="Arial" pitchFamily="34" charset="0"/>
                <a:ea typeface="Arial" pitchFamily="34" charset="-122"/>
                <a:cs typeface="Arial" pitchFamily="34" charset="-120"/>
              </a:rPr>
              <a:t>   · junk</a:t>
            </a:r>
            <a:endParaRPr lang="en-US" sz="1350" dirty="0"/>
          </a:p>
        </p:txBody>
      </p:sp>
      <p:sp>
        <p:nvSpPr>
          <p:cNvPr id="18" name="Text 16"/>
          <p:cNvSpPr/>
          <p:nvPr/>
        </p:nvSpPr>
        <p:spPr>
          <a:xfrm>
            <a:off x="4251960" y="3236976"/>
            <a:ext cx="1051560" cy="658368"/>
          </a:xfrm>
          <a:prstGeom prst="rect">
            <a:avLst/>
          </a:prstGeom>
          <a:noFill/>
          <a:ln/>
        </p:spPr>
        <p:txBody>
          <a:bodyPr wrap="square" lIns="0" tIns="0" rIns="0" bIns="0" rtlCol="0" anchor="ctr"/>
          <a:lstStyle/>
          <a:p>
            <a:pPr algn="r" indent="0" marL="0">
              <a:buNone/>
            </a:pPr>
            <a:r>
              <a:rPr lang="en-US" sz="1250" dirty="0">
                <a:solidFill>
                  <a:srgbClr val="8A97B6"/>
                </a:solidFill>
                <a:latin typeface="Consolas" pitchFamily="34" charset="0"/>
                <a:ea typeface="Consolas" pitchFamily="34" charset="-122"/>
                <a:cs typeface="Consolas" pitchFamily="34" charset="-120"/>
              </a:rPr>
              <a:t>0.0030</a:t>
            </a:r>
            <a:endParaRPr lang="en-US" sz="1250" dirty="0"/>
          </a:p>
        </p:txBody>
      </p:sp>
      <p:sp>
        <p:nvSpPr>
          <p:cNvPr id="19" name="Shape 17"/>
          <p:cNvSpPr/>
          <p:nvPr/>
        </p:nvSpPr>
        <p:spPr>
          <a:xfrm>
            <a:off x="5413248" y="3392424"/>
            <a:ext cx="960120" cy="347472"/>
          </a:xfrm>
          <a:prstGeom prst="roundRect">
            <a:avLst>
              <a:gd name="adj" fmla="val 50000"/>
            </a:avLst>
          </a:prstGeom>
          <a:solidFill>
            <a:srgbClr val="F5B544">
              <a:alpha val="18000"/>
            </a:srgbClr>
          </a:solidFill>
          <a:ln w="12700">
            <a:solidFill>
              <a:srgbClr val="F5B544"/>
            </a:solidFill>
            <a:prstDash val="solid"/>
          </a:ln>
        </p:spPr>
      </p:sp>
      <p:sp>
        <p:nvSpPr>
          <p:cNvPr id="20" name="Text 18"/>
          <p:cNvSpPr/>
          <p:nvPr/>
        </p:nvSpPr>
        <p:spPr>
          <a:xfrm>
            <a:off x="5413248" y="3392424"/>
            <a:ext cx="960120" cy="347472"/>
          </a:xfrm>
          <a:prstGeom prst="rect">
            <a:avLst/>
          </a:prstGeom>
          <a:noFill/>
          <a:ln/>
        </p:spPr>
        <p:txBody>
          <a:bodyPr wrap="square" lIns="0" tIns="0" rIns="0" bIns="0" rtlCol="0" anchor="ctr"/>
          <a:lstStyle/>
          <a:p>
            <a:pPr algn="ctr" indent="0" marL="0">
              <a:buNone/>
            </a:pPr>
            <a:r>
              <a:rPr lang="en-US" sz="900" b="1" spc="50" kern="0" dirty="0">
                <a:solidFill>
                  <a:srgbClr val="F5B544"/>
                </a:solidFill>
                <a:latin typeface="Consolas" pitchFamily="34" charset="0"/>
                <a:ea typeface="Consolas" pitchFamily="34" charset="-122"/>
                <a:cs typeface="Consolas" pitchFamily="34" charset="-120"/>
              </a:rPr>
              <a:t>REFUNDED</a:t>
            </a:r>
            <a:endParaRPr lang="en-US" sz="900" dirty="0"/>
          </a:p>
        </p:txBody>
      </p:sp>
      <p:sp>
        <p:nvSpPr>
          <p:cNvPr id="21" name="Shape 19"/>
          <p:cNvSpPr/>
          <p:nvPr/>
        </p:nvSpPr>
        <p:spPr>
          <a:xfrm>
            <a:off x="640080" y="4078224"/>
            <a:ext cx="5943600" cy="658368"/>
          </a:xfrm>
          <a:prstGeom prst="roundRect">
            <a:avLst>
              <a:gd name="adj" fmla="val 9722"/>
            </a:avLst>
          </a:prstGeom>
          <a:solidFill>
            <a:srgbClr val="151D33"/>
          </a:solidFill>
          <a:ln w="12700">
            <a:solidFill>
              <a:srgbClr val="26314F"/>
            </a:solidFill>
            <a:prstDash val="solid"/>
          </a:ln>
        </p:spPr>
      </p:sp>
      <p:sp>
        <p:nvSpPr>
          <p:cNvPr id="22" name="Text 20"/>
          <p:cNvSpPr/>
          <p:nvPr/>
        </p:nvSpPr>
        <p:spPr>
          <a:xfrm>
            <a:off x="877824" y="4078224"/>
            <a:ext cx="3566160" cy="658368"/>
          </a:xfrm>
          <a:prstGeom prst="rect">
            <a:avLst/>
          </a:prstGeom>
          <a:noFill/>
          <a:ln/>
        </p:spPr>
        <p:txBody>
          <a:bodyPr wrap="square" lIns="0" tIns="0" rIns="0" bIns="0" rtlCol="0" anchor="ctr"/>
          <a:lstStyle/>
          <a:p>
            <a:pPr indent="0" marL="0">
              <a:buNone/>
            </a:pPr>
            <a:r>
              <a:rPr lang="en-US" sz="1350" dirty="0">
                <a:solidFill>
                  <a:srgbClr val="EAEEFB"/>
                </a:solidFill>
                <a:latin typeface="Arial" pitchFamily="34" charset="0"/>
                <a:ea typeface="Arial" pitchFamily="34" charset="-122"/>
                <a:cs typeface="Arial" pitchFamily="34" charset="-120"/>
              </a:rPr>
              <a:t>AlphaSignal — analysis</a:t>
            </a:r>
            <a:pPr indent="0" marL="0">
              <a:buNone/>
            </a:pPr>
            <a:r>
              <a:rPr lang="en-US" sz="1350" b="1" dirty="0">
                <a:solidFill>
                  <a:srgbClr val="4D8BFF"/>
                </a:solidFill>
                <a:latin typeface="Arial" pitchFamily="34" charset="0"/>
                <a:ea typeface="Arial" pitchFamily="34" charset="-122"/>
                <a:cs typeface="Arial" pitchFamily="34" charset="-120"/>
              </a:rPr>
              <a:t>   · guardian</a:t>
            </a:r>
            <a:endParaRPr lang="en-US" sz="1350" dirty="0"/>
          </a:p>
        </p:txBody>
      </p:sp>
      <p:sp>
        <p:nvSpPr>
          <p:cNvPr id="23" name="Text 21"/>
          <p:cNvSpPr/>
          <p:nvPr/>
        </p:nvSpPr>
        <p:spPr>
          <a:xfrm>
            <a:off x="4251960" y="4078224"/>
            <a:ext cx="1051560" cy="658368"/>
          </a:xfrm>
          <a:prstGeom prst="rect">
            <a:avLst/>
          </a:prstGeom>
          <a:noFill/>
          <a:ln/>
        </p:spPr>
        <p:txBody>
          <a:bodyPr wrap="square" lIns="0" tIns="0" rIns="0" bIns="0" rtlCol="0" anchor="ctr"/>
          <a:lstStyle/>
          <a:p>
            <a:pPr algn="r" indent="0" marL="0">
              <a:buNone/>
            </a:pPr>
            <a:r>
              <a:rPr lang="en-US" sz="1250" dirty="0">
                <a:solidFill>
                  <a:srgbClr val="8A97B6"/>
                </a:solidFill>
                <a:latin typeface="Consolas" pitchFamily="34" charset="0"/>
                <a:ea typeface="Consolas" pitchFamily="34" charset="-122"/>
                <a:cs typeface="Consolas" pitchFamily="34" charset="-120"/>
              </a:rPr>
              <a:t>0.0080</a:t>
            </a:r>
            <a:endParaRPr lang="en-US" sz="1250" dirty="0"/>
          </a:p>
        </p:txBody>
      </p:sp>
      <p:sp>
        <p:nvSpPr>
          <p:cNvPr id="24" name="Shape 22"/>
          <p:cNvSpPr/>
          <p:nvPr/>
        </p:nvSpPr>
        <p:spPr>
          <a:xfrm>
            <a:off x="5413248" y="4233672"/>
            <a:ext cx="960120" cy="347472"/>
          </a:xfrm>
          <a:prstGeom prst="roundRect">
            <a:avLst>
              <a:gd name="adj" fmla="val 50000"/>
            </a:avLst>
          </a:prstGeom>
          <a:solidFill>
            <a:srgbClr val="34D399">
              <a:alpha val="18000"/>
            </a:srgbClr>
          </a:solidFill>
          <a:ln w="12700">
            <a:solidFill>
              <a:srgbClr val="34D399"/>
            </a:solidFill>
            <a:prstDash val="solid"/>
          </a:ln>
        </p:spPr>
      </p:sp>
      <p:sp>
        <p:nvSpPr>
          <p:cNvPr id="25" name="Text 23"/>
          <p:cNvSpPr/>
          <p:nvPr/>
        </p:nvSpPr>
        <p:spPr>
          <a:xfrm>
            <a:off x="5413248" y="4233672"/>
            <a:ext cx="960120" cy="347472"/>
          </a:xfrm>
          <a:prstGeom prst="rect">
            <a:avLst/>
          </a:prstGeom>
          <a:noFill/>
          <a:ln/>
        </p:spPr>
        <p:txBody>
          <a:bodyPr wrap="square" lIns="0" tIns="0" rIns="0" bIns="0" rtlCol="0" anchor="ctr"/>
          <a:lstStyle/>
          <a:p>
            <a:pPr algn="ctr" indent="0" marL="0">
              <a:buNone/>
            </a:pPr>
            <a:r>
              <a:rPr lang="en-US" sz="900" b="1" spc="50" kern="0" dirty="0">
                <a:solidFill>
                  <a:srgbClr val="34D399"/>
                </a:solidFill>
                <a:latin typeface="Consolas" pitchFamily="34" charset="0"/>
                <a:ea typeface="Consolas" pitchFamily="34" charset="-122"/>
                <a:cs typeface="Consolas" pitchFamily="34" charset="-120"/>
              </a:rPr>
              <a:t>SETTLED</a:t>
            </a:r>
            <a:endParaRPr lang="en-US" sz="900" dirty="0"/>
          </a:p>
        </p:txBody>
      </p:sp>
      <p:sp>
        <p:nvSpPr>
          <p:cNvPr id="26" name="Shape 24"/>
          <p:cNvSpPr/>
          <p:nvPr/>
        </p:nvSpPr>
        <p:spPr>
          <a:xfrm>
            <a:off x="640080" y="4919472"/>
            <a:ext cx="5943600" cy="658368"/>
          </a:xfrm>
          <a:prstGeom prst="roundRect">
            <a:avLst>
              <a:gd name="adj" fmla="val 9722"/>
            </a:avLst>
          </a:prstGeom>
          <a:solidFill>
            <a:srgbClr val="151D33"/>
          </a:solidFill>
          <a:ln w="12700">
            <a:solidFill>
              <a:srgbClr val="26314F"/>
            </a:solidFill>
            <a:prstDash val="solid"/>
          </a:ln>
        </p:spPr>
      </p:sp>
      <p:sp>
        <p:nvSpPr>
          <p:cNvPr id="27" name="Text 25"/>
          <p:cNvSpPr/>
          <p:nvPr/>
        </p:nvSpPr>
        <p:spPr>
          <a:xfrm>
            <a:off x="877824" y="4919472"/>
            <a:ext cx="3566160" cy="658368"/>
          </a:xfrm>
          <a:prstGeom prst="rect">
            <a:avLst/>
          </a:prstGeom>
          <a:noFill/>
          <a:ln/>
        </p:spPr>
        <p:txBody>
          <a:bodyPr wrap="square" lIns="0" tIns="0" rIns="0" bIns="0" rtlCol="0" anchor="ctr"/>
          <a:lstStyle/>
          <a:p>
            <a:pPr indent="0" marL="0">
              <a:buNone/>
            </a:pPr>
            <a:r>
              <a:rPr lang="en-US" sz="1350" dirty="0">
                <a:solidFill>
                  <a:srgbClr val="EAEEFB"/>
                </a:solidFill>
                <a:latin typeface="Arial" pitchFamily="34" charset="0"/>
                <a:ea typeface="Arial" pitchFamily="34" charset="-122"/>
                <a:cs typeface="Arial" pitchFamily="34" charset="-120"/>
              </a:rPr>
              <a:t>PulseWire — ticker</a:t>
            </a:r>
            <a:pPr indent="0" marL="0">
              <a:buNone/>
            </a:pPr>
            <a:r>
              <a:rPr lang="en-US" sz="1350" b="1" dirty="0">
                <a:solidFill>
                  <a:srgbClr val="F5B544"/>
                </a:solidFill>
                <a:latin typeface="Arial" pitchFamily="34" charset="0"/>
                <a:ea typeface="Arial" pitchFamily="34" charset="-122"/>
                <a:cs typeface="Arial" pitchFamily="34" charset="-120"/>
              </a:rPr>
              <a:t>   · tab</a:t>
            </a:r>
            <a:endParaRPr lang="en-US" sz="1350" dirty="0"/>
          </a:p>
        </p:txBody>
      </p:sp>
      <p:sp>
        <p:nvSpPr>
          <p:cNvPr id="28" name="Text 26"/>
          <p:cNvSpPr/>
          <p:nvPr/>
        </p:nvSpPr>
        <p:spPr>
          <a:xfrm>
            <a:off x="4251960" y="4919472"/>
            <a:ext cx="1051560" cy="658368"/>
          </a:xfrm>
          <a:prstGeom prst="rect">
            <a:avLst/>
          </a:prstGeom>
          <a:noFill/>
          <a:ln/>
        </p:spPr>
        <p:txBody>
          <a:bodyPr wrap="square" lIns="0" tIns="0" rIns="0" bIns="0" rtlCol="0" anchor="ctr"/>
          <a:lstStyle/>
          <a:p>
            <a:pPr algn="r" indent="0" marL="0">
              <a:buNone/>
            </a:pPr>
            <a:r>
              <a:rPr lang="en-US" sz="1250" dirty="0">
                <a:solidFill>
                  <a:srgbClr val="8A97B6"/>
                </a:solidFill>
                <a:latin typeface="Consolas" pitchFamily="34" charset="0"/>
                <a:ea typeface="Consolas" pitchFamily="34" charset="-122"/>
                <a:cs typeface="Consolas" pitchFamily="34" charset="-120"/>
              </a:rPr>
              <a:t>6 ticks</a:t>
            </a:r>
            <a:endParaRPr lang="en-US" sz="1250" dirty="0"/>
          </a:p>
        </p:txBody>
      </p:sp>
      <p:sp>
        <p:nvSpPr>
          <p:cNvPr id="29" name="Shape 27"/>
          <p:cNvSpPr/>
          <p:nvPr/>
        </p:nvSpPr>
        <p:spPr>
          <a:xfrm>
            <a:off x="5413248" y="5074920"/>
            <a:ext cx="960120" cy="347472"/>
          </a:xfrm>
          <a:prstGeom prst="roundRect">
            <a:avLst>
              <a:gd name="adj" fmla="val 50000"/>
            </a:avLst>
          </a:prstGeom>
          <a:solidFill>
            <a:srgbClr val="34D399">
              <a:alpha val="18000"/>
            </a:srgbClr>
          </a:solidFill>
          <a:ln w="12700">
            <a:solidFill>
              <a:srgbClr val="34D399"/>
            </a:solidFill>
            <a:prstDash val="solid"/>
          </a:ln>
        </p:spPr>
      </p:sp>
      <p:sp>
        <p:nvSpPr>
          <p:cNvPr id="30" name="Text 28"/>
          <p:cNvSpPr/>
          <p:nvPr/>
        </p:nvSpPr>
        <p:spPr>
          <a:xfrm>
            <a:off x="5413248" y="5074920"/>
            <a:ext cx="960120" cy="347472"/>
          </a:xfrm>
          <a:prstGeom prst="rect">
            <a:avLst/>
          </a:prstGeom>
          <a:noFill/>
          <a:ln/>
        </p:spPr>
        <p:txBody>
          <a:bodyPr wrap="square" lIns="0" tIns="0" rIns="0" bIns="0" rtlCol="0" anchor="ctr"/>
          <a:lstStyle/>
          <a:p>
            <a:pPr algn="ctr" indent="0" marL="0">
              <a:buNone/>
            </a:pPr>
            <a:r>
              <a:rPr lang="en-US" sz="900" b="1" spc="50" kern="0" dirty="0">
                <a:solidFill>
                  <a:srgbClr val="34D399"/>
                </a:solidFill>
                <a:latin typeface="Consolas" pitchFamily="34" charset="0"/>
                <a:ea typeface="Consolas" pitchFamily="34" charset="-122"/>
                <a:cs typeface="Consolas" pitchFamily="34" charset="-120"/>
              </a:rPr>
              <a:t>SETTLED</a:t>
            </a:r>
            <a:endParaRPr lang="en-US" sz="900" dirty="0"/>
          </a:p>
        </p:txBody>
      </p:sp>
      <p:sp>
        <p:nvSpPr>
          <p:cNvPr id="31" name="Shape 29"/>
          <p:cNvSpPr/>
          <p:nvPr/>
        </p:nvSpPr>
        <p:spPr>
          <a:xfrm>
            <a:off x="6903720" y="1554480"/>
            <a:ext cx="4663440" cy="1298448"/>
          </a:xfrm>
          <a:prstGeom prst="roundRect">
            <a:avLst>
              <a:gd name="adj" fmla="val 6338"/>
            </a:avLst>
          </a:prstGeom>
          <a:solidFill>
            <a:srgbClr val="151D33"/>
          </a:solidFill>
          <a:ln w="12700">
            <a:solidFill>
              <a:srgbClr val="26314F"/>
            </a:solidFill>
            <a:prstDash val="solid"/>
          </a:ln>
        </p:spPr>
      </p:sp>
      <p:sp>
        <p:nvSpPr>
          <p:cNvPr id="32" name="Text 30"/>
          <p:cNvSpPr/>
          <p:nvPr/>
        </p:nvSpPr>
        <p:spPr>
          <a:xfrm>
            <a:off x="7123176" y="1737360"/>
            <a:ext cx="4224528" cy="457200"/>
          </a:xfrm>
          <a:prstGeom prst="rect">
            <a:avLst/>
          </a:prstGeom>
          <a:noFill/>
          <a:ln/>
        </p:spPr>
        <p:txBody>
          <a:bodyPr wrap="square" lIns="0" tIns="0" rIns="0" bIns="0" rtlCol="0" anchor="t"/>
          <a:lstStyle/>
          <a:p>
            <a:pPr algn="l" indent="0" marL="0">
              <a:buNone/>
            </a:pPr>
            <a:r>
              <a:rPr lang="en-US" sz="1500" b="1" dirty="0">
                <a:solidFill>
                  <a:srgbClr val="F5B544"/>
                </a:solidFill>
                <a:latin typeface="Arial" pitchFamily="34" charset="0"/>
                <a:ea typeface="Arial" pitchFamily="34" charset="-122"/>
                <a:cs typeface="Arial" pitchFamily="34" charset="-120"/>
              </a:rPr>
              <a:t>SLA breach → slash</a:t>
            </a:r>
            <a:endParaRPr lang="en-US" sz="1500" dirty="0"/>
          </a:p>
        </p:txBody>
      </p:sp>
      <p:sp>
        <p:nvSpPr>
          <p:cNvPr id="33" name="Text 31"/>
          <p:cNvSpPr/>
          <p:nvPr/>
        </p:nvSpPr>
        <p:spPr>
          <a:xfrm>
            <a:off x="7123176" y="2231136"/>
            <a:ext cx="422452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News returns junk; agent reclaims USDC and slashes the provider's stake 0.05 → 0.0494.</a:t>
            </a:r>
            <a:endParaRPr lang="en-US" sz="1200" dirty="0"/>
          </a:p>
        </p:txBody>
      </p:sp>
      <p:sp>
        <p:nvSpPr>
          <p:cNvPr id="34" name="Shape 32"/>
          <p:cNvSpPr/>
          <p:nvPr/>
        </p:nvSpPr>
        <p:spPr>
          <a:xfrm>
            <a:off x="6903720" y="3108960"/>
            <a:ext cx="4663440" cy="1298448"/>
          </a:xfrm>
          <a:prstGeom prst="roundRect">
            <a:avLst>
              <a:gd name="adj" fmla="val 6338"/>
            </a:avLst>
          </a:prstGeom>
          <a:solidFill>
            <a:srgbClr val="151D33"/>
          </a:solidFill>
          <a:ln w="12700">
            <a:solidFill>
              <a:srgbClr val="26314F"/>
            </a:solidFill>
            <a:prstDash val="solid"/>
          </a:ln>
        </p:spPr>
      </p:sp>
      <p:sp>
        <p:nvSpPr>
          <p:cNvPr id="35" name="Text 33"/>
          <p:cNvSpPr/>
          <p:nvPr/>
        </p:nvSpPr>
        <p:spPr>
          <a:xfrm>
            <a:off x="7123176" y="3291840"/>
            <a:ext cx="4224528" cy="457200"/>
          </a:xfrm>
          <a:prstGeom prst="rect">
            <a:avLst/>
          </a:prstGeom>
          <a:noFill/>
          <a:ln/>
        </p:spPr>
        <p:txBody>
          <a:bodyPr wrap="square" lIns="0" tIns="0" rIns="0" bIns="0" rtlCol="0" anchor="t"/>
          <a:lstStyle/>
          <a:p>
            <a:pPr algn="l" indent="0" marL="0">
              <a:buNone/>
            </a:pPr>
            <a:r>
              <a:rPr lang="en-US" sz="1500" b="1" dirty="0">
                <a:solidFill>
                  <a:srgbClr val="4D8BFF"/>
                </a:solidFill>
                <a:latin typeface="Arial" pitchFamily="34" charset="0"/>
                <a:ea typeface="Arial" pitchFamily="34" charset="-122"/>
                <a:cs typeface="Arial" pitchFamily="34" charset="-120"/>
              </a:rPr>
              <a:t>Guardian pause</a:t>
            </a:r>
            <a:endParaRPr lang="en-US" sz="1500" dirty="0"/>
          </a:p>
        </p:txBody>
      </p:sp>
      <p:sp>
        <p:nvSpPr>
          <p:cNvPr id="36" name="Text 34"/>
          <p:cNvSpPr/>
          <p:nvPr/>
        </p:nvSpPr>
        <p:spPr>
          <a:xfrm>
            <a:off x="7123176" y="3785616"/>
            <a:ext cx="422452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Premium call exceeds policy cap → a human approves before it settles.</a:t>
            </a:r>
            <a:endParaRPr lang="en-US" sz="1200" dirty="0"/>
          </a:p>
        </p:txBody>
      </p:sp>
      <p:sp>
        <p:nvSpPr>
          <p:cNvPr id="37" name="Shape 35"/>
          <p:cNvSpPr/>
          <p:nvPr/>
        </p:nvSpPr>
        <p:spPr>
          <a:xfrm>
            <a:off x="6903720" y="4663440"/>
            <a:ext cx="4663440" cy="1298448"/>
          </a:xfrm>
          <a:prstGeom prst="roundRect">
            <a:avLst>
              <a:gd name="adj" fmla="val 6338"/>
            </a:avLst>
          </a:prstGeom>
          <a:solidFill>
            <a:srgbClr val="151D33"/>
          </a:solidFill>
          <a:ln w="12700">
            <a:solidFill>
              <a:srgbClr val="26314F"/>
            </a:solidFill>
            <a:prstDash val="solid"/>
          </a:ln>
        </p:spPr>
      </p:sp>
      <p:sp>
        <p:nvSpPr>
          <p:cNvPr id="38" name="Text 36"/>
          <p:cNvSpPr/>
          <p:nvPr/>
        </p:nvSpPr>
        <p:spPr>
          <a:xfrm>
            <a:off x="7123176" y="4846320"/>
            <a:ext cx="4224528" cy="457200"/>
          </a:xfrm>
          <a:prstGeom prst="rect">
            <a:avLst/>
          </a:prstGeom>
          <a:noFill/>
          <a:ln/>
        </p:spPr>
        <p:txBody>
          <a:bodyPr wrap="square" lIns="0" tIns="0" rIns="0" bIns="0" rtlCol="0" anchor="t"/>
          <a:lstStyle/>
          <a:p>
            <a:pPr algn="l" indent="0" marL="0">
              <a:buNone/>
            </a:pPr>
            <a:r>
              <a:rPr lang="en-US" sz="1500" b="1" dirty="0">
                <a:solidFill>
                  <a:srgbClr val="EAEEFB"/>
                </a:solidFill>
                <a:latin typeface="Arial" pitchFamily="34" charset="0"/>
                <a:ea typeface="Arial" pitchFamily="34" charset="-122"/>
                <a:cs typeface="Arial" pitchFamily="34" charset="-120"/>
              </a:rPr>
              <a:t>Declined from memory</a:t>
            </a:r>
            <a:endParaRPr lang="en-US" sz="1500" dirty="0"/>
          </a:p>
        </p:txBody>
      </p:sp>
      <p:sp>
        <p:nvSpPr>
          <p:cNvPr id="39" name="Text 37"/>
          <p:cNvSpPr/>
          <p:nvPr/>
        </p:nvSpPr>
        <p:spPr>
          <a:xfrm>
            <a:off x="7123176" y="5340096"/>
            <a:ext cx="422452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An invoice from the provider that failed it → declined, no human asked.</a:t>
            </a:r>
            <a:endParaRPr lang="en-US" sz="1200" dirty="0"/>
          </a:p>
        </p:txBody>
      </p:sp>
      <p:sp>
        <p:nvSpPr>
          <p:cNvPr id="40" name="Text 38"/>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LIVE DEMO</a:t>
            </a:r>
            <a:endParaRPr lang="en-US" sz="1050" dirty="0"/>
          </a:p>
        </p:txBody>
      </p:sp>
      <p:sp>
        <p:nvSpPr>
          <p:cNvPr id="41" name="Text 39"/>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06</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ON-CHAIN PROOF · ARC TESTNET · CHAINID 5042002</a:t>
            </a:r>
            <a:endParaRPr lang="en-US" sz="1250" dirty="0"/>
          </a:p>
        </p:txBody>
      </p:sp>
      <p:sp>
        <p:nvSpPr>
          <p:cNvPr id="6" name="Shape 4"/>
          <p:cNvSpPr/>
          <p:nvPr/>
        </p:nvSpPr>
        <p:spPr>
          <a:xfrm>
            <a:off x="640080" y="1600200"/>
            <a:ext cx="10911535" cy="1051560"/>
          </a:xfrm>
          <a:prstGeom prst="roundRect">
            <a:avLst>
              <a:gd name="adj" fmla="val 7826"/>
            </a:avLst>
          </a:prstGeom>
          <a:solidFill>
            <a:srgbClr val="151D33"/>
          </a:solidFill>
          <a:ln w="12700">
            <a:solidFill>
              <a:srgbClr val="26314F"/>
            </a:solidFill>
            <a:prstDash val="solid"/>
          </a:ln>
        </p:spPr>
      </p:sp>
      <p:sp>
        <p:nvSpPr>
          <p:cNvPr id="7" name="Shape 5"/>
          <p:cNvSpPr/>
          <p:nvPr/>
        </p:nvSpPr>
        <p:spPr>
          <a:xfrm>
            <a:off x="896112" y="1796796"/>
            <a:ext cx="658368" cy="658368"/>
          </a:xfrm>
          <a:prstGeom prst="roundRect">
            <a:avLst>
              <a:gd name="adj" fmla="val 13889"/>
            </a:avLst>
          </a:prstGeom>
          <a:solidFill>
            <a:srgbClr val="34D399">
              <a:alpha val="18000"/>
            </a:srgbClr>
          </a:solidFill>
          <a:ln/>
        </p:spPr>
      </p:sp>
      <p:sp>
        <p:nvSpPr>
          <p:cNvPr id="8" name="Text 6"/>
          <p:cNvSpPr/>
          <p:nvPr/>
        </p:nvSpPr>
        <p:spPr>
          <a:xfrm>
            <a:off x="896112" y="1796796"/>
            <a:ext cx="658368" cy="658368"/>
          </a:xfrm>
          <a:prstGeom prst="rect">
            <a:avLst/>
          </a:prstGeom>
          <a:noFill/>
          <a:ln/>
        </p:spPr>
        <p:txBody>
          <a:bodyPr wrap="square" lIns="0" tIns="0" rIns="0" bIns="0" rtlCol="0" anchor="ctr"/>
          <a:lstStyle/>
          <a:p>
            <a:pPr algn="ctr" indent="0" marL="0">
              <a:buNone/>
            </a:pPr>
            <a:r>
              <a:rPr lang="en-US" sz="2200" b="1" dirty="0">
                <a:solidFill>
                  <a:srgbClr val="34D399"/>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1737360" y="1819656"/>
            <a:ext cx="6766560" cy="411480"/>
          </a:xfrm>
          <a:prstGeom prst="rect">
            <a:avLst/>
          </a:prstGeom>
          <a:noFill/>
          <a:ln/>
        </p:spPr>
        <p:txBody>
          <a:bodyPr wrap="square" lIns="0" tIns="0" rIns="0" bIns="0" rtlCol="0" anchor="ctr"/>
          <a:lstStyle/>
          <a:p>
            <a:pPr indent="0" marL="0">
              <a:buNone/>
            </a:pPr>
            <a:r>
              <a:rPr lang="en-US" sz="1800" b="1" spc="-20" kern="0" dirty="0">
                <a:solidFill>
                  <a:srgbClr val="EAEEFB"/>
                </a:solidFill>
                <a:latin typeface="Arial" pitchFamily="34" charset="0"/>
                <a:ea typeface="Arial" pitchFamily="34" charset="-122"/>
                <a:cs typeface="Arial" pitchFamily="34" charset="-120"/>
              </a:rPr>
              <a:t>Settle — USDC released to provider</a:t>
            </a:r>
            <a:endParaRPr lang="en-US" sz="1800" dirty="0"/>
          </a:p>
        </p:txBody>
      </p:sp>
      <p:sp>
        <p:nvSpPr>
          <p:cNvPr id="10" name="Text 8"/>
          <p:cNvSpPr/>
          <p:nvPr/>
        </p:nvSpPr>
        <p:spPr>
          <a:xfrm>
            <a:off x="1737360" y="2185416"/>
            <a:ext cx="6766560" cy="320040"/>
          </a:xfrm>
          <a:prstGeom prst="rect">
            <a:avLst/>
          </a:prstGeom>
          <a:noFill/>
          <a:ln/>
        </p:spPr>
        <p:txBody>
          <a:bodyPr wrap="square" lIns="0" tIns="0" rIns="0" bIns="0" rtlCol="0" anchor="ctr"/>
          <a:lstStyle/>
          <a:p>
            <a:pPr indent="0" marL="0">
              <a:buNone/>
            </a:pPr>
            <a:r>
              <a:rPr lang="en-US" sz="1250" dirty="0">
                <a:solidFill>
                  <a:srgbClr val="8A97B6"/>
                </a:solidFill>
                <a:latin typeface="Arial" pitchFamily="34" charset="0"/>
                <a:ea typeface="Arial" pitchFamily="34" charset="-122"/>
                <a:cs typeface="Arial" pitchFamily="34" charset="-120"/>
              </a:rPr>
              <a:t>Verified delivery, escrow released</a:t>
            </a:r>
            <a:endParaRPr lang="en-US" sz="1250" dirty="0"/>
          </a:p>
        </p:txBody>
      </p:sp>
      <p:sp>
        <p:nvSpPr>
          <p:cNvPr id="11" name="Text 9"/>
          <p:cNvSpPr/>
          <p:nvPr/>
        </p:nvSpPr>
        <p:spPr>
          <a:xfrm>
            <a:off x="8625535" y="1600200"/>
            <a:ext cx="2697480" cy="1051560"/>
          </a:xfrm>
          <a:prstGeom prst="rect">
            <a:avLst/>
          </a:prstGeom>
          <a:noFill/>
          <a:ln/>
        </p:spPr>
        <p:txBody>
          <a:bodyPr wrap="square" lIns="0" tIns="0" rIns="0" bIns="0" rtlCol="0" anchor="ctr"/>
          <a:lstStyle/>
          <a:p>
            <a:pPr algn="r" indent="0" marL="0">
              <a:buNone/>
            </a:pPr>
            <a:r>
              <a:rPr lang="en-US" sz="1400" dirty="0">
                <a:solidFill>
                  <a:srgbClr val="4D8BFF"/>
                </a:solidFill>
                <a:latin typeface="Consolas" pitchFamily="34" charset="0"/>
                <a:ea typeface="Consolas" pitchFamily="34" charset="-122"/>
                <a:cs typeface="Consolas" pitchFamily="34" charset="-120"/>
              </a:rPr>
              <a:t>0xbbf5c98b…753f</a:t>
            </a:r>
            <a:endParaRPr lang="en-US" sz="1400" dirty="0"/>
          </a:p>
        </p:txBody>
      </p:sp>
      <p:sp>
        <p:nvSpPr>
          <p:cNvPr id="12" name="Shape 10"/>
          <p:cNvSpPr/>
          <p:nvPr/>
        </p:nvSpPr>
        <p:spPr>
          <a:xfrm>
            <a:off x="640080" y="2907792"/>
            <a:ext cx="10911535" cy="1051560"/>
          </a:xfrm>
          <a:prstGeom prst="roundRect">
            <a:avLst>
              <a:gd name="adj" fmla="val 7826"/>
            </a:avLst>
          </a:prstGeom>
          <a:solidFill>
            <a:srgbClr val="151D33"/>
          </a:solidFill>
          <a:ln w="12700">
            <a:solidFill>
              <a:srgbClr val="26314F"/>
            </a:solidFill>
            <a:prstDash val="solid"/>
          </a:ln>
        </p:spPr>
      </p:sp>
      <p:sp>
        <p:nvSpPr>
          <p:cNvPr id="13" name="Shape 11"/>
          <p:cNvSpPr/>
          <p:nvPr/>
        </p:nvSpPr>
        <p:spPr>
          <a:xfrm>
            <a:off x="896112" y="3104388"/>
            <a:ext cx="658368" cy="658368"/>
          </a:xfrm>
          <a:prstGeom prst="roundRect">
            <a:avLst>
              <a:gd name="adj" fmla="val 13889"/>
            </a:avLst>
          </a:prstGeom>
          <a:solidFill>
            <a:srgbClr val="F5B544">
              <a:alpha val="18000"/>
            </a:srgbClr>
          </a:solidFill>
          <a:ln/>
        </p:spPr>
      </p:sp>
      <p:sp>
        <p:nvSpPr>
          <p:cNvPr id="14" name="Text 12"/>
          <p:cNvSpPr/>
          <p:nvPr/>
        </p:nvSpPr>
        <p:spPr>
          <a:xfrm>
            <a:off x="896112" y="3104388"/>
            <a:ext cx="658368" cy="658368"/>
          </a:xfrm>
          <a:prstGeom prst="rect">
            <a:avLst/>
          </a:prstGeom>
          <a:noFill/>
          <a:ln/>
        </p:spPr>
        <p:txBody>
          <a:bodyPr wrap="square" lIns="0" tIns="0" rIns="0" bIns="0" rtlCol="0" anchor="ctr"/>
          <a:lstStyle/>
          <a:p>
            <a:pPr algn="ctr" indent="0" marL="0">
              <a:buNone/>
            </a:pPr>
            <a:r>
              <a:rPr lang="en-US" sz="2200" b="1" dirty="0">
                <a:solidFill>
                  <a:srgbClr val="F5B544"/>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1737360" y="3127248"/>
            <a:ext cx="6766560" cy="411480"/>
          </a:xfrm>
          <a:prstGeom prst="rect">
            <a:avLst/>
          </a:prstGeom>
          <a:noFill/>
          <a:ln/>
        </p:spPr>
        <p:txBody>
          <a:bodyPr wrap="square" lIns="0" tIns="0" rIns="0" bIns="0" rtlCol="0" anchor="ctr"/>
          <a:lstStyle/>
          <a:p>
            <a:pPr indent="0" marL="0">
              <a:buNone/>
            </a:pPr>
            <a:r>
              <a:rPr lang="en-US" sz="1800" b="1" spc="-20" kern="0" dirty="0">
                <a:solidFill>
                  <a:srgbClr val="EAEEFB"/>
                </a:solidFill>
                <a:latin typeface="Arial" pitchFamily="34" charset="0"/>
                <a:ea typeface="Arial" pitchFamily="34" charset="-122"/>
                <a:cs typeface="Arial" pitchFamily="34" charset="-120"/>
              </a:rPr>
              <a:t>Refund — SLA breach reclaimed</a:t>
            </a:r>
            <a:endParaRPr lang="en-US" sz="1800" dirty="0"/>
          </a:p>
        </p:txBody>
      </p:sp>
      <p:sp>
        <p:nvSpPr>
          <p:cNvPr id="16" name="Text 14"/>
          <p:cNvSpPr/>
          <p:nvPr/>
        </p:nvSpPr>
        <p:spPr>
          <a:xfrm>
            <a:off x="1737360" y="3493008"/>
            <a:ext cx="6766560" cy="320040"/>
          </a:xfrm>
          <a:prstGeom prst="rect">
            <a:avLst/>
          </a:prstGeom>
          <a:noFill/>
          <a:ln/>
        </p:spPr>
        <p:txBody>
          <a:bodyPr wrap="square" lIns="0" tIns="0" rIns="0" bIns="0" rtlCol="0" anchor="ctr"/>
          <a:lstStyle/>
          <a:p>
            <a:pPr indent="0" marL="0">
              <a:buNone/>
            </a:pPr>
            <a:r>
              <a:rPr lang="en-US" sz="1250" dirty="0">
                <a:solidFill>
                  <a:srgbClr val="8A97B6"/>
                </a:solidFill>
                <a:latin typeface="Arial" pitchFamily="34" charset="0"/>
                <a:ea typeface="Arial" pitchFamily="34" charset="-122"/>
                <a:cs typeface="Arial" pitchFamily="34" charset="-120"/>
              </a:rPr>
              <a:t>Agent recovered its USDC automatically</a:t>
            </a:r>
            <a:endParaRPr lang="en-US" sz="1250" dirty="0"/>
          </a:p>
        </p:txBody>
      </p:sp>
      <p:sp>
        <p:nvSpPr>
          <p:cNvPr id="17" name="Text 15"/>
          <p:cNvSpPr/>
          <p:nvPr/>
        </p:nvSpPr>
        <p:spPr>
          <a:xfrm>
            <a:off x="8625535" y="2907792"/>
            <a:ext cx="2697480" cy="1051560"/>
          </a:xfrm>
          <a:prstGeom prst="rect">
            <a:avLst/>
          </a:prstGeom>
          <a:noFill/>
          <a:ln/>
        </p:spPr>
        <p:txBody>
          <a:bodyPr wrap="square" lIns="0" tIns="0" rIns="0" bIns="0" rtlCol="0" anchor="ctr"/>
          <a:lstStyle/>
          <a:p>
            <a:pPr algn="r" indent="0" marL="0">
              <a:buNone/>
            </a:pPr>
            <a:r>
              <a:rPr lang="en-US" sz="1400" dirty="0">
                <a:solidFill>
                  <a:srgbClr val="4D8BFF"/>
                </a:solidFill>
                <a:latin typeface="Consolas" pitchFamily="34" charset="0"/>
                <a:ea typeface="Consolas" pitchFamily="34" charset="-122"/>
                <a:cs typeface="Consolas" pitchFamily="34" charset="-120"/>
              </a:rPr>
              <a:t>0xf8a57c18…18ba</a:t>
            </a:r>
            <a:endParaRPr lang="en-US" sz="1400" dirty="0"/>
          </a:p>
        </p:txBody>
      </p:sp>
      <p:sp>
        <p:nvSpPr>
          <p:cNvPr id="18" name="Shape 16"/>
          <p:cNvSpPr/>
          <p:nvPr/>
        </p:nvSpPr>
        <p:spPr>
          <a:xfrm>
            <a:off x="640080" y="4215384"/>
            <a:ext cx="10911535" cy="1051560"/>
          </a:xfrm>
          <a:prstGeom prst="roundRect">
            <a:avLst>
              <a:gd name="adj" fmla="val 7826"/>
            </a:avLst>
          </a:prstGeom>
          <a:solidFill>
            <a:srgbClr val="151D33"/>
          </a:solidFill>
          <a:ln w="12700">
            <a:solidFill>
              <a:srgbClr val="26314F"/>
            </a:solidFill>
            <a:prstDash val="solid"/>
          </a:ln>
        </p:spPr>
      </p:sp>
      <p:sp>
        <p:nvSpPr>
          <p:cNvPr id="19" name="Shape 17"/>
          <p:cNvSpPr/>
          <p:nvPr/>
        </p:nvSpPr>
        <p:spPr>
          <a:xfrm>
            <a:off x="896112" y="4411980"/>
            <a:ext cx="658368" cy="658368"/>
          </a:xfrm>
          <a:prstGeom prst="roundRect">
            <a:avLst>
              <a:gd name="adj" fmla="val 13889"/>
            </a:avLst>
          </a:prstGeom>
          <a:solidFill>
            <a:srgbClr val="4D8BFF">
              <a:alpha val="18000"/>
            </a:srgbClr>
          </a:solidFill>
          <a:ln/>
        </p:spPr>
      </p:sp>
      <p:sp>
        <p:nvSpPr>
          <p:cNvPr id="20" name="Text 18"/>
          <p:cNvSpPr/>
          <p:nvPr/>
        </p:nvSpPr>
        <p:spPr>
          <a:xfrm>
            <a:off x="896112" y="4411980"/>
            <a:ext cx="658368" cy="658368"/>
          </a:xfrm>
          <a:prstGeom prst="rect">
            <a:avLst/>
          </a:prstGeom>
          <a:noFill/>
          <a:ln/>
        </p:spPr>
        <p:txBody>
          <a:bodyPr wrap="square" lIns="0" tIns="0" rIns="0" bIns="0" rtlCol="0" anchor="ctr"/>
          <a:lstStyle/>
          <a:p>
            <a:pPr algn="ctr" indent="0" marL="0">
              <a:buNone/>
            </a:pPr>
            <a:r>
              <a:rPr lang="en-US" sz="2200" b="1" dirty="0">
                <a:solidFill>
                  <a:srgbClr val="4D8BFF"/>
                </a:solidFill>
                <a:latin typeface="Arial" pitchFamily="34" charset="0"/>
                <a:ea typeface="Arial" pitchFamily="34" charset="-122"/>
                <a:cs typeface="Arial" pitchFamily="34" charset="-120"/>
              </a:rPr>
              <a:t>»</a:t>
            </a:r>
            <a:endParaRPr lang="en-US" sz="2200" dirty="0"/>
          </a:p>
        </p:txBody>
      </p:sp>
      <p:sp>
        <p:nvSpPr>
          <p:cNvPr id="21" name="Text 19"/>
          <p:cNvSpPr/>
          <p:nvPr/>
        </p:nvSpPr>
        <p:spPr>
          <a:xfrm>
            <a:off x="1737360" y="4434840"/>
            <a:ext cx="6766560" cy="411480"/>
          </a:xfrm>
          <a:prstGeom prst="rect">
            <a:avLst/>
          </a:prstGeom>
          <a:noFill/>
          <a:ln/>
        </p:spPr>
        <p:txBody>
          <a:bodyPr wrap="square" lIns="0" tIns="0" rIns="0" bIns="0" rtlCol="0" anchor="ctr"/>
          <a:lstStyle/>
          <a:p>
            <a:pPr indent="0" marL="0">
              <a:buNone/>
            </a:pPr>
            <a:r>
              <a:rPr lang="en-US" sz="1800" b="1" spc="-20" kern="0" dirty="0">
                <a:solidFill>
                  <a:srgbClr val="EAEEFB"/>
                </a:solidFill>
                <a:latin typeface="Arial" pitchFamily="34" charset="0"/>
                <a:ea typeface="Arial" pitchFamily="34" charset="-122"/>
                <a:cs typeface="Arial" pitchFamily="34" charset="-120"/>
              </a:rPr>
              <a:t>Tab settle — 6 calls, one transaction</a:t>
            </a:r>
            <a:endParaRPr lang="en-US" sz="1800" dirty="0"/>
          </a:p>
        </p:txBody>
      </p:sp>
      <p:sp>
        <p:nvSpPr>
          <p:cNvPr id="22" name="Text 20"/>
          <p:cNvSpPr/>
          <p:nvPr/>
        </p:nvSpPr>
        <p:spPr>
          <a:xfrm>
            <a:off x="1737360" y="4800600"/>
            <a:ext cx="6766560" cy="320040"/>
          </a:xfrm>
          <a:prstGeom prst="rect">
            <a:avLst/>
          </a:prstGeom>
          <a:noFill/>
          <a:ln/>
        </p:spPr>
        <p:txBody>
          <a:bodyPr wrap="square" lIns="0" tIns="0" rIns="0" bIns="0" rtlCol="0" anchor="ctr"/>
          <a:lstStyle/>
          <a:p>
            <a:pPr indent="0" marL="0">
              <a:buNone/>
            </a:pPr>
            <a:r>
              <a:rPr lang="en-US" sz="1250" dirty="0">
                <a:solidFill>
                  <a:srgbClr val="8A97B6"/>
                </a:solidFill>
                <a:latin typeface="Arial" pitchFamily="34" charset="0"/>
                <a:ea typeface="Arial" pitchFamily="34" charset="-122"/>
                <a:cs typeface="Arial" pitchFamily="34" charset="-120"/>
              </a:rPr>
              <a:t>Nanopayment stream, remainder returned</a:t>
            </a:r>
            <a:endParaRPr lang="en-US" sz="1250" dirty="0"/>
          </a:p>
        </p:txBody>
      </p:sp>
      <p:sp>
        <p:nvSpPr>
          <p:cNvPr id="23" name="Text 21"/>
          <p:cNvSpPr/>
          <p:nvPr/>
        </p:nvSpPr>
        <p:spPr>
          <a:xfrm>
            <a:off x="8625535" y="4215384"/>
            <a:ext cx="2697480" cy="1051560"/>
          </a:xfrm>
          <a:prstGeom prst="rect">
            <a:avLst/>
          </a:prstGeom>
          <a:noFill/>
          <a:ln/>
        </p:spPr>
        <p:txBody>
          <a:bodyPr wrap="square" lIns="0" tIns="0" rIns="0" bIns="0" rtlCol="0" anchor="ctr"/>
          <a:lstStyle/>
          <a:p>
            <a:pPr algn="r" indent="0" marL="0">
              <a:buNone/>
            </a:pPr>
            <a:r>
              <a:rPr lang="en-US" sz="1400" dirty="0">
                <a:solidFill>
                  <a:srgbClr val="4D8BFF"/>
                </a:solidFill>
                <a:latin typeface="Consolas" pitchFamily="34" charset="0"/>
                <a:ea typeface="Consolas" pitchFamily="34" charset="-122"/>
                <a:cs typeface="Consolas" pitchFamily="34" charset="-120"/>
              </a:rPr>
              <a:t>0x15c13f79…4f66</a:t>
            </a:r>
            <a:endParaRPr lang="en-US" sz="1400" dirty="0"/>
          </a:p>
        </p:txBody>
      </p:sp>
      <p:sp>
        <p:nvSpPr>
          <p:cNvPr id="24" name="Text 22"/>
          <p:cNvSpPr/>
          <p:nvPr/>
        </p:nvSpPr>
        <p:spPr>
          <a:xfrm>
            <a:off x="640080" y="5623560"/>
            <a:ext cx="10972800" cy="457200"/>
          </a:xfrm>
          <a:prstGeom prst="rect">
            <a:avLst/>
          </a:prstGeom>
          <a:noFill/>
          <a:ln/>
        </p:spPr>
        <p:txBody>
          <a:bodyPr wrap="square" lIns="0" tIns="0" rIns="0" bIns="0" rtlCol="0" anchor="ctr"/>
          <a:lstStyle/>
          <a:p>
            <a:pPr algn="l" indent="0" marL="0">
              <a:buNone/>
            </a:pPr>
            <a:r>
              <a:rPr lang="en-US" sz="1300" dirty="0">
                <a:solidFill>
                  <a:srgbClr val="8A97B6"/>
                </a:solidFill>
                <a:latin typeface="Consolas" pitchFamily="34" charset="0"/>
                <a:ea typeface="Consolas" pitchFamily="34" charset="-122"/>
                <a:cs typeface="Consolas" pitchFamily="34" charset="-120"/>
              </a:rPr>
              <a:t>Escrow </a:t>
            </a:r>
            <a:pPr algn="l" indent="0" marL="0">
              <a:buNone/>
            </a:pPr>
            <a:r>
              <a:rPr lang="en-US" sz="1300" b="1" dirty="0">
                <a:solidFill>
                  <a:srgbClr val="EAEEFB"/>
                </a:solidFill>
                <a:latin typeface="Consolas" pitchFamily="34" charset="0"/>
                <a:ea typeface="Consolas" pitchFamily="34" charset="-122"/>
                <a:cs typeface="Consolas" pitchFamily="34" charset="-120"/>
              </a:rPr>
              <a:t>0x9776498c…5a9a7d</a:t>
            </a:r>
            <a:pPr algn="l" indent="0" marL="0">
              <a:buNone/>
            </a:pPr>
            <a:r>
              <a:rPr lang="en-US" sz="1300" dirty="0">
                <a:solidFill>
                  <a:srgbClr val="8A97B6"/>
                </a:solidFill>
                <a:latin typeface="Consolas" pitchFamily="34" charset="0"/>
                <a:ea typeface="Consolas" pitchFamily="34" charset="-122"/>
                <a:cs typeface="Consolas" pitchFamily="34" charset="-120"/>
              </a:rPr>
              <a:t>      Tab </a:t>
            </a:r>
            <a:pPr algn="l" indent="0" marL="0">
              <a:buNone/>
            </a:pPr>
            <a:r>
              <a:rPr lang="en-US" sz="1300" b="1" dirty="0">
                <a:solidFill>
                  <a:srgbClr val="EAEEFB"/>
                </a:solidFill>
                <a:latin typeface="Consolas" pitchFamily="34" charset="0"/>
                <a:ea typeface="Consolas" pitchFamily="34" charset="-122"/>
                <a:cs typeface="Consolas" pitchFamily="34" charset="-120"/>
              </a:rPr>
              <a:t>0x5d482c70…d78c6d</a:t>
            </a:r>
            <a:pPr algn="l" indent="0" marL="0">
              <a:buNone/>
            </a:pPr>
            <a:r>
              <a:rPr lang="en-US" sz="1300" dirty="0">
                <a:solidFill>
                  <a:srgbClr val="8A97B6"/>
                </a:solidFill>
                <a:latin typeface="Consolas" pitchFamily="34" charset="0"/>
                <a:ea typeface="Consolas" pitchFamily="34" charset="-122"/>
                <a:cs typeface="Consolas" pitchFamily="34" charset="-120"/>
              </a:rPr>
              <a:t>      chainId </a:t>
            </a:r>
            <a:pPr algn="l" indent="0" marL="0">
              <a:buNone/>
            </a:pPr>
            <a:r>
              <a:rPr lang="en-US" sz="1300" b="1" dirty="0">
                <a:solidFill>
                  <a:srgbClr val="EAEEFB"/>
                </a:solidFill>
                <a:latin typeface="Consolas" pitchFamily="34" charset="0"/>
                <a:ea typeface="Consolas" pitchFamily="34" charset="-122"/>
                <a:cs typeface="Consolas" pitchFamily="34" charset="-120"/>
              </a:rPr>
              <a:t>5042002</a:t>
            </a:r>
            <a:pPr algn="l" indent="0" marL="0">
              <a:buNone/>
            </a:pPr>
            <a:r>
              <a:rPr lang="en-US" sz="1300" dirty="0">
                <a:solidFill>
                  <a:srgbClr val="5D6A8C"/>
                </a:solidFill>
                <a:latin typeface="Consolas" pitchFamily="34" charset="0"/>
                <a:ea typeface="Consolas" pitchFamily="34" charset="-122"/>
                <a:cs typeface="Consolas" pitchFamily="34" charset="-120"/>
              </a:rPr>
              <a:t>  ·  </a:t>
            </a:r>
            <a:pPr algn="l" indent="0" marL="0">
              <a:buNone/>
            </a:pPr>
            <a:r>
              <a:rPr lang="en-US" sz="1300" b="1" dirty="0">
                <a:solidFill>
                  <a:srgbClr val="34D399"/>
                </a:solidFill>
                <a:latin typeface="Consolas" pitchFamily="34" charset="0"/>
                <a:ea typeface="Consolas" pitchFamily="34" charset="-122"/>
                <a:cs typeface="Consolas" pitchFamily="34" charset="-120"/>
              </a:rPr>
              <a:t>live</a:t>
            </a:r>
            <a:endParaRPr lang="en-US" sz="1300" dirty="0"/>
          </a:p>
        </p:txBody>
      </p:sp>
      <p:sp>
        <p:nvSpPr>
          <p:cNvPr id="25" name="Text 23"/>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ON-CHAIN PROOF</a:t>
            </a:r>
            <a:endParaRPr lang="en-US" sz="1050" dirty="0"/>
          </a:p>
        </p:txBody>
      </p:sp>
      <p:sp>
        <p:nvSpPr>
          <p:cNvPr id="26" name="Text 24"/>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07</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WHY ARC + CIRCLE</a:t>
            </a:r>
            <a:endParaRPr lang="en-US" sz="1250" dirty="0"/>
          </a:p>
        </p:txBody>
      </p:sp>
      <p:sp>
        <p:nvSpPr>
          <p:cNvPr id="6" name="Text 4"/>
          <p:cNvSpPr/>
          <p:nvPr/>
        </p:nvSpPr>
        <p:spPr>
          <a:xfrm>
            <a:off x="640080" y="1828800"/>
            <a:ext cx="4937760" cy="2377440"/>
          </a:xfrm>
          <a:prstGeom prst="rect">
            <a:avLst/>
          </a:prstGeom>
          <a:noFill/>
          <a:ln/>
        </p:spPr>
        <p:txBody>
          <a:bodyPr wrap="square" lIns="0" tIns="0" rIns="0" bIns="0" rtlCol="0" anchor="t"/>
          <a:lstStyle/>
          <a:p>
            <a:pPr algn="l" indent="0" marL="0">
              <a:lnSpc>
                <a:spcPct val="102000"/>
              </a:lnSpc>
              <a:buNone/>
            </a:pPr>
            <a:r>
              <a:rPr lang="en-US" sz="4000" b="1" spc="-100" kern="0" dirty="0">
                <a:solidFill>
                  <a:srgbClr val="EAEEFB"/>
                </a:solidFill>
                <a:latin typeface="Arial" pitchFamily="34" charset="0"/>
                <a:ea typeface="Arial" pitchFamily="34" charset="-122"/>
                <a:cs typeface="Arial" pitchFamily="34" charset="-120"/>
              </a:rPr>
              <a:t>Built for money that moves itself.</a:t>
            </a:r>
            <a:endParaRPr lang="en-US" sz="4000" dirty="0"/>
          </a:p>
        </p:txBody>
      </p:sp>
      <p:sp>
        <p:nvSpPr>
          <p:cNvPr id="7" name="Shape 5"/>
          <p:cNvSpPr/>
          <p:nvPr/>
        </p:nvSpPr>
        <p:spPr>
          <a:xfrm>
            <a:off x="6263640" y="1463040"/>
            <a:ext cx="5303520" cy="1298448"/>
          </a:xfrm>
          <a:prstGeom prst="roundRect">
            <a:avLst>
              <a:gd name="adj" fmla="val 6338"/>
            </a:avLst>
          </a:prstGeom>
          <a:solidFill>
            <a:srgbClr val="151D33"/>
          </a:solidFill>
          <a:ln w="12700">
            <a:solidFill>
              <a:srgbClr val="26314F"/>
            </a:solidFill>
            <a:prstDash val="solid"/>
          </a:ln>
        </p:spPr>
      </p:sp>
      <p:sp>
        <p:nvSpPr>
          <p:cNvPr id="8" name="Text 6"/>
          <p:cNvSpPr/>
          <p:nvPr/>
        </p:nvSpPr>
        <p:spPr>
          <a:xfrm>
            <a:off x="6483096" y="1645920"/>
            <a:ext cx="4864608" cy="457200"/>
          </a:xfrm>
          <a:prstGeom prst="rect">
            <a:avLst/>
          </a:prstGeom>
          <a:noFill/>
          <a:ln/>
        </p:spPr>
        <p:txBody>
          <a:bodyPr wrap="square" lIns="0" tIns="0" rIns="0" bIns="0" rtlCol="0" anchor="t"/>
          <a:lstStyle/>
          <a:p>
            <a:pPr algn="l" indent="0" marL="0">
              <a:buNone/>
            </a:pPr>
            <a:r>
              <a:rPr lang="en-US" sz="1500" b="1" dirty="0">
                <a:solidFill>
                  <a:srgbClr val="4D8BFF"/>
                </a:solidFill>
                <a:latin typeface="Arial" pitchFamily="34" charset="0"/>
                <a:ea typeface="Arial" pitchFamily="34" charset="-122"/>
                <a:cs typeface="Arial" pitchFamily="34" charset="-120"/>
              </a:rPr>
              <a:t>USDC is the gas token</a:t>
            </a:r>
            <a:endParaRPr lang="en-US" sz="1500" dirty="0"/>
          </a:p>
        </p:txBody>
      </p:sp>
      <p:sp>
        <p:nvSpPr>
          <p:cNvPr id="9" name="Text 7"/>
          <p:cNvSpPr/>
          <p:nvPr/>
        </p:nvSpPr>
        <p:spPr>
          <a:xfrm>
            <a:off x="6483096" y="2139696"/>
            <a:ext cx="486460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The agent funds one asset for both the toll and the fees — no native-gas bootstrap for a bot.</a:t>
            </a:r>
            <a:endParaRPr lang="en-US" sz="1200" dirty="0"/>
          </a:p>
        </p:txBody>
      </p:sp>
      <p:sp>
        <p:nvSpPr>
          <p:cNvPr id="10" name="Shape 8"/>
          <p:cNvSpPr/>
          <p:nvPr/>
        </p:nvSpPr>
        <p:spPr>
          <a:xfrm>
            <a:off x="6263640" y="3017520"/>
            <a:ext cx="5303520" cy="1298448"/>
          </a:xfrm>
          <a:prstGeom prst="roundRect">
            <a:avLst>
              <a:gd name="adj" fmla="val 6338"/>
            </a:avLst>
          </a:prstGeom>
          <a:solidFill>
            <a:srgbClr val="151D33"/>
          </a:solidFill>
          <a:ln w="12700">
            <a:solidFill>
              <a:srgbClr val="26314F"/>
            </a:solidFill>
            <a:prstDash val="solid"/>
          </a:ln>
        </p:spPr>
      </p:sp>
      <p:sp>
        <p:nvSpPr>
          <p:cNvPr id="11" name="Text 9"/>
          <p:cNvSpPr/>
          <p:nvPr/>
        </p:nvSpPr>
        <p:spPr>
          <a:xfrm>
            <a:off x="6483096" y="3200400"/>
            <a:ext cx="4864608" cy="457200"/>
          </a:xfrm>
          <a:prstGeom prst="rect">
            <a:avLst/>
          </a:prstGeom>
          <a:noFill/>
          <a:ln/>
        </p:spPr>
        <p:txBody>
          <a:bodyPr wrap="square" lIns="0" tIns="0" rIns="0" bIns="0" rtlCol="0" anchor="t"/>
          <a:lstStyle/>
          <a:p>
            <a:pPr algn="l" indent="0" marL="0">
              <a:buNone/>
            </a:pPr>
            <a:r>
              <a:rPr lang="en-US" sz="1500" b="1" dirty="0">
                <a:solidFill>
                  <a:srgbClr val="EAEEFB"/>
                </a:solidFill>
                <a:latin typeface="Arial" pitchFamily="34" charset="0"/>
                <a:ea typeface="Arial" pitchFamily="34" charset="-122"/>
                <a:cs typeface="Arial" pitchFamily="34" charset="-120"/>
              </a:rPr>
              <a:t>Sub-second finality</a:t>
            </a:r>
            <a:endParaRPr lang="en-US" sz="1500" dirty="0"/>
          </a:p>
        </p:txBody>
      </p:sp>
      <p:sp>
        <p:nvSpPr>
          <p:cNvPr id="12" name="Text 10"/>
          <p:cNvSpPr/>
          <p:nvPr/>
        </p:nvSpPr>
        <p:spPr>
          <a:xfrm>
            <a:off x="6483096" y="3694176"/>
            <a:ext cx="486460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A per-call payment clears inside the request/response cycle.</a:t>
            </a:r>
            <a:endParaRPr lang="en-US" sz="1200" dirty="0"/>
          </a:p>
        </p:txBody>
      </p:sp>
      <p:sp>
        <p:nvSpPr>
          <p:cNvPr id="13" name="Shape 11"/>
          <p:cNvSpPr/>
          <p:nvPr/>
        </p:nvSpPr>
        <p:spPr>
          <a:xfrm>
            <a:off x="6263640" y="4572000"/>
            <a:ext cx="5303520" cy="1298448"/>
          </a:xfrm>
          <a:prstGeom prst="roundRect">
            <a:avLst>
              <a:gd name="adj" fmla="val 6338"/>
            </a:avLst>
          </a:prstGeom>
          <a:solidFill>
            <a:srgbClr val="151D33"/>
          </a:solidFill>
          <a:ln w="12700">
            <a:solidFill>
              <a:srgbClr val="26314F"/>
            </a:solidFill>
            <a:prstDash val="solid"/>
          </a:ln>
        </p:spPr>
      </p:sp>
      <p:sp>
        <p:nvSpPr>
          <p:cNvPr id="14" name="Text 12"/>
          <p:cNvSpPr/>
          <p:nvPr/>
        </p:nvSpPr>
        <p:spPr>
          <a:xfrm>
            <a:off x="6483096" y="4754880"/>
            <a:ext cx="4864608" cy="457200"/>
          </a:xfrm>
          <a:prstGeom prst="rect">
            <a:avLst/>
          </a:prstGeom>
          <a:noFill/>
          <a:ln/>
        </p:spPr>
        <p:txBody>
          <a:bodyPr wrap="square" lIns="0" tIns="0" rIns="0" bIns="0" rtlCol="0" anchor="t"/>
          <a:lstStyle/>
          <a:p>
            <a:pPr algn="l" indent="0" marL="0">
              <a:buNone/>
            </a:pPr>
            <a:r>
              <a:rPr lang="en-US" sz="1500" b="1" dirty="0">
                <a:solidFill>
                  <a:srgbClr val="EAEEFB"/>
                </a:solidFill>
                <a:latin typeface="Arial" pitchFamily="34" charset="0"/>
                <a:ea typeface="Arial" pitchFamily="34" charset="-122"/>
                <a:cs typeface="Arial" pitchFamily="34" charset="-120"/>
              </a:rPr>
              <a:t>Circle developer stack</a:t>
            </a:r>
            <a:endParaRPr lang="en-US" sz="1500" dirty="0"/>
          </a:p>
        </p:txBody>
      </p:sp>
      <p:sp>
        <p:nvSpPr>
          <p:cNvPr id="15" name="Text 13"/>
          <p:cNvSpPr/>
          <p:nvPr/>
        </p:nvSpPr>
        <p:spPr>
          <a:xfrm>
            <a:off x="6483096" y="5248656"/>
            <a:ext cx="4864608" cy="512064"/>
          </a:xfrm>
          <a:prstGeom prst="rect">
            <a:avLst/>
          </a:prstGeom>
          <a:noFill/>
          <a:ln/>
        </p:spPr>
        <p:txBody>
          <a:bodyPr wrap="square" lIns="0" tIns="0" rIns="0" bIns="0" rtlCol="0" anchor="t"/>
          <a:lstStyle/>
          <a:p>
            <a:pPr algn="l" indent="0" marL="0">
              <a:lnSpc>
                <a:spcPct val="112000"/>
              </a:lnSpc>
              <a:buNone/>
            </a:pPr>
            <a:r>
              <a:rPr lang="en-US" sz="1200" dirty="0">
                <a:solidFill>
                  <a:srgbClr val="8A97B6"/>
                </a:solidFill>
                <a:latin typeface="Arial" pitchFamily="34" charset="0"/>
                <a:ea typeface="Arial" pitchFamily="34" charset="-122"/>
                <a:cs typeface="Arial" pitchFamily="34" charset="-120"/>
              </a:rPr>
              <a:t>USDC + Circle Wallets today; Paymaster (gasless first call) &amp; Developer-Controlled Wallets next.</a:t>
            </a:r>
            <a:endParaRPr lang="en-US" sz="1200" dirty="0"/>
          </a:p>
        </p:txBody>
      </p:sp>
      <p:sp>
        <p:nvSpPr>
          <p:cNvPr id="16" name="Text 14"/>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WHY ARC</a:t>
            </a:r>
            <a:endParaRPr lang="en-US" sz="1050" dirty="0"/>
          </a:p>
        </p:txBody>
      </p:sp>
      <p:sp>
        <p:nvSpPr>
          <p:cNvPr id="17" name="Text 15"/>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08</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EXECUTION &amp; QUALITY</a:t>
            </a:r>
            <a:endParaRPr lang="en-US" sz="1250" dirty="0"/>
          </a:p>
        </p:txBody>
      </p:sp>
      <p:sp>
        <p:nvSpPr>
          <p:cNvPr id="6" name="Text 4"/>
          <p:cNvSpPr/>
          <p:nvPr/>
        </p:nvSpPr>
        <p:spPr>
          <a:xfrm>
            <a:off x="640080" y="1371600"/>
            <a:ext cx="7863840" cy="1371600"/>
          </a:xfrm>
          <a:prstGeom prst="rect">
            <a:avLst/>
          </a:prstGeom>
          <a:noFill/>
          <a:ln/>
        </p:spPr>
        <p:txBody>
          <a:bodyPr wrap="square" lIns="0" tIns="0" rIns="0" bIns="0" rtlCol="0" anchor="t"/>
          <a:lstStyle/>
          <a:p>
            <a:pPr algn="l" indent="0" marL="0">
              <a:lnSpc>
                <a:spcPct val="105000"/>
              </a:lnSpc>
              <a:buNone/>
            </a:pPr>
            <a:r>
              <a:rPr lang="en-US" sz="3600" b="1" spc="-80" kern="0" dirty="0">
                <a:solidFill>
                  <a:srgbClr val="EAEEFB"/>
                </a:solidFill>
                <a:latin typeface="Arial" pitchFamily="34" charset="0"/>
                <a:ea typeface="Arial" pitchFamily="34" charset="-122"/>
                <a:cs typeface="Arial" pitchFamily="34" charset="-120"/>
              </a:rPr>
              <a:t>Quality over surface area — every feature runs end to end.</a:t>
            </a:r>
            <a:endParaRPr lang="en-US" sz="3600" dirty="0"/>
          </a:p>
        </p:txBody>
      </p:sp>
      <p:sp>
        <p:nvSpPr>
          <p:cNvPr id="7" name="Shape 5"/>
          <p:cNvSpPr/>
          <p:nvPr/>
        </p:nvSpPr>
        <p:spPr>
          <a:xfrm>
            <a:off x="640080" y="3246120"/>
            <a:ext cx="2453564" cy="2148840"/>
          </a:xfrm>
          <a:prstGeom prst="roundRect">
            <a:avLst>
              <a:gd name="adj" fmla="val 4255"/>
            </a:avLst>
          </a:prstGeom>
          <a:solidFill>
            <a:srgbClr val="151D33"/>
          </a:solidFill>
          <a:ln w="12700">
            <a:solidFill>
              <a:srgbClr val="26314F"/>
            </a:solidFill>
            <a:prstDash val="solid"/>
          </a:ln>
        </p:spPr>
      </p:sp>
      <p:sp>
        <p:nvSpPr>
          <p:cNvPr id="8" name="Text 6"/>
          <p:cNvSpPr/>
          <p:nvPr/>
        </p:nvSpPr>
        <p:spPr>
          <a:xfrm>
            <a:off x="877824" y="3520440"/>
            <a:ext cx="1996364" cy="1005840"/>
          </a:xfrm>
          <a:prstGeom prst="rect">
            <a:avLst/>
          </a:prstGeom>
          <a:noFill/>
          <a:ln/>
        </p:spPr>
        <p:txBody>
          <a:bodyPr wrap="square" lIns="0" tIns="0" rIns="0" bIns="0" rtlCol="0" anchor="ctr"/>
          <a:lstStyle/>
          <a:p>
            <a:pPr algn="l" indent="0" marL="0">
              <a:buNone/>
            </a:pPr>
            <a:r>
              <a:rPr lang="en-US" sz="5200" b="1" spc="-150" kern="0" dirty="0">
                <a:solidFill>
                  <a:srgbClr val="EAEEFB"/>
                </a:solidFill>
                <a:latin typeface="Arial" pitchFamily="34" charset="0"/>
                <a:ea typeface="Arial" pitchFamily="34" charset="-122"/>
                <a:cs typeface="Arial" pitchFamily="34" charset="-120"/>
              </a:rPr>
              <a:t>64</a:t>
            </a:r>
            <a:endParaRPr lang="en-US" sz="5200" dirty="0"/>
          </a:p>
        </p:txBody>
      </p:sp>
      <p:sp>
        <p:nvSpPr>
          <p:cNvPr id="9" name="Text 7"/>
          <p:cNvSpPr/>
          <p:nvPr/>
        </p:nvSpPr>
        <p:spPr>
          <a:xfrm>
            <a:off x="877824" y="4572000"/>
            <a:ext cx="1996364" cy="731520"/>
          </a:xfrm>
          <a:prstGeom prst="rect">
            <a:avLst/>
          </a:prstGeom>
          <a:noFill/>
          <a:ln/>
        </p:spPr>
        <p:txBody>
          <a:bodyPr wrap="square" lIns="0" tIns="0" rIns="0" bIns="0" rtlCol="0" anchor="t"/>
          <a:lstStyle/>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automated tests</a:t>
            </a:r>
            <a:endParaRPr lang="en-US" sz="1250" dirty="0"/>
          </a:p>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(21 contract · 43 agent)</a:t>
            </a:r>
            <a:endParaRPr lang="en-US" sz="1250" dirty="0"/>
          </a:p>
        </p:txBody>
      </p:sp>
      <p:sp>
        <p:nvSpPr>
          <p:cNvPr id="10" name="Shape 8"/>
          <p:cNvSpPr/>
          <p:nvPr/>
        </p:nvSpPr>
        <p:spPr>
          <a:xfrm>
            <a:off x="3459404" y="3246120"/>
            <a:ext cx="2453564" cy="2148840"/>
          </a:xfrm>
          <a:prstGeom prst="roundRect">
            <a:avLst>
              <a:gd name="adj" fmla="val 4255"/>
            </a:avLst>
          </a:prstGeom>
          <a:solidFill>
            <a:srgbClr val="151D33"/>
          </a:solidFill>
          <a:ln w="12700">
            <a:solidFill>
              <a:srgbClr val="26314F"/>
            </a:solidFill>
            <a:prstDash val="solid"/>
          </a:ln>
        </p:spPr>
      </p:sp>
      <p:sp>
        <p:nvSpPr>
          <p:cNvPr id="11" name="Text 9"/>
          <p:cNvSpPr/>
          <p:nvPr/>
        </p:nvSpPr>
        <p:spPr>
          <a:xfrm>
            <a:off x="3697148" y="3520440"/>
            <a:ext cx="1996364" cy="1005840"/>
          </a:xfrm>
          <a:prstGeom prst="rect">
            <a:avLst/>
          </a:prstGeom>
          <a:noFill/>
          <a:ln/>
        </p:spPr>
        <p:txBody>
          <a:bodyPr wrap="square" lIns="0" tIns="0" rIns="0" bIns="0" rtlCol="0" anchor="ctr"/>
          <a:lstStyle/>
          <a:p>
            <a:pPr algn="l" indent="0" marL="0">
              <a:buNone/>
            </a:pPr>
            <a:r>
              <a:rPr lang="en-US" sz="5200" b="1" spc="-150" kern="0" dirty="0">
                <a:solidFill>
                  <a:srgbClr val="34D399"/>
                </a:solidFill>
                <a:latin typeface="Arial" pitchFamily="34" charset="0"/>
                <a:ea typeface="Arial" pitchFamily="34" charset="-122"/>
                <a:cs typeface="Arial" pitchFamily="34" charset="-120"/>
              </a:rPr>
              <a:t>CI</a:t>
            </a:r>
            <a:endParaRPr lang="en-US" sz="5200" dirty="0"/>
          </a:p>
        </p:txBody>
      </p:sp>
      <p:sp>
        <p:nvSpPr>
          <p:cNvPr id="12" name="Text 10"/>
          <p:cNvSpPr/>
          <p:nvPr/>
        </p:nvSpPr>
        <p:spPr>
          <a:xfrm>
            <a:off x="3697148" y="4572000"/>
            <a:ext cx="1996364" cy="731520"/>
          </a:xfrm>
          <a:prstGeom prst="rect">
            <a:avLst/>
          </a:prstGeom>
          <a:noFill/>
          <a:ln/>
        </p:spPr>
        <p:txBody>
          <a:bodyPr wrap="square" lIns="0" tIns="0" rIns="0" bIns="0" rtlCol="0" anchor="t"/>
          <a:lstStyle/>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full agentic scenario</a:t>
            </a:r>
            <a:endParaRPr lang="en-US" sz="1250" dirty="0"/>
          </a:p>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on every push</a:t>
            </a:r>
            <a:endParaRPr lang="en-US" sz="1250" dirty="0"/>
          </a:p>
        </p:txBody>
      </p:sp>
      <p:sp>
        <p:nvSpPr>
          <p:cNvPr id="13" name="Shape 11"/>
          <p:cNvSpPr/>
          <p:nvPr/>
        </p:nvSpPr>
        <p:spPr>
          <a:xfrm>
            <a:off x="6278728" y="3246120"/>
            <a:ext cx="2453564" cy="2148840"/>
          </a:xfrm>
          <a:prstGeom prst="roundRect">
            <a:avLst>
              <a:gd name="adj" fmla="val 4255"/>
            </a:avLst>
          </a:prstGeom>
          <a:solidFill>
            <a:srgbClr val="151D33"/>
          </a:solidFill>
          <a:ln w="12700">
            <a:solidFill>
              <a:srgbClr val="26314F"/>
            </a:solidFill>
            <a:prstDash val="solid"/>
          </a:ln>
        </p:spPr>
      </p:sp>
      <p:sp>
        <p:nvSpPr>
          <p:cNvPr id="14" name="Text 12"/>
          <p:cNvSpPr/>
          <p:nvPr/>
        </p:nvSpPr>
        <p:spPr>
          <a:xfrm>
            <a:off x="6516472" y="3520440"/>
            <a:ext cx="1996364" cy="1005840"/>
          </a:xfrm>
          <a:prstGeom prst="rect">
            <a:avLst/>
          </a:prstGeom>
          <a:noFill/>
          <a:ln/>
        </p:spPr>
        <p:txBody>
          <a:bodyPr wrap="square" lIns="0" tIns="0" rIns="0" bIns="0" rtlCol="0" anchor="ctr"/>
          <a:lstStyle/>
          <a:p>
            <a:pPr algn="l" indent="0" marL="0">
              <a:buNone/>
            </a:pPr>
            <a:r>
              <a:rPr lang="en-US" sz="5200" b="1" spc="-150" kern="0" dirty="0">
                <a:solidFill>
                  <a:srgbClr val="EAEEFB"/>
                </a:solidFill>
                <a:latin typeface="Arial" pitchFamily="34" charset="0"/>
                <a:ea typeface="Arial" pitchFamily="34" charset="-122"/>
                <a:cs typeface="Arial" pitchFamily="34" charset="-120"/>
              </a:rPr>
              <a:t>1</a:t>
            </a:r>
            <a:endParaRPr lang="en-US" sz="5200" dirty="0"/>
          </a:p>
        </p:txBody>
      </p:sp>
      <p:sp>
        <p:nvSpPr>
          <p:cNvPr id="15" name="Text 13"/>
          <p:cNvSpPr/>
          <p:nvPr/>
        </p:nvSpPr>
        <p:spPr>
          <a:xfrm>
            <a:off x="6516472" y="4572000"/>
            <a:ext cx="1996364" cy="731520"/>
          </a:xfrm>
          <a:prstGeom prst="rect">
            <a:avLst/>
          </a:prstGeom>
          <a:noFill/>
          <a:ln/>
        </p:spPr>
        <p:txBody>
          <a:bodyPr wrap="square" lIns="0" tIns="0" rIns="0" bIns="0" rtlCol="0" anchor="t"/>
          <a:lstStyle/>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command to deploy live</a:t>
            </a:r>
            <a:endParaRPr lang="en-US" sz="1250" dirty="0"/>
          </a:p>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bootstrap:arc</a:t>
            </a:r>
            <a:endParaRPr lang="en-US" sz="1250" dirty="0"/>
          </a:p>
        </p:txBody>
      </p:sp>
      <p:sp>
        <p:nvSpPr>
          <p:cNvPr id="16" name="Shape 14"/>
          <p:cNvSpPr/>
          <p:nvPr/>
        </p:nvSpPr>
        <p:spPr>
          <a:xfrm>
            <a:off x="9098051" y="3246120"/>
            <a:ext cx="2453564" cy="2148840"/>
          </a:xfrm>
          <a:prstGeom prst="roundRect">
            <a:avLst>
              <a:gd name="adj" fmla="val 4255"/>
            </a:avLst>
          </a:prstGeom>
          <a:solidFill>
            <a:srgbClr val="151D33"/>
          </a:solidFill>
          <a:ln w="12700">
            <a:solidFill>
              <a:srgbClr val="26314F"/>
            </a:solidFill>
            <a:prstDash val="solid"/>
          </a:ln>
        </p:spPr>
      </p:sp>
      <p:sp>
        <p:nvSpPr>
          <p:cNvPr id="17" name="Text 15"/>
          <p:cNvSpPr/>
          <p:nvPr/>
        </p:nvSpPr>
        <p:spPr>
          <a:xfrm>
            <a:off x="9335795" y="3520440"/>
            <a:ext cx="1996364" cy="1005840"/>
          </a:xfrm>
          <a:prstGeom prst="rect">
            <a:avLst/>
          </a:prstGeom>
          <a:noFill/>
          <a:ln/>
        </p:spPr>
        <p:txBody>
          <a:bodyPr wrap="square" lIns="0" tIns="0" rIns="0" bIns="0" rtlCol="0" anchor="ctr"/>
          <a:lstStyle/>
          <a:p>
            <a:pPr algn="l" indent="0" marL="0">
              <a:buNone/>
            </a:pPr>
            <a:r>
              <a:rPr lang="en-US" sz="5200" b="1" spc="-150" kern="0" dirty="0">
                <a:solidFill>
                  <a:srgbClr val="4D8BFF"/>
                </a:solidFill>
                <a:latin typeface="Arial" pitchFamily="34" charset="0"/>
                <a:ea typeface="Arial" pitchFamily="34" charset="-122"/>
                <a:cs typeface="Arial" pitchFamily="34" charset="-120"/>
              </a:rPr>
              <a:t>Live</a:t>
            </a:r>
            <a:endParaRPr lang="en-US" sz="5200" dirty="0"/>
          </a:p>
        </p:txBody>
      </p:sp>
      <p:sp>
        <p:nvSpPr>
          <p:cNvPr id="18" name="Text 16"/>
          <p:cNvSpPr/>
          <p:nvPr/>
        </p:nvSpPr>
        <p:spPr>
          <a:xfrm>
            <a:off x="9335795" y="4572000"/>
            <a:ext cx="1996364" cy="731520"/>
          </a:xfrm>
          <a:prstGeom prst="rect">
            <a:avLst/>
          </a:prstGeom>
          <a:noFill/>
          <a:ln/>
        </p:spPr>
        <p:txBody>
          <a:bodyPr wrap="square" lIns="0" tIns="0" rIns="0" bIns="0" rtlCol="0" anchor="t"/>
          <a:lstStyle/>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deployed &amp; transacting</a:t>
            </a:r>
            <a:endParaRPr lang="en-US" sz="1250" dirty="0"/>
          </a:p>
          <a:p>
            <a:pPr algn="l" indent="0" marL="0">
              <a:lnSpc>
                <a:spcPct val="120000"/>
              </a:lnSpc>
              <a:buNone/>
            </a:pPr>
            <a:r>
              <a:rPr lang="en-US" sz="1250" dirty="0">
                <a:solidFill>
                  <a:srgbClr val="8A97B6"/>
                </a:solidFill>
                <a:latin typeface="Arial" pitchFamily="34" charset="0"/>
                <a:ea typeface="Arial" pitchFamily="34" charset="-122"/>
                <a:cs typeface="Arial" pitchFamily="34" charset="-120"/>
              </a:rPr>
              <a:t>on Arc testnet</a:t>
            </a:r>
            <a:endParaRPr lang="en-US" sz="1250" dirty="0"/>
          </a:p>
        </p:txBody>
      </p:sp>
      <p:sp>
        <p:nvSpPr>
          <p:cNvPr id="19" name="Text 17"/>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EXECUTION</a:t>
            </a:r>
            <a:endParaRPr lang="en-US" sz="1050" dirty="0"/>
          </a:p>
        </p:txBody>
      </p:sp>
      <p:sp>
        <p:nvSpPr>
          <p:cNvPr id="20" name="Text 18"/>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09</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863840" y="-2926080"/>
            <a:ext cx="6583680" cy="5669280"/>
          </a:xfrm>
          <a:prstGeom prst="ellipse">
            <a:avLst/>
          </a:prstGeom>
          <a:solidFill>
            <a:srgbClr val="1B2C52">
              <a:alpha val="58000"/>
            </a:srgbClr>
          </a:solidFill>
          <a:ln/>
        </p:spPr>
      </p:sp>
      <p:sp>
        <p:nvSpPr>
          <p:cNvPr id="3" name="Shape 1"/>
          <p:cNvSpPr/>
          <p:nvPr/>
        </p:nvSpPr>
        <p:spPr>
          <a:xfrm>
            <a:off x="0" y="6309360"/>
            <a:ext cx="12191695" cy="548640"/>
          </a:xfrm>
          <a:prstGeom prst="rect">
            <a:avLst/>
          </a:prstGeom>
          <a:solidFill>
            <a:srgbClr val="0E1428"/>
          </a:solidFill>
          <a:ln/>
        </p:spPr>
      </p:sp>
      <p:sp>
        <p:nvSpPr>
          <p:cNvPr id="4" name="Shape 2"/>
          <p:cNvSpPr/>
          <p:nvPr/>
        </p:nvSpPr>
        <p:spPr>
          <a:xfrm>
            <a:off x="640080" y="566928"/>
            <a:ext cx="310896" cy="25603"/>
          </a:xfrm>
          <a:prstGeom prst="rect">
            <a:avLst/>
          </a:prstGeom>
          <a:solidFill>
            <a:srgbClr val="4D8BFF"/>
          </a:solidFill>
          <a:ln/>
        </p:spPr>
      </p:sp>
      <p:sp>
        <p:nvSpPr>
          <p:cNvPr id="5" name="Text 3"/>
          <p:cNvSpPr/>
          <p:nvPr/>
        </p:nvSpPr>
        <p:spPr>
          <a:xfrm>
            <a:off x="1060704" y="365760"/>
            <a:ext cx="10058400" cy="365760"/>
          </a:xfrm>
          <a:prstGeom prst="rect">
            <a:avLst/>
          </a:prstGeom>
          <a:noFill/>
          <a:ln/>
        </p:spPr>
        <p:txBody>
          <a:bodyPr wrap="square" lIns="0" tIns="0" rIns="0" bIns="0" rtlCol="0" anchor="ctr"/>
          <a:lstStyle/>
          <a:p>
            <a:pPr algn="l" indent="0" marL="0">
              <a:buNone/>
            </a:pPr>
            <a:r>
              <a:rPr lang="en-US" sz="1250" b="1" spc="300" kern="0" dirty="0">
                <a:solidFill>
                  <a:srgbClr val="4D8BFF"/>
                </a:solidFill>
                <a:latin typeface="Consolas" pitchFamily="34" charset="0"/>
                <a:ea typeface="Consolas" pitchFamily="34" charset="-122"/>
                <a:cs typeface="Consolas" pitchFamily="34" charset="-120"/>
              </a:rPr>
              <a:t>THE VISION</a:t>
            </a:r>
            <a:endParaRPr lang="en-US" sz="1250" dirty="0"/>
          </a:p>
        </p:txBody>
      </p:sp>
      <p:sp>
        <p:nvSpPr>
          <p:cNvPr id="6" name="Text 4"/>
          <p:cNvSpPr/>
          <p:nvPr/>
        </p:nvSpPr>
        <p:spPr>
          <a:xfrm>
            <a:off x="640080" y="1737360"/>
            <a:ext cx="10607040" cy="2103120"/>
          </a:xfrm>
          <a:prstGeom prst="rect">
            <a:avLst/>
          </a:prstGeom>
          <a:noFill/>
          <a:ln/>
        </p:spPr>
        <p:txBody>
          <a:bodyPr wrap="square" lIns="0" tIns="0" rIns="0" bIns="0" rtlCol="0" anchor="ctr"/>
          <a:lstStyle/>
          <a:p>
            <a:pPr algn="l" indent="0" marL="0">
              <a:lnSpc>
                <a:spcPct val="102000"/>
              </a:lnSpc>
              <a:buNone/>
            </a:pPr>
            <a:r>
              <a:rPr lang="en-US" sz="5800" b="1" spc="-150" kern="0" dirty="0">
                <a:solidFill>
                  <a:srgbClr val="EAEEFB"/>
                </a:solidFill>
                <a:latin typeface="Arial" pitchFamily="34" charset="0"/>
                <a:ea typeface="Arial" pitchFamily="34" charset="-122"/>
                <a:cs typeface="Arial" pitchFamily="34" charset="-120"/>
              </a:rPr>
              <a:t>The settlement rail for agent-to-agent commerce.</a:t>
            </a:r>
            <a:endParaRPr lang="en-US" sz="5800" dirty="0"/>
          </a:p>
        </p:txBody>
      </p:sp>
      <p:sp>
        <p:nvSpPr>
          <p:cNvPr id="7" name="Text 5"/>
          <p:cNvSpPr/>
          <p:nvPr/>
        </p:nvSpPr>
        <p:spPr>
          <a:xfrm>
            <a:off x="640080" y="4114800"/>
            <a:ext cx="8595360" cy="1188720"/>
          </a:xfrm>
          <a:prstGeom prst="rect">
            <a:avLst/>
          </a:prstGeom>
          <a:noFill/>
          <a:ln/>
        </p:spPr>
        <p:txBody>
          <a:bodyPr wrap="square" lIns="0" tIns="0" rIns="0" bIns="0" rtlCol="0" anchor="t"/>
          <a:lstStyle/>
          <a:p>
            <a:pPr algn="l" indent="0" marL="0">
              <a:lnSpc>
                <a:spcPct val="130000"/>
              </a:lnSpc>
              <a:buNone/>
            </a:pPr>
            <a:r>
              <a:rPr lang="en-US" sz="1900" dirty="0">
                <a:solidFill>
                  <a:srgbClr val="8A97B6"/>
                </a:solidFill>
                <a:latin typeface="Arial" pitchFamily="34" charset="0"/>
                <a:ea typeface="Arial" pitchFamily="34" charset="-122"/>
                <a:cs typeface="Arial" pitchFamily="34" charset="-120"/>
              </a:rPr>
              <a:t>Escrow, refunds, staking and reputation that make autonomous commerce safe. Next: real providers, a discovery registry, reputation staking.</a:t>
            </a:r>
            <a:endParaRPr lang="en-US" sz="1900" dirty="0"/>
          </a:p>
        </p:txBody>
      </p:sp>
      <p:sp>
        <p:nvSpPr>
          <p:cNvPr id="8" name="Text 6"/>
          <p:cNvSpPr/>
          <p:nvPr/>
        </p:nvSpPr>
        <p:spPr>
          <a:xfrm>
            <a:off x="640080" y="5440680"/>
            <a:ext cx="10058400" cy="457200"/>
          </a:xfrm>
          <a:prstGeom prst="rect">
            <a:avLst/>
          </a:prstGeom>
          <a:noFill/>
          <a:ln/>
        </p:spPr>
        <p:txBody>
          <a:bodyPr wrap="square" lIns="0" tIns="0" rIns="0" bIns="0" rtlCol="0" anchor="ctr"/>
          <a:lstStyle/>
          <a:p>
            <a:pPr algn="l" indent="0" marL="0">
              <a:buNone/>
            </a:pPr>
            <a:r>
              <a:rPr lang="en-US" sz="1400" b="1" dirty="0">
                <a:solidFill>
                  <a:srgbClr val="4D8BFF"/>
                </a:solidFill>
                <a:latin typeface="Consolas" pitchFamily="34" charset="0"/>
                <a:ea typeface="Consolas" pitchFamily="34" charset="-122"/>
                <a:cs typeface="Consolas" pitchFamily="34" charset="-120"/>
              </a:rPr>
              <a:t>github.com/rgdtnhat/arc</a:t>
            </a:r>
            <a:pPr algn="l" indent="0" marL="0">
              <a:buNone/>
            </a:pPr>
            <a:r>
              <a:rPr lang="en-US" sz="1400" dirty="0">
                <a:solidFill>
                  <a:srgbClr val="5D6A8C"/>
                </a:solidFill>
                <a:latin typeface="Consolas" pitchFamily="34" charset="0"/>
                <a:ea typeface="Consolas" pitchFamily="34" charset="-122"/>
                <a:cs typeface="Consolas" pitchFamily="34" charset="-120"/>
              </a:rPr>
              <a:t>     ·     </a:t>
            </a:r>
            <a:pPr algn="l" indent="0" marL="0">
              <a:buNone/>
            </a:pPr>
            <a:r>
              <a:rPr lang="en-US" sz="1400" dirty="0">
                <a:solidFill>
                  <a:srgbClr val="8A97B6"/>
                </a:solidFill>
                <a:latin typeface="Consolas" pitchFamily="34" charset="0"/>
                <a:ea typeface="Consolas" pitchFamily="34" charset="-122"/>
                <a:cs typeface="Consolas" pitchFamily="34" charset="-120"/>
              </a:rPr>
              <a:t>live on Arc testnet</a:t>
            </a:r>
            <a:endParaRPr lang="en-US" sz="1400" dirty="0"/>
          </a:p>
        </p:txBody>
      </p:sp>
      <p:sp>
        <p:nvSpPr>
          <p:cNvPr id="9" name="Text 7"/>
          <p:cNvSpPr/>
          <p:nvPr/>
        </p:nvSpPr>
        <p:spPr>
          <a:xfrm>
            <a:off x="640080" y="6382512"/>
            <a:ext cx="5486400" cy="329184"/>
          </a:xfrm>
          <a:prstGeom prst="rect">
            <a:avLst/>
          </a:prstGeom>
          <a:noFill/>
          <a:ln/>
        </p:spPr>
        <p:txBody>
          <a:bodyPr wrap="square" lIns="0" tIns="0" rIns="0" bIns="0" rtlCol="0" anchor="ctr"/>
          <a:lstStyle/>
          <a:p>
            <a:pPr algn="l" indent="0" marL="0">
              <a:buNone/>
            </a:pPr>
            <a:r>
              <a:rPr lang="en-US" sz="1050" spc="200" kern="0" dirty="0">
                <a:solidFill>
                  <a:srgbClr val="5D6A8C"/>
                </a:solidFill>
                <a:latin typeface="Consolas" pitchFamily="34" charset="0"/>
                <a:ea typeface="Consolas" pitchFamily="34" charset="-122"/>
                <a:cs typeface="Consolas" pitchFamily="34" charset="-120"/>
              </a:rPr>
              <a:t>THE VISION</a:t>
            </a:r>
            <a:endParaRPr lang="en-US" sz="1050" dirty="0"/>
          </a:p>
        </p:txBody>
      </p:sp>
      <p:sp>
        <p:nvSpPr>
          <p:cNvPr id="10" name="Text 8"/>
          <p:cNvSpPr/>
          <p:nvPr/>
        </p:nvSpPr>
        <p:spPr>
          <a:xfrm>
            <a:off x="8808415" y="6382512"/>
            <a:ext cx="2743200" cy="329184"/>
          </a:xfrm>
          <a:prstGeom prst="rect">
            <a:avLst/>
          </a:prstGeom>
          <a:noFill/>
          <a:ln/>
        </p:spPr>
        <p:txBody>
          <a:bodyPr wrap="square" lIns="0" tIns="0" rIns="0" bIns="0" rtlCol="0" anchor="ctr"/>
          <a:lstStyle/>
          <a:p>
            <a:pPr algn="r" indent="0" marL="0">
              <a:buNone/>
            </a:pPr>
            <a:r>
              <a:rPr lang="en-US" sz="1050" spc="100" kern="0" dirty="0">
                <a:solidFill>
                  <a:srgbClr val="8A97B6"/>
                </a:solidFill>
                <a:latin typeface="Consolas" pitchFamily="34" charset="0"/>
                <a:ea typeface="Consolas" pitchFamily="34" charset="-122"/>
                <a:cs typeface="Consolas" pitchFamily="34" charset="-120"/>
              </a:rPr>
              <a:t>10</a:t>
            </a:r>
            <a:pPr algn="r" indent="0" marL="0">
              <a:buNone/>
            </a:pPr>
            <a:r>
              <a:rPr lang="en-US" sz="1050" spc="100" kern="0" dirty="0">
                <a:solidFill>
                  <a:srgbClr val="5D6A8C"/>
                </a:solidFill>
                <a:latin typeface="Consolas" pitchFamily="34" charset="0"/>
                <a:ea typeface="Consolas" pitchFamily="34" charset="-122"/>
                <a:cs typeface="Consolas" pitchFamily="34" charset="-120"/>
              </a:rPr>
              <a:t> / 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Tessera — pitch deck</dc:title>
  <dc:subject>PptxGenJS Presentation</dc:subject>
  <dc:creator>Tessera</dc:creator>
  <cp:lastModifiedBy>Tessera</cp:lastModifiedBy>
  <cp:revision>1</cp:revision>
  <dcterms:created xsi:type="dcterms:W3CDTF">2026-07-23T05:10:57Z</dcterms:created>
  <dcterms:modified xsi:type="dcterms:W3CDTF">2026-07-23T05:10:57Z</dcterms:modified>
</cp:coreProperties>
</file>